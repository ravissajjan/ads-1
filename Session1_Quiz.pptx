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7" r:id="rId4"/>
    <p:sldId id="258" r:id="rId5"/>
    <p:sldId id="278" r:id="rId6"/>
    <p:sldId id="259" r:id="rId7"/>
    <p:sldId id="280" r:id="rId8"/>
    <p:sldId id="260" r:id="rId9"/>
    <p:sldId id="281" r:id="rId10"/>
    <p:sldId id="261" r:id="rId11"/>
    <p:sldId id="282" r:id="rId12"/>
    <p:sldId id="262" r:id="rId13"/>
    <p:sldId id="283" r:id="rId14"/>
    <p:sldId id="263" r:id="rId15"/>
    <p:sldId id="284" r:id="rId16"/>
    <p:sldId id="264" r:id="rId17"/>
    <p:sldId id="285" r:id="rId18"/>
    <p:sldId id="265" r:id="rId19"/>
    <p:sldId id="286" r:id="rId20"/>
    <p:sldId id="266" r:id="rId21"/>
    <p:sldId id="287" r:id="rId22"/>
    <p:sldId id="267" r:id="rId23"/>
    <p:sldId id="288" r:id="rId24"/>
    <p:sldId id="268" r:id="rId25"/>
    <p:sldId id="289" r:id="rId26"/>
    <p:sldId id="269" r:id="rId27"/>
    <p:sldId id="290" r:id="rId28"/>
    <p:sldId id="270" r:id="rId29"/>
    <p:sldId id="291" r:id="rId30"/>
    <p:sldId id="271" r:id="rId31"/>
    <p:sldId id="292" r:id="rId32"/>
    <p:sldId id="275" r:id="rId33"/>
    <p:sldId id="293" r:id="rId34"/>
    <p:sldId id="276" r:id="rId35"/>
    <p:sldId id="294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4BD3E2"/>
                </a:solidFill>
                <a:latin typeface="Aptos"/>
              </a:rPr>
              <a:t>SESSION 1  /  PRACTICE 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6583680" cy="160020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3800" b="1">
                <a:solidFill>
                  <a:srgbClr val="F7F9FC"/>
                </a:solidFill>
                <a:latin typeface="Aptos"/>
              </a:rPr>
              <a:t>Threads, tasks &amp;
parallel thinking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71800"/>
            <a:ext cx="6583680" cy="45720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800" b="0" dirty="0">
                <a:solidFill>
                  <a:srgbClr val="B1BED3"/>
                </a:solidFill>
                <a:latin typeface="Aptos"/>
              </a:rPr>
              <a:t>20 scenario-based questions • Concepts + real use cases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1325880"/>
            <a:ext cx="1417320" cy="987552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54112" y="1481328"/>
            <a:ext cx="219456" cy="219456"/>
          </a:xfrm>
          <a:prstGeom prst="roundRect">
            <a:avLst/>
          </a:prstGeom>
          <a:solidFill>
            <a:srgbClr val="4B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54112" y="1828800"/>
            <a:ext cx="109728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F7F9FC"/>
                </a:solidFill>
                <a:latin typeface="Aptos"/>
              </a:rPr>
              <a:t>CORE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0" y="1325880"/>
            <a:ext cx="1417320" cy="987552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491472" y="1481328"/>
            <a:ext cx="219456" cy="219456"/>
          </a:xfrm>
          <a:prstGeom prst="roundRect">
            <a:avLst/>
          </a:prstGeom>
          <a:solidFill>
            <a:srgbClr val="FFC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91472" y="1828800"/>
            <a:ext cx="109728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F7F9FC"/>
                </a:solidFill>
                <a:latin typeface="Aptos"/>
              </a:rPr>
              <a:t>CORE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2651760"/>
            <a:ext cx="1417320" cy="987552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754112" y="2807208"/>
            <a:ext cx="219456" cy="219456"/>
          </a:xfrm>
          <a:prstGeom prst="roundRect">
            <a:avLst/>
          </a:prstGeom>
          <a:solidFill>
            <a:srgbClr val="6FE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54112" y="3154680"/>
            <a:ext cx="109728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F7F9FC"/>
                </a:solidFill>
                <a:latin typeface="Aptos"/>
              </a:rPr>
              <a:t>CORE 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2651760"/>
            <a:ext cx="1417320" cy="987552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491472" y="2807208"/>
            <a:ext cx="219456" cy="219456"/>
          </a:xfrm>
          <a:prstGeom prst="roundRect">
            <a:avLst/>
          </a:prstGeom>
          <a:solidFill>
            <a:srgbClr val="FF8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91472" y="3154680"/>
            <a:ext cx="109728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F7F9FC"/>
                </a:solidFill>
                <a:latin typeface="Aptos"/>
              </a:rPr>
              <a:t>CORE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4BD3E2"/>
                </a:solidFill>
                <a:latin typeface="Aptos"/>
              </a:rPr>
              <a:t>QUICK POLL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228600"/>
            <a:ext cx="100584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B1BED3"/>
                </a:solidFill>
                <a:latin typeface="Aptos"/>
              </a:rPr>
              <a:t>01 / 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594360"/>
            <a:ext cx="11064240" cy="22860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894648"/>
            <a:ext cx="10972800" cy="131112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2700" b="1" dirty="0">
                <a:solidFill>
                  <a:srgbClr val="F7F9FC"/>
                </a:solidFill>
                <a:latin typeface="Aptos"/>
              </a:rPr>
              <a:t>Q01. </a:t>
            </a:r>
            <a:r>
              <a:rPr lang="en-US" sz="2700" b="1" dirty="0">
                <a:solidFill>
                  <a:srgbClr val="F7F9FC"/>
                </a:solidFill>
                <a:latin typeface="Aptos"/>
              </a:rPr>
              <a:t>Single-core CPU switches between downloading a file and processing music playback, allowing both tasks to make progress. Which concept does this demonstrate?</a:t>
            </a:r>
            <a:endParaRPr sz="2700" b="1" dirty="0">
              <a:solidFill>
                <a:srgbClr val="F7F9FC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94360" y="2843784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04088" y="2962656"/>
            <a:ext cx="402336" cy="402336"/>
          </a:xfrm>
          <a:prstGeom prst="roundRect">
            <a:avLst/>
          </a:prstGeom>
          <a:solidFill>
            <a:srgbClr val="4B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" y="2962656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034379"/>
            <a:ext cx="4507992" cy="295466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lang="en-IN" sz="1500" b="0" dirty="0">
                <a:solidFill>
                  <a:srgbClr val="F7F9FC"/>
                </a:solidFill>
                <a:latin typeface="Aptos"/>
              </a:rPr>
              <a:t>Parallelism</a:t>
            </a:r>
            <a:endParaRPr sz="1500" b="0" dirty="0">
              <a:solidFill>
                <a:srgbClr val="F7F9FC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126480" y="2843784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36208" y="2962656"/>
            <a:ext cx="402336" cy="402336"/>
          </a:xfrm>
          <a:prstGeom prst="roundRect">
            <a:avLst/>
          </a:prstGeom>
          <a:solidFill>
            <a:srgbClr val="FFC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36208" y="2962656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034379"/>
            <a:ext cx="4507992" cy="295466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lang="en-IN" sz="1500" b="0" dirty="0">
                <a:solidFill>
                  <a:srgbClr val="F7F9FC"/>
                </a:solidFill>
                <a:latin typeface="Aptos"/>
              </a:rPr>
              <a:t>Concurrency</a:t>
            </a:r>
            <a:endParaRPr sz="1500" b="0" dirty="0">
              <a:solidFill>
                <a:srgbClr val="F7F9FC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94360" y="3666744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04088" y="3785616"/>
            <a:ext cx="402336" cy="402336"/>
          </a:xfrm>
          <a:prstGeom prst="roundRect">
            <a:avLst/>
          </a:prstGeom>
          <a:solidFill>
            <a:srgbClr val="6FE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4088" y="3785616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857339"/>
            <a:ext cx="4507992" cy="295466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lang="en-IN" sz="1500" b="0" dirty="0">
                <a:solidFill>
                  <a:srgbClr val="F7F9FC"/>
                </a:solidFill>
                <a:latin typeface="Aptos"/>
              </a:rPr>
              <a:t>Multiprocessing</a:t>
            </a:r>
            <a:endParaRPr sz="1500" b="0" dirty="0">
              <a:solidFill>
                <a:srgbClr val="F7F9FC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126480" y="3666744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236208" y="3785616"/>
            <a:ext cx="402336" cy="402336"/>
          </a:xfrm>
          <a:prstGeom prst="roundRect">
            <a:avLst/>
          </a:prstGeom>
          <a:solidFill>
            <a:srgbClr val="FF8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36208" y="3785616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857339"/>
            <a:ext cx="4507992" cy="295466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lang="en-IN" sz="1500" b="0" dirty="0">
                <a:solidFill>
                  <a:srgbClr val="F7F9FC"/>
                </a:solidFill>
                <a:latin typeface="Aptos"/>
              </a:rPr>
              <a:t>Sequential execution</a:t>
            </a:r>
            <a:endParaRPr sz="1500" b="0" dirty="0">
              <a:solidFill>
                <a:srgbClr val="F7F9F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B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282610-9109-EC75-3EE8-4F678E62C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6E35F9-3279-F50F-E722-397E59902265}"/>
              </a:ext>
            </a:extLst>
          </p:cNvPr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4BD3E2"/>
                </a:solidFill>
                <a:latin typeface="Aptos"/>
              </a:rPr>
              <a:t>QUICK POLL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DE1BEC-66EA-9E87-6E5B-1691CF555B73}"/>
              </a:ext>
            </a:extLst>
          </p:cNvPr>
          <p:cNvSpPr txBox="1"/>
          <p:nvPr/>
        </p:nvSpPr>
        <p:spPr>
          <a:xfrm>
            <a:off x="10607040" y="228600"/>
            <a:ext cx="100584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B1BED3"/>
                </a:solidFill>
                <a:latin typeface="Aptos"/>
              </a:rPr>
              <a:t>01 / 20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9315740-1E48-9364-E60A-5955B4195F31}"/>
              </a:ext>
            </a:extLst>
          </p:cNvPr>
          <p:cNvSpPr/>
          <p:nvPr/>
        </p:nvSpPr>
        <p:spPr>
          <a:xfrm>
            <a:off x="548640" y="594360"/>
            <a:ext cx="11064240" cy="22860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0F1F6FA8-69D2-6B88-2B1E-A32B7D08D06C}"/>
              </a:ext>
            </a:extLst>
          </p:cNvPr>
          <p:cNvSpPr/>
          <p:nvPr/>
        </p:nvSpPr>
        <p:spPr>
          <a:xfrm>
            <a:off x="685800" y="3977639"/>
            <a:ext cx="10835640" cy="1874519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82FED00-A244-16DD-1FE5-B9F8BBE761C9}"/>
              </a:ext>
            </a:extLst>
          </p:cNvPr>
          <p:cNvSpPr txBox="1"/>
          <p:nvPr/>
        </p:nvSpPr>
        <p:spPr>
          <a:xfrm>
            <a:off x="914400" y="4187952"/>
            <a:ext cx="2011680" cy="295466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lang="en-IN" sz="1500" b="1" dirty="0">
                <a:solidFill>
                  <a:srgbClr val="6FE0A7"/>
                </a:solidFill>
                <a:latin typeface="Aptos"/>
              </a:rPr>
              <a:t>B — Concurrency</a:t>
            </a:r>
            <a:endParaRPr sz="1500" b="1" dirty="0">
              <a:solidFill>
                <a:srgbClr val="6FE0A7"/>
              </a:solidFill>
              <a:latin typeface="Apto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426CDA0-3739-0EE5-DA69-F84DDB4750B3}"/>
              </a:ext>
            </a:extLst>
          </p:cNvPr>
          <p:cNvSpPr txBox="1"/>
          <p:nvPr/>
        </p:nvSpPr>
        <p:spPr>
          <a:xfrm>
            <a:off x="914400" y="4617720"/>
            <a:ext cx="10241280" cy="52629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lang="en-US" sz="1500" b="0" dirty="0">
                <a:solidFill>
                  <a:srgbClr val="F7F9FC"/>
                </a:solidFill>
                <a:latin typeface="Aptos"/>
              </a:rPr>
              <a:t>The single core can switch between tasks, allowing both to make progress over the same period without executing their instructions simultaneously.</a:t>
            </a:r>
            <a:endParaRPr sz="1500" b="0" dirty="0">
              <a:solidFill>
                <a:srgbClr val="F7F9FC"/>
              </a:solidFill>
              <a:latin typeface="Apto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86A919E-D058-A2B3-4A83-8230EC3490FC}"/>
              </a:ext>
            </a:extLst>
          </p:cNvPr>
          <p:cNvSpPr txBox="1"/>
          <p:nvPr/>
        </p:nvSpPr>
        <p:spPr>
          <a:xfrm>
            <a:off x="685800" y="6263640"/>
            <a:ext cx="10789920" cy="22860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B1BED3"/>
                </a:solidFill>
                <a:latin typeface="Aptos"/>
              </a:rPr>
              <a:t>Ask students to justify their choice before discussing the answer.</a:t>
            </a:r>
          </a:p>
        </p:txBody>
      </p:sp>
      <p:sp>
        <p:nvSpPr>
          <p:cNvPr id="27" name="Rounded Rectangle 5">
            <a:extLst>
              <a:ext uri="{FF2B5EF4-FFF2-40B4-BE49-F238E27FC236}">
                <a16:creationId xmlns:a16="http://schemas.microsoft.com/office/drawing/2014/main" id="{9E293C6B-9D8D-3995-FA8D-9D0F780E2BE9}"/>
              </a:ext>
            </a:extLst>
          </p:cNvPr>
          <p:cNvSpPr/>
          <p:nvPr/>
        </p:nvSpPr>
        <p:spPr>
          <a:xfrm>
            <a:off x="640080" y="2229709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6">
            <a:extLst>
              <a:ext uri="{FF2B5EF4-FFF2-40B4-BE49-F238E27FC236}">
                <a16:creationId xmlns:a16="http://schemas.microsoft.com/office/drawing/2014/main" id="{CE2A2405-E229-15D4-8725-BA3FEC89B483}"/>
              </a:ext>
            </a:extLst>
          </p:cNvPr>
          <p:cNvSpPr/>
          <p:nvPr/>
        </p:nvSpPr>
        <p:spPr>
          <a:xfrm>
            <a:off x="749808" y="2348581"/>
            <a:ext cx="402336" cy="402336"/>
          </a:xfrm>
          <a:prstGeom prst="roundRect">
            <a:avLst/>
          </a:prstGeom>
          <a:solidFill>
            <a:srgbClr val="4B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8AEE294-E5B4-3E7C-CB58-98D12AB59D62}"/>
              </a:ext>
            </a:extLst>
          </p:cNvPr>
          <p:cNvSpPr txBox="1"/>
          <p:nvPr/>
        </p:nvSpPr>
        <p:spPr>
          <a:xfrm>
            <a:off x="749808" y="2348581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A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E29AD97-4983-9BAE-CE72-A8A6F51ABB7A}"/>
              </a:ext>
            </a:extLst>
          </p:cNvPr>
          <p:cNvSpPr txBox="1"/>
          <p:nvPr/>
        </p:nvSpPr>
        <p:spPr>
          <a:xfrm>
            <a:off x="1280160" y="2420304"/>
            <a:ext cx="4507992" cy="295466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lang="en-IN" sz="1500" b="0" dirty="0">
                <a:solidFill>
                  <a:srgbClr val="F7F9FC"/>
                </a:solidFill>
                <a:latin typeface="Aptos"/>
              </a:rPr>
              <a:t>Parallelism</a:t>
            </a:r>
            <a:endParaRPr sz="1500" b="0" dirty="0">
              <a:solidFill>
                <a:srgbClr val="F7F9FC"/>
              </a:solidFill>
              <a:latin typeface="Aptos"/>
            </a:endParaRPr>
          </a:p>
        </p:txBody>
      </p:sp>
      <p:sp>
        <p:nvSpPr>
          <p:cNvPr id="35" name="Rounded Rectangle 9">
            <a:extLst>
              <a:ext uri="{FF2B5EF4-FFF2-40B4-BE49-F238E27FC236}">
                <a16:creationId xmlns:a16="http://schemas.microsoft.com/office/drawing/2014/main" id="{C0BF20FA-B71C-3333-1D64-A31D701C8302}"/>
              </a:ext>
            </a:extLst>
          </p:cNvPr>
          <p:cNvSpPr/>
          <p:nvPr/>
        </p:nvSpPr>
        <p:spPr>
          <a:xfrm>
            <a:off x="6172200" y="2229709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10">
            <a:extLst>
              <a:ext uri="{FF2B5EF4-FFF2-40B4-BE49-F238E27FC236}">
                <a16:creationId xmlns:a16="http://schemas.microsoft.com/office/drawing/2014/main" id="{3B3D3C0F-627B-1A81-AFA1-C6BAD34B6B77}"/>
              </a:ext>
            </a:extLst>
          </p:cNvPr>
          <p:cNvSpPr/>
          <p:nvPr/>
        </p:nvSpPr>
        <p:spPr>
          <a:xfrm>
            <a:off x="6281928" y="2348581"/>
            <a:ext cx="402336" cy="402336"/>
          </a:xfrm>
          <a:prstGeom prst="roundRect">
            <a:avLst/>
          </a:prstGeom>
          <a:solidFill>
            <a:srgbClr val="FFC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167DDBC-58BF-DC75-7720-998213729229}"/>
              </a:ext>
            </a:extLst>
          </p:cNvPr>
          <p:cNvSpPr txBox="1"/>
          <p:nvPr/>
        </p:nvSpPr>
        <p:spPr>
          <a:xfrm>
            <a:off x="6281928" y="2348581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B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88E3F73-B216-DDE7-F9CC-E1A5BA01BBCD}"/>
              </a:ext>
            </a:extLst>
          </p:cNvPr>
          <p:cNvSpPr txBox="1"/>
          <p:nvPr/>
        </p:nvSpPr>
        <p:spPr>
          <a:xfrm>
            <a:off x="6812280" y="2420304"/>
            <a:ext cx="4507992" cy="295466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lang="en-IN" sz="1500" b="0" dirty="0">
                <a:solidFill>
                  <a:srgbClr val="F7F9FC"/>
                </a:solidFill>
                <a:latin typeface="Aptos"/>
              </a:rPr>
              <a:t>Concurrency</a:t>
            </a:r>
            <a:endParaRPr sz="1500" b="0" dirty="0">
              <a:solidFill>
                <a:srgbClr val="F7F9FC"/>
              </a:solidFill>
              <a:latin typeface="Aptos"/>
            </a:endParaRPr>
          </a:p>
        </p:txBody>
      </p:sp>
      <p:sp>
        <p:nvSpPr>
          <p:cNvPr id="43" name="Rounded Rectangle 13">
            <a:extLst>
              <a:ext uri="{FF2B5EF4-FFF2-40B4-BE49-F238E27FC236}">
                <a16:creationId xmlns:a16="http://schemas.microsoft.com/office/drawing/2014/main" id="{CAFCA9A2-1881-B418-E54B-B3D3592A30C4}"/>
              </a:ext>
            </a:extLst>
          </p:cNvPr>
          <p:cNvSpPr/>
          <p:nvPr/>
        </p:nvSpPr>
        <p:spPr>
          <a:xfrm>
            <a:off x="640080" y="3052669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14">
            <a:extLst>
              <a:ext uri="{FF2B5EF4-FFF2-40B4-BE49-F238E27FC236}">
                <a16:creationId xmlns:a16="http://schemas.microsoft.com/office/drawing/2014/main" id="{307FDBBE-EE55-64A8-61F9-B2AE739575BF}"/>
              </a:ext>
            </a:extLst>
          </p:cNvPr>
          <p:cNvSpPr/>
          <p:nvPr/>
        </p:nvSpPr>
        <p:spPr>
          <a:xfrm>
            <a:off x="749808" y="3171541"/>
            <a:ext cx="402336" cy="402336"/>
          </a:xfrm>
          <a:prstGeom prst="roundRect">
            <a:avLst/>
          </a:prstGeom>
          <a:solidFill>
            <a:srgbClr val="6FE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8729D46-34A7-90E5-8264-48B5CDA5D0CA}"/>
              </a:ext>
            </a:extLst>
          </p:cNvPr>
          <p:cNvSpPr txBox="1"/>
          <p:nvPr/>
        </p:nvSpPr>
        <p:spPr>
          <a:xfrm>
            <a:off x="749808" y="3171541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C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A67979D-DBF3-6DFA-4999-A32763CF85DD}"/>
              </a:ext>
            </a:extLst>
          </p:cNvPr>
          <p:cNvSpPr txBox="1"/>
          <p:nvPr/>
        </p:nvSpPr>
        <p:spPr>
          <a:xfrm>
            <a:off x="1280160" y="3243264"/>
            <a:ext cx="4507992" cy="295466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lang="en-IN" sz="1500" b="0" dirty="0">
                <a:solidFill>
                  <a:srgbClr val="F7F9FC"/>
                </a:solidFill>
                <a:latin typeface="Aptos"/>
              </a:rPr>
              <a:t>Multiprocessing</a:t>
            </a:r>
            <a:endParaRPr sz="1500" b="0" dirty="0">
              <a:solidFill>
                <a:srgbClr val="F7F9FC"/>
              </a:solidFill>
              <a:latin typeface="Aptos"/>
            </a:endParaRPr>
          </a:p>
        </p:txBody>
      </p:sp>
      <p:sp>
        <p:nvSpPr>
          <p:cNvPr id="51" name="Rounded Rectangle 17">
            <a:extLst>
              <a:ext uri="{FF2B5EF4-FFF2-40B4-BE49-F238E27FC236}">
                <a16:creationId xmlns:a16="http://schemas.microsoft.com/office/drawing/2014/main" id="{9AD2F8D6-049A-D88B-5A77-48A6F109940C}"/>
              </a:ext>
            </a:extLst>
          </p:cNvPr>
          <p:cNvSpPr/>
          <p:nvPr/>
        </p:nvSpPr>
        <p:spPr>
          <a:xfrm>
            <a:off x="6172200" y="3052669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18">
            <a:extLst>
              <a:ext uri="{FF2B5EF4-FFF2-40B4-BE49-F238E27FC236}">
                <a16:creationId xmlns:a16="http://schemas.microsoft.com/office/drawing/2014/main" id="{26DEEE22-0CF9-044F-3DF8-52B92BEB76D5}"/>
              </a:ext>
            </a:extLst>
          </p:cNvPr>
          <p:cNvSpPr/>
          <p:nvPr/>
        </p:nvSpPr>
        <p:spPr>
          <a:xfrm>
            <a:off x="6281928" y="3171541"/>
            <a:ext cx="402336" cy="402336"/>
          </a:xfrm>
          <a:prstGeom prst="roundRect">
            <a:avLst/>
          </a:prstGeom>
          <a:solidFill>
            <a:srgbClr val="FF8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2F53E2A-A51E-F315-5F14-71E8D3C22507}"/>
              </a:ext>
            </a:extLst>
          </p:cNvPr>
          <p:cNvSpPr txBox="1"/>
          <p:nvPr/>
        </p:nvSpPr>
        <p:spPr>
          <a:xfrm>
            <a:off x="6281928" y="3171541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D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9534762-149B-3783-2AB0-3798945C9884}"/>
              </a:ext>
            </a:extLst>
          </p:cNvPr>
          <p:cNvSpPr txBox="1"/>
          <p:nvPr/>
        </p:nvSpPr>
        <p:spPr>
          <a:xfrm>
            <a:off x="6812280" y="3243264"/>
            <a:ext cx="4507992" cy="295466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lang="en-IN" sz="1500" b="0" dirty="0">
                <a:solidFill>
                  <a:srgbClr val="F7F9FC"/>
                </a:solidFill>
                <a:latin typeface="Aptos"/>
              </a:rPr>
              <a:t>Sequential execution</a:t>
            </a:r>
            <a:endParaRPr sz="1500" b="0" dirty="0">
              <a:solidFill>
                <a:srgbClr val="F7F9FC"/>
              </a:solidFill>
              <a:latin typeface="Aptos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FC2AD61-C19D-7AFD-03F3-640E38614E00}"/>
              </a:ext>
            </a:extLst>
          </p:cNvPr>
          <p:cNvSpPr txBox="1"/>
          <p:nvPr/>
        </p:nvSpPr>
        <p:spPr>
          <a:xfrm>
            <a:off x="594360" y="736092"/>
            <a:ext cx="10972800" cy="131112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2700" b="1" dirty="0">
                <a:solidFill>
                  <a:srgbClr val="F7F9FC"/>
                </a:solidFill>
                <a:latin typeface="Aptos"/>
              </a:rPr>
              <a:t>Q01. </a:t>
            </a:r>
            <a:r>
              <a:rPr lang="en-US" sz="2700" b="1" dirty="0">
                <a:solidFill>
                  <a:srgbClr val="F7F9FC"/>
                </a:solidFill>
                <a:latin typeface="Aptos"/>
              </a:rPr>
              <a:t>Single-core CPU switches between downloading a file and processing music playback, allowing both tasks to make progress. Which concept does this demonstrate?</a:t>
            </a:r>
            <a:endParaRPr sz="2700" b="1" dirty="0">
              <a:solidFill>
                <a:srgbClr val="F7F9FC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724356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4BD3E2"/>
                </a:solidFill>
                <a:latin typeface="Aptos"/>
              </a:rPr>
              <a:t>CPU CORES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228600"/>
            <a:ext cx="100584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B1BED3"/>
                </a:solidFill>
                <a:latin typeface="Aptos"/>
              </a:rPr>
              <a:t>02 / 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594360"/>
            <a:ext cx="11064240" cy="22860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480131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2700" b="1" dirty="0">
                <a:solidFill>
                  <a:srgbClr val="F7F9FC"/>
                </a:solidFill>
                <a:latin typeface="Aptos"/>
              </a:rPr>
              <a:t>Q02. </a:t>
            </a:r>
            <a:r>
              <a:rPr lang="en-US" sz="2700" b="1" dirty="0">
                <a:solidFill>
                  <a:srgbClr val="F7F9FC"/>
                </a:solidFill>
                <a:latin typeface="Aptos"/>
              </a:rPr>
              <a:t>A CPU has 4 cores and 4 threads ready to run. What can happen?</a:t>
            </a:r>
            <a:endParaRPr sz="2700" b="1" dirty="0">
              <a:solidFill>
                <a:srgbClr val="F7F9FC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95528" y="2176272"/>
            <a:ext cx="402336" cy="402336"/>
          </a:xfrm>
          <a:prstGeom prst="roundRect">
            <a:avLst/>
          </a:prstGeom>
          <a:solidFill>
            <a:srgbClr val="4B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217627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247995"/>
            <a:ext cx="4507992" cy="295466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lang="en-US" sz="1500" b="0" dirty="0">
                <a:solidFill>
                  <a:srgbClr val="F7F9FC"/>
                </a:solidFill>
                <a:latin typeface="Aptos"/>
              </a:rPr>
              <a:t>All 4 threads can run at the same time</a:t>
            </a:r>
            <a:endParaRPr sz="1500" b="0" dirty="0">
              <a:solidFill>
                <a:srgbClr val="F7F9FC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17920" y="205740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27648" y="2176272"/>
            <a:ext cx="402336" cy="402336"/>
          </a:xfrm>
          <a:prstGeom prst="roundRect">
            <a:avLst/>
          </a:prstGeom>
          <a:solidFill>
            <a:srgbClr val="FFC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27648" y="217627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247995"/>
            <a:ext cx="4507992" cy="295466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lang="en-US" sz="1500" b="0" dirty="0">
                <a:solidFill>
                  <a:srgbClr val="F7F9FC"/>
                </a:solidFill>
                <a:latin typeface="Aptos"/>
              </a:rPr>
              <a:t>All 4 threads must share one core</a:t>
            </a:r>
            <a:endParaRPr sz="1500" b="0" dirty="0">
              <a:solidFill>
                <a:srgbClr val="F7F9FC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85800" y="288036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95528" y="2999232"/>
            <a:ext cx="402336" cy="402336"/>
          </a:xfrm>
          <a:prstGeom prst="roundRect">
            <a:avLst/>
          </a:prstGeom>
          <a:solidFill>
            <a:srgbClr val="6FE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8" y="299923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070955"/>
            <a:ext cx="4507992" cy="295466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lang="en-US" sz="1500" b="0" dirty="0">
                <a:solidFill>
                  <a:srgbClr val="F7F9FC"/>
                </a:solidFill>
                <a:latin typeface="Aptos"/>
              </a:rPr>
              <a:t> Each thread becomes a separate process</a:t>
            </a:r>
            <a:endParaRPr sz="1500" b="0" dirty="0">
              <a:solidFill>
                <a:srgbClr val="F7F9FC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217920" y="288036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327648" y="2999232"/>
            <a:ext cx="402336" cy="402336"/>
          </a:xfrm>
          <a:prstGeom prst="roundRect">
            <a:avLst/>
          </a:prstGeom>
          <a:solidFill>
            <a:srgbClr val="FF8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27648" y="299923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070955"/>
            <a:ext cx="4507992" cy="295466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lang="en-US" sz="1500" b="0" dirty="0">
                <a:solidFill>
                  <a:srgbClr val="F7F9FC"/>
                </a:solidFill>
                <a:latin typeface="Aptos"/>
              </a:rPr>
              <a:t>Only one thread can run at a time</a:t>
            </a:r>
            <a:endParaRPr sz="1500" b="0" dirty="0">
              <a:solidFill>
                <a:srgbClr val="F7F9F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B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50B9F2-9BE3-B353-E239-EB29BD1A4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797DE7-467A-C794-9159-986830AC24ED}"/>
              </a:ext>
            </a:extLst>
          </p:cNvPr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4BD3E2"/>
                </a:solidFill>
                <a:latin typeface="Aptos"/>
              </a:rPr>
              <a:t>CPU CORES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F6F0D2-EB78-EDDD-B2F7-B05F6B3F85B7}"/>
              </a:ext>
            </a:extLst>
          </p:cNvPr>
          <p:cNvSpPr txBox="1"/>
          <p:nvPr/>
        </p:nvSpPr>
        <p:spPr>
          <a:xfrm>
            <a:off x="10607040" y="228600"/>
            <a:ext cx="100584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B1BED3"/>
                </a:solidFill>
                <a:latin typeface="Aptos"/>
              </a:rPr>
              <a:t>02 / 20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71AE5CD-3107-DC42-601F-EE4F89023B16}"/>
              </a:ext>
            </a:extLst>
          </p:cNvPr>
          <p:cNvSpPr/>
          <p:nvPr/>
        </p:nvSpPr>
        <p:spPr>
          <a:xfrm>
            <a:off x="548640" y="594360"/>
            <a:ext cx="11064240" cy="22860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81FF5D-42F9-320B-5602-3F8FF9C10323}"/>
              </a:ext>
            </a:extLst>
          </p:cNvPr>
          <p:cNvSpPr txBox="1"/>
          <p:nvPr/>
        </p:nvSpPr>
        <p:spPr>
          <a:xfrm>
            <a:off x="640080" y="868680"/>
            <a:ext cx="10972800" cy="480131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2700" b="1" dirty="0">
                <a:solidFill>
                  <a:srgbClr val="F7F9FC"/>
                </a:solidFill>
                <a:latin typeface="Aptos"/>
              </a:rPr>
              <a:t>Q02. </a:t>
            </a:r>
            <a:r>
              <a:rPr lang="en-US" sz="2700" b="1" dirty="0">
                <a:solidFill>
                  <a:srgbClr val="F7F9FC"/>
                </a:solidFill>
                <a:latin typeface="Aptos"/>
              </a:rPr>
              <a:t>A CPU has 4 cores and 4 threads ready to run. What can happen?</a:t>
            </a:r>
            <a:endParaRPr sz="2700" b="1" dirty="0">
              <a:solidFill>
                <a:srgbClr val="F7F9FC"/>
              </a:solidFill>
              <a:latin typeface="Aptos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D53B784-8374-BA5C-64A4-1890782976C1}"/>
              </a:ext>
            </a:extLst>
          </p:cNvPr>
          <p:cNvSpPr/>
          <p:nvPr/>
        </p:nvSpPr>
        <p:spPr>
          <a:xfrm>
            <a:off x="685800" y="205740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37C78BF-555A-C8A2-FBCA-CCDDC49956D5}"/>
              </a:ext>
            </a:extLst>
          </p:cNvPr>
          <p:cNvSpPr/>
          <p:nvPr/>
        </p:nvSpPr>
        <p:spPr>
          <a:xfrm>
            <a:off x="795528" y="2176272"/>
            <a:ext cx="402336" cy="402336"/>
          </a:xfrm>
          <a:prstGeom prst="roundRect">
            <a:avLst/>
          </a:prstGeom>
          <a:solidFill>
            <a:srgbClr val="4B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0A9AFB-816B-39E6-123E-B983825E4A3D}"/>
              </a:ext>
            </a:extLst>
          </p:cNvPr>
          <p:cNvSpPr txBox="1"/>
          <p:nvPr/>
        </p:nvSpPr>
        <p:spPr>
          <a:xfrm>
            <a:off x="795528" y="217627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16B1C0-6501-B651-DF76-E673CCA2F1E1}"/>
              </a:ext>
            </a:extLst>
          </p:cNvPr>
          <p:cNvSpPr txBox="1"/>
          <p:nvPr/>
        </p:nvSpPr>
        <p:spPr>
          <a:xfrm>
            <a:off x="1325880" y="2247995"/>
            <a:ext cx="4507992" cy="295466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lang="en-US" sz="1500" b="0" dirty="0">
                <a:solidFill>
                  <a:srgbClr val="F7F9FC"/>
                </a:solidFill>
                <a:latin typeface="Aptos"/>
              </a:rPr>
              <a:t>All 4 threads can run at the same time</a:t>
            </a:r>
            <a:endParaRPr sz="1500" b="0" dirty="0">
              <a:solidFill>
                <a:srgbClr val="F7F9FC"/>
              </a:solidFill>
              <a:latin typeface="Aptos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CD7812B-D091-37AB-62A5-488C1EFD1F46}"/>
              </a:ext>
            </a:extLst>
          </p:cNvPr>
          <p:cNvSpPr/>
          <p:nvPr/>
        </p:nvSpPr>
        <p:spPr>
          <a:xfrm>
            <a:off x="6217920" y="205740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7300972-1DFD-5881-5414-9CC6F9F429B0}"/>
              </a:ext>
            </a:extLst>
          </p:cNvPr>
          <p:cNvSpPr/>
          <p:nvPr/>
        </p:nvSpPr>
        <p:spPr>
          <a:xfrm>
            <a:off x="6327648" y="2176272"/>
            <a:ext cx="402336" cy="402336"/>
          </a:xfrm>
          <a:prstGeom prst="roundRect">
            <a:avLst/>
          </a:prstGeom>
          <a:solidFill>
            <a:srgbClr val="FFC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ED2733-01BB-3C77-56F1-7B4E948DFD9A}"/>
              </a:ext>
            </a:extLst>
          </p:cNvPr>
          <p:cNvSpPr txBox="1"/>
          <p:nvPr/>
        </p:nvSpPr>
        <p:spPr>
          <a:xfrm>
            <a:off x="6327648" y="217627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29CB6C-6C6F-5BD8-97CF-E2DAB13EDDEC}"/>
              </a:ext>
            </a:extLst>
          </p:cNvPr>
          <p:cNvSpPr txBox="1"/>
          <p:nvPr/>
        </p:nvSpPr>
        <p:spPr>
          <a:xfrm>
            <a:off x="6858000" y="2247995"/>
            <a:ext cx="4507992" cy="295466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lang="en-US" sz="1500" b="0" dirty="0">
                <a:solidFill>
                  <a:srgbClr val="F7F9FC"/>
                </a:solidFill>
                <a:latin typeface="Aptos"/>
              </a:rPr>
              <a:t>All 4 threads must share one core</a:t>
            </a:r>
            <a:endParaRPr sz="1500" b="0" dirty="0">
              <a:solidFill>
                <a:srgbClr val="F7F9FC"/>
              </a:solidFill>
              <a:latin typeface="Aptos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ACA81C9-B3F1-3C19-4742-61917002780D}"/>
              </a:ext>
            </a:extLst>
          </p:cNvPr>
          <p:cNvSpPr/>
          <p:nvPr/>
        </p:nvSpPr>
        <p:spPr>
          <a:xfrm>
            <a:off x="685800" y="288036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601B52E-5541-B0C6-9D3F-B16C9663493C}"/>
              </a:ext>
            </a:extLst>
          </p:cNvPr>
          <p:cNvSpPr/>
          <p:nvPr/>
        </p:nvSpPr>
        <p:spPr>
          <a:xfrm>
            <a:off x="795528" y="2999232"/>
            <a:ext cx="402336" cy="402336"/>
          </a:xfrm>
          <a:prstGeom prst="roundRect">
            <a:avLst/>
          </a:prstGeom>
          <a:solidFill>
            <a:srgbClr val="6FE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5E86BC-1C7E-BB2F-8075-8411BE4AF505}"/>
              </a:ext>
            </a:extLst>
          </p:cNvPr>
          <p:cNvSpPr txBox="1"/>
          <p:nvPr/>
        </p:nvSpPr>
        <p:spPr>
          <a:xfrm>
            <a:off x="795528" y="299923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E5ACB2-E8D3-6791-8B36-F77A284E2BEE}"/>
              </a:ext>
            </a:extLst>
          </p:cNvPr>
          <p:cNvSpPr txBox="1"/>
          <p:nvPr/>
        </p:nvSpPr>
        <p:spPr>
          <a:xfrm>
            <a:off x="1325880" y="3070955"/>
            <a:ext cx="4507992" cy="295466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lang="en-US" sz="1500" b="0" dirty="0">
                <a:solidFill>
                  <a:srgbClr val="F7F9FC"/>
                </a:solidFill>
                <a:latin typeface="Aptos"/>
              </a:rPr>
              <a:t> Each thread becomes a separate process</a:t>
            </a:r>
            <a:endParaRPr sz="1500" b="0" dirty="0">
              <a:solidFill>
                <a:srgbClr val="F7F9FC"/>
              </a:solidFill>
              <a:latin typeface="Aptos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4EE9A91-B709-7ED4-E30A-3F0124C32E15}"/>
              </a:ext>
            </a:extLst>
          </p:cNvPr>
          <p:cNvSpPr/>
          <p:nvPr/>
        </p:nvSpPr>
        <p:spPr>
          <a:xfrm>
            <a:off x="6217920" y="288036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704E40C4-ECA9-D20F-0E46-BEB7D9A7B962}"/>
              </a:ext>
            </a:extLst>
          </p:cNvPr>
          <p:cNvSpPr/>
          <p:nvPr/>
        </p:nvSpPr>
        <p:spPr>
          <a:xfrm>
            <a:off x="6327648" y="2999232"/>
            <a:ext cx="402336" cy="402336"/>
          </a:xfrm>
          <a:prstGeom prst="roundRect">
            <a:avLst/>
          </a:prstGeom>
          <a:solidFill>
            <a:srgbClr val="FF8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8600F53-59E9-87A2-FC93-4E6C7D2C55E1}"/>
              </a:ext>
            </a:extLst>
          </p:cNvPr>
          <p:cNvSpPr txBox="1"/>
          <p:nvPr/>
        </p:nvSpPr>
        <p:spPr>
          <a:xfrm>
            <a:off x="6327648" y="299923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8F0040-A4FD-1CD3-8FF6-111A91B52316}"/>
              </a:ext>
            </a:extLst>
          </p:cNvPr>
          <p:cNvSpPr txBox="1"/>
          <p:nvPr/>
        </p:nvSpPr>
        <p:spPr>
          <a:xfrm>
            <a:off x="6858000" y="3070955"/>
            <a:ext cx="4507992" cy="295466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lang="en-US" sz="1500" b="0" dirty="0">
                <a:solidFill>
                  <a:srgbClr val="F7F9FC"/>
                </a:solidFill>
                <a:latin typeface="Aptos"/>
              </a:rPr>
              <a:t>Only one thread can run at a time</a:t>
            </a:r>
            <a:endParaRPr sz="1500" b="0" dirty="0">
              <a:solidFill>
                <a:srgbClr val="F7F9FC"/>
              </a:solidFill>
              <a:latin typeface="Aptos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07E84384-1C23-DFC3-F457-A24978EF8025}"/>
              </a:ext>
            </a:extLst>
          </p:cNvPr>
          <p:cNvSpPr/>
          <p:nvPr/>
        </p:nvSpPr>
        <p:spPr>
          <a:xfrm>
            <a:off x="685800" y="3977639"/>
            <a:ext cx="10835640" cy="1874519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A0691F6-479E-C5A9-79A9-8EB3EF41EE74}"/>
              </a:ext>
            </a:extLst>
          </p:cNvPr>
          <p:cNvSpPr txBox="1"/>
          <p:nvPr/>
        </p:nvSpPr>
        <p:spPr>
          <a:xfrm>
            <a:off x="914400" y="4187952"/>
            <a:ext cx="201168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6FE0A7"/>
                </a:solidFill>
                <a:latin typeface="Aptos"/>
              </a:rPr>
              <a:t>ANSWER  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24B605C-6E8B-C75C-DE37-267581236510}"/>
              </a:ext>
            </a:extLst>
          </p:cNvPr>
          <p:cNvSpPr txBox="1"/>
          <p:nvPr/>
        </p:nvSpPr>
        <p:spPr>
          <a:xfrm>
            <a:off x="914400" y="4617720"/>
            <a:ext cx="10241280" cy="52629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lang="en-US" sz="1500" b="0" dirty="0">
                <a:solidFill>
                  <a:srgbClr val="F7F9FC"/>
                </a:solidFill>
                <a:latin typeface="Aptos"/>
              </a:rPr>
              <a:t>Each thread can run on a separate CPU core, allowing all 4 threads to execute in parallel. This is possible when all four cores are available and the operating system schedules one thread on each core.</a:t>
            </a:r>
            <a:endParaRPr sz="1500" b="0" dirty="0">
              <a:solidFill>
                <a:srgbClr val="F7F9FC"/>
              </a:solidFill>
              <a:latin typeface="Apto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87DE7A2-3069-7CBE-CF3E-59923DB793FC}"/>
              </a:ext>
            </a:extLst>
          </p:cNvPr>
          <p:cNvSpPr txBox="1"/>
          <p:nvPr/>
        </p:nvSpPr>
        <p:spPr>
          <a:xfrm>
            <a:off x="685800" y="6263640"/>
            <a:ext cx="10789920" cy="22860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B1BED3"/>
                </a:solidFill>
                <a:latin typeface="Aptos"/>
              </a:rPr>
              <a:t>Ask students to justify their choice before discussing the answer.</a:t>
            </a:r>
          </a:p>
        </p:txBody>
      </p:sp>
    </p:spTree>
    <p:extLst>
      <p:ext uri="{BB962C8B-B14F-4D97-AF65-F5344CB8AC3E}">
        <p14:creationId xmlns:p14="http://schemas.microsoft.com/office/powerpoint/2010/main" val="347593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4BD3E2"/>
                </a:solidFill>
                <a:latin typeface="Aptos"/>
              </a:rPr>
              <a:t>KEY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228600"/>
            <a:ext cx="100584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B1BED3"/>
                </a:solidFill>
                <a:latin typeface="Aptos"/>
              </a:rPr>
              <a:t>03 / 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594360"/>
            <a:ext cx="11064240" cy="22860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86868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2700" b="1">
                <a:solidFill>
                  <a:srgbClr val="F7F9FC"/>
                </a:solidFill>
                <a:latin typeface="Aptos"/>
              </a:rPr>
              <a:t>Q03. One CPU core rapidly switches between two runnable threads. This is mainly…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95528" y="2176272"/>
            <a:ext cx="402336" cy="402336"/>
          </a:xfrm>
          <a:prstGeom prst="roundRect">
            <a:avLst/>
          </a:prstGeom>
          <a:solidFill>
            <a:srgbClr val="4B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217627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13055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Parallelism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5740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27648" y="2176272"/>
            <a:ext cx="402336" cy="402336"/>
          </a:xfrm>
          <a:prstGeom prst="roundRect">
            <a:avLst/>
          </a:prstGeom>
          <a:solidFill>
            <a:srgbClr val="FFC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27648" y="217627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13055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Concurrency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8036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95528" y="2999232"/>
            <a:ext cx="402336" cy="402336"/>
          </a:xfrm>
          <a:prstGeom prst="roundRect">
            <a:avLst/>
          </a:prstGeom>
          <a:solidFill>
            <a:srgbClr val="6FE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8" y="299923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95351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Replication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88036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327648" y="2999232"/>
            <a:ext cx="402336" cy="402336"/>
          </a:xfrm>
          <a:prstGeom prst="roundRect">
            <a:avLst/>
          </a:prstGeom>
          <a:solidFill>
            <a:srgbClr val="FF8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27648" y="299923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95351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Compilation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B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4FFD2F-3FDC-90E1-E015-892E1F2CB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93DEE0-F15E-A055-D8A5-1C41DBE413DD}"/>
              </a:ext>
            </a:extLst>
          </p:cNvPr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4BD3E2"/>
                </a:solidFill>
                <a:latin typeface="Aptos"/>
              </a:rPr>
              <a:t>KEY TERMS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5CE363-1845-4911-032E-4325FF4A4416}"/>
              </a:ext>
            </a:extLst>
          </p:cNvPr>
          <p:cNvSpPr txBox="1"/>
          <p:nvPr/>
        </p:nvSpPr>
        <p:spPr>
          <a:xfrm>
            <a:off x="10607040" y="228600"/>
            <a:ext cx="100584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B1BED3"/>
                </a:solidFill>
                <a:latin typeface="Aptos"/>
              </a:rPr>
              <a:t>03 / 20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DE6F9E5-AE93-EC73-7D25-BC9A03621EA7}"/>
              </a:ext>
            </a:extLst>
          </p:cNvPr>
          <p:cNvSpPr/>
          <p:nvPr/>
        </p:nvSpPr>
        <p:spPr>
          <a:xfrm>
            <a:off x="548640" y="594360"/>
            <a:ext cx="11064240" cy="22860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FBD33C-B2AC-903C-5C5B-186091E50C37}"/>
              </a:ext>
            </a:extLst>
          </p:cNvPr>
          <p:cNvSpPr txBox="1"/>
          <p:nvPr/>
        </p:nvSpPr>
        <p:spPr>
          <a:xfrm>
            <a:off x="640080" y="868680"/>
            <a:ext cx="10972800" cy="86868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2700" b="1">
                <a:solidFill>
                  <a:srgbClr val="F7F9FC"/>
                </a:solidFill>
                <a:latin typeface="Aptos"/>
              </a:rPr>
              <a:t>Q03. One CPU core rapidly switches between two runnable threads. This is mainly…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0EE645E-25C0-1524-6626-E3353D264A44}"/>
              </a:ext>
            </a:extLst>
          </p:cNvPr>
          <p:cNvSpPr/>
          <p:nvPr/>
        </p:nvSpPr>
        <p:spPr>
          <a:xfrm>
            <a:off x="685800" y="205740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4F16304-30AD-7848-740D-6CC0DF76DD01}"/>
              </a:ext>
            </a:extLst>
          </p:cNvPr>
          <p:cNvSpPr/>
          <p:nvPr/>
        </p:nvSpPr>
        <p:spPr>
          <a:xfrm>
            <a:off x="795528" y="2176272"/>
            <a:ext cx="402336" cy="402336"/>
          </a:xfrm>
          <a:prstGeom prst="roundRect">
            <a:avLst/>
          </a:prstGeom>
          <a:solidFill>
            <a:srgbClr val="4B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667BAF-7570-908F-AE76-A81ED5024FB3}"/>
              </a:ext>
            </a:extLst>
          </p:cNvPr>
          <p:cNvSpPr txBox="1"/>
          <p:nvPr/>
        </p:nvSpPr>
        <p:spPr>
          <a:xfrm>
            <a:off x="795528" y="217627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74372A-3C39-BECC-5643-6AEFD58B5359}"/>
              </a:ext>
            </a:extLst>
          </p:cNvPr>
          <p:cNvSpPr txBox="1"/>
          <p:nvPr/>
        </p:nvSpPr>
        <p:spPr>
          <a:xfrm>
            <a:off x="1325880" y="213055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Parallelism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4A24B46-5DEE-81CF-15D1-ADA6698DF4B9}"/>
              </a:ext>
            </a:extLst>
          </p:cNvPr>
          <p:cNvSpPr/>
          <p:nvPr/>
        </p:nvSpPr>
        <p:spPr>
          <a:xfrm>
            <a:off x="6217920" y="205740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390E7D3-F25E-1874-F3CB-E8339A89132B}"/>
              </a:ext>
            </a:extLst>
          </p:cNvPr>
          <p:cNvSpPr/>
          <p:nvPr/>
        </p:nvSpPr>
        <p:spPr>
          <a:xfrm>
            <a:off x="6327648" y="2176272"/>
            <a:ext cx="402336" cy="402336"/>
          </a:xfrm>
          <a:prstGeom prst="roundRect">
            <a:avLst/>
          </a:prstGeom>
          <a:solidFill>
            <a:srgbClr val="FFC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1F1147-EAC9-1D3B-D5DD-98B57A00E9C8}"/>
              </a:ext>
            </a:extLst>
          </p:cNvPr>
          <p:cNvSpPr txBox="1"/>
          <p:nvPr/>
        </p:nvSpPr>
        <p:spPr>
          <a:xfrm>
            <a:off x="6327648" y="217627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FA3DEE-D06B-DF40-F48F-E222788A6993}"/>
              </a:ext>
            </a:extLst>
          </p:cNvPr>
          <p:cNvSpPr txBox="1"/>
          <p:nvPr/>
        </p:nvSpPr>
        <p:spPr>
          <a:xfrm>
            <a:off x="6858000" y="213055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Concurrency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363A854-8627-47AB-BFB0-01ED027D80BA}"/>
              </a:ext>
            </a:extLst>
          </p:cNvPr>
          <p:cNvSpPr/>
          <p:nvPr/>
        </p:nvSpPr>
        <p:spPr>
          <a:xfrm>
            <a:off x="685800" y="288036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E3EF9D1-89A8-AA9F-2E11-A69CDFE45B8C}"/>
              </a:ext>
            </a:extLst>
          </p:cNvPr>
          <p:cNvSpPr/>
          <p:nvPr/>
        </p:nvSpPr>
        <p:spPr>
          <a:xfrm>
            <a:off x="795528" y="2999232"/>
            <a:ext cx="402336" cy="402336"/>
          </a:xfrm>
          <a:prstGeom prst="roundRect">
            <a:avLst/>
          </a:prstGeom>
          <a:solidFill>
            <a:srgbClr val="6FE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E03FDF-611C-CC47-9012-6E52E0DFFCC2}"/>
              </a:ext>
            </a:extLst>
          </p:cNvPr>
          <p:cNvSpPr txBox="1"/>
          <p:nvPr/>
        </p:nvSpPr>
        <p:spPr>
          <a:xfrm>
            <a:off x="795528" y="299923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599693-C942-D3C2-9267-F29A3A7E0C82}"/>
              </a:ext>
            </a:extLst>
          </p:cNvPr>
          <p:cNvSpPr txBox="1"/>
          <p:nvPr/>
        </p:nvSpPr>
        <p:spPr>
          <a:xfrm>
            <a:off x="1325880" y="295351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Replication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24D64E4-C4FD-C6EF-3342-D3B58D689C30}"/>
              </a:ext>
            </a:extLst>
          </p:cNvPr>
          <p:cNvSpPr/>
          <p:nvPr/>
        </p:nvSpPr>
        <p:spPr>
          <a:xfrm>
            <a:off x="6217920" y="288036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F149134B-771D-E1BD-57E4-5232B6C198C4}"/>
              </a:ext>
            </a:extLst>
          </p:cNvPr>
          <p:cNvSpPr/>
          <p:nvPr/>
        </p:nvSpPr>
        <p:spPr>
          <a:xfrm>
            <a:off x="6327648" y="2999232"/>
            <a:ext cx="402336" cy="402336"/>
          </a:xfrm>
          <a:prstGeom prst="roundRect">
            <a:avLst/>
          </a:prstGeom>
          <a:solidFill>
            <a:srgbClr val="FF8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169D40-6FBB-D562-D382-4E2261DE2387}"/>
              </a:ext>
            </a:extLst>
          </p:cNvPr>
          <p:cNvSpPr txBox="1"/>
          <p:nvPr/>
        </p:nvSpPr>
        <p:spPr>
          <a:xfrm>
            <a:off x="6327648" y="299923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4059414-EF26-8F01-70CB-0F5652695B96}"/>
              </a:ext>
            </a:extLst>
          </p:cNvPr>
          <p:cNvSpPr txBox="1"/>
          <p:nvPr/>
        </p:nvSpPr>
        <p:spPr>
          <a:xfrm>
            <a:off x="6858000" y="295351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Compilation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0C352181-8BEC-8B8D-62BD-DE967D5D8E23}"/>
              </a:ext>
            </a:extLst>
          </p:cNvPr>
          <p:cNvSpPr/>
          <p:nvPr/>
        </p:nvSpPr>
        <p:spPr>
          <a:xfrm>
            <a:off x="685800" y="3977639"/>
            <a:ext cx="10835640" cy="1874519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202D8C0-325C-C3DB-71F0-7730477C3531}"/>
              </a:ext>
            </a:extLst>
          </p:cNvPr>
          <p:cNvSpPr txBox="1"/>
          <p:nvPr/>
        </p:nvSpPr>
        <p:spPr>
          <a:xfrm>
            <a:off x="914400" y="4187952"/>
            <a:ext cx="201168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6FE0A7"/>
                </a:solidFill>
                <a:latin typeface="Aptos"/>
              </a:rPr>
              <a:t>ANSWER  B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9D82DF3-598D-1E1A-2D89-EC39CC17BFFB}"/>
              </a:ext>
            </a:extLst>
          </p:cNvPr>
          <p:cNvSpPr txBox="1"/>
          <p:nvPr/>
        </p:nvSpPr>
        <p:spPr>
          <a:xfrm>
            <a:off x="914400" y="4617720"/>
            <a:ext cx="10241280" cy="9601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Concurrency means tasks make progress over overlapping periods. A single core can interleave their execution.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C6072ED-D95F-0276-E0C1-1B4D7B57DF34}"/>
              </a:ext>
            </a:extLst>
          </p:cNvPr>
          <p:cNvSpPr txBox="1"/>
          <p:nvPr/>
        </p:nvSpPr>
        <p:spPr>
          <a:xfrm>
            <a:off x="685800" y="6263640"/>
            <a:ext cx="10789920" cy="22860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B1BED3"/>
                </a:solidFill>
                <a:latin typeface="Aptos"/>
              </a:rPr>
              <a:t>Ask students to justify their choice before discussing the answer.</a:t>
            </a:r>
          </a:p>
        </p:txBody>
      </p:sp>
    </p:spTree>
    <p:extLst>
      <p:ext uri="{BB962C8B-B14F-4D97-AF65-F5344CB8AC3E}">
        <p14:creationId xmlns:p14="http://schemas.microsoft.com/office/powerpoint/2010/main" val="31759799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4BD3E2"/>
                </a:solidFill>
                <a:latin typeface="Aptos"/>
              </a:rPr>
              <a:t>PROCESS OR THREAD?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228600"/>
            <a:ext cx="100584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B1BED3"/>
                </a:solidFill>
                <a:latin typeface="Aptos"/>
              </a:rPr>
              <a:t>04 / 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594360"/>
            <a:ext cx="11064240" cy="22860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86868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2700" b="1">
                <a:solidFill>
                  <a:srgbClr val="F7F9FC"/>
                </a:solidFill>
                <a:latin typeface="Aptos"/>
              </a:rPr>
              <a:t>Q04. A browser and a music player run as separate applications. They are commonly…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95528" y="2176272"/>
            <a:ext cx="402336" cy="402336"/>
          </a:xfrm>
          <a:prstGeom prst="roundRect">
            <a:avLst/>
          </a:prstGeom>
          <a:solidFill>
            <a:srgbClr val="4B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217627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13055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Two CPU cores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5740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27648" y="2176272"/>
            <a:ext cx="402336" cy="402336"/>
          </a:xfrm>
          <a:prstGeom prst="roundRect">
            <a:avLst/>
          </a:prstGeom>
          <a:solidFill>
            <a:srgbClr val="FFC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27648" y="217627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13055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Two processes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8036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95528" y="2999232"/>
            <a:ext cx="402336" cy="402336"/>
          </a:xfrm>
          <a:prstGeom prst="roundRect">
            <a:avLst/>
          </a:prstGeom>
          <a:solidFill>
            <a:srgbClr val="6FE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8" y="299923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95351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One thread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88036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327648" y="2999232"/>
            <a:ext cx="402336" cy="402336"/>
          </a:xfrm>
          <a:prstGeom prst="roundRect">
            <a:avLst/>
          </a:prstGeom>
          <a:solidFill>
            <a:srgbClr val="FF8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27648" y="299923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95351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Two tasks in one function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B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A707AB-EC52-8A1F-B3D2-99B258DA1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3DA86C-EBD6-C0BD-10F7-90DF3A114ED6}"/>
              </a:ext>
            </a:extLst>
          </p:cNvPr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4BD3E2"/>
                </a:solidFill>
                <a:latin typeface="Aptos"/>
              </a:rPr>
              <a:t>PROCESS OR THREAD?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517EA7-132C-4A3F-043D-B55E968CF4F3}"/>
              </a:ext>
            </a:extLst>
          </p:cNvPr>
          <p:cNvSpPr txBox="1"/>
          <p:nvPr/>
        </p:nvSpPr>
        <p:spPr>
          <a:xfrm>
            <a:off x="10607040" y="228600"/>
            <a:ext cx="100584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B1BED3"/>
                </a:solidFill>
                <a:latin typeface="Aptos"/>
              </a:rPr>
              <a:t>04 / 20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5719878-55A8-9D01-894D-1B845BA7CDAF}"/>
              </a:ext>
            </a:extLst>
          </p:cNvPr>
          <p:cNvSpPr/>
          <p:nvPr/>
        </p:nvSpPr>
        <p:spPr>
          <a:xfrm>
            <a:off x="548640" y="594360"/>
            <a:ext cx="11064240" cy="22860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490BEB-7B6A-90F1-D77B-22020025AADE}"/>
              </a:ext>
            </a:extLst>
          </p:cNvPr>
          <p:cNvSpPr txBox="1"/>
          <p:nvPr/>
        </p:nvSpPr>
        <p:spPr>
          <a:xfrm>
            <a:off x="640080" y="868680"/>
            <a:ext cx="10972800" cy="86868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2700" b="1">
                <a:solidFill>
                  <a:srgbClr val="F7F9FC"/>
                </a:solidFill>
                <a:latin typeface="Aptos"/>
              </a:rPr>
              <a:t>Q04. A browser and a music player run as separate applications. They are commonly…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E3AA254-CB77-E154-3092-AAE329DE3C37}"/>
              </a:ext>
            </a:extLst>
          </p:cNvPr>
          <p:cNvSpPr/>
          <p:nvPr/>
        </p:nvSpPr>
        <p:spPr>
          <a:xfrm>
            <a:off x="685800" y="205740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F9FD4CD-BC05-2291-E9A8-402A9484F47D}"/>
              </a:ext>
            </a:extLst>
          </p:cNvPr>
          <p:cNvSpPr/>
          <p:nvPr/>
        </p:nvSpPr>
        <p:spPr>
          <a:xfrm>
            <a:off x="795528" y="2176272"/>
            <a:ext cx="402336" cy="402336"/>
          </a:xfrm>
          <a:prstGeom prst="roundRect">
            <a:avLst/>
          </a:prstGeom>
          <a:solidFill>
            <a:srgbClr val="4B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3E39A1-43C0-EB3F-FB7A-F5E58349E92D}"/>
              </a:ext>
            </a:extLst>
          </p:cNvPr>
          <p:cNvSpPr txBox="1"/>
          <p:nvPr/>
        </p:nvSpPr>
        <p:spPr>
          <a:xfrm>
            <a:off x="795528" y="217627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81B3EB-01A0-0AA6-2F4E-3033844666A7}"/>
              </a:ext>
            </a:extLst>
          </p:cNvPr>
          <p:cNvSpPr txBox="1"/>
          <p:nvPr/>
        </p:nvSpPr>
        <p:spPr>
          <a:xfrm>
            <a:off x="1325880" y="213055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Two CPU cores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6B1F078-C6AC-CCC3-088C-BC6F66A46165}"/>
              </a:ext>
            </a:extLst>
          </p:cNvPr>
          <p:cNvSpPr/>
          <p:nvPr/>
        </p:nvSpPr>
        <p:spPr>
          <a:xfrm>
            <a:off x="6217920" y="205740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306C595-2770-61FF-D723-343CCDED552D}"/>
              </a:ext>
            </a:extLst>
          </p:cNvPr>
          <p:cNvSpPr/>
          <p:nvPr/>
        </p:nvSpPr>
        <p:spPr>
          <a:xfrm>
            <a:off x="6327648" y="2176272"/>
            <a:ext cx="402336" cy="402336"/>
          </a:xfrm>
          <a:prstGeom prst="roundRect">
            <a:avLst/>
          </a:prstGeom>
          <a:solidFill>
            <a:srgbClr val="FFC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AA9337-9DA4-D9AA-1B6F-A0784BD2834C}"/>
              </a:ext>
            </a:extLst>
          </p:cNvPr>
          <p:cNvSpPr txBox="1"/>
          <p:nvPr/>
        </p:nvSpPr>
        <p:spPr>
          <a:xfrm>
            <a:off x="6327648" y="217627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33F2A5-FD14-F82B-8483-80AEBEF07A30}"/>
              </a:ext>
            </a:extLst>
          </p:cNvPr>
          <p:cNvSpPr txBox="1"/>
          <p:nvPr/>
        </p:nvSpPr>
        <p:spPr>
          <a:xfrm>
            <a:off x="6858000" y="213055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Two processes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0B6DCCB-9383-3B70-27DB-D395F49769A3}"/>
              </a:ext>
            </a:extLst>
          </p:cNvPr>
          <p:cNvSpPr/>
          <p:nvPr/>
        </p:nvSpPr>
        <p:spPr>
          <a:xfrm>
            <a:off x="685800" y="288036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8E1436E-C48A-0871-A721-1CDBC5813A32}"/>
              </a:ext>
            </a:extLst>
          </p:cNvPr>
          <p:cNvSpPr/>
          <p:nvPr/>
        </p:nvSpPr>
        <p:spPr>
          <a:xfrm>
            <a:off x="795528" y="2999232"/>
            <a:ext cx="402336" cy="402336"/>
          </a:xfrm>
          <a:prstGeom prst="roundRect">
            <a:avLst/>
          </a:prstGeom>
          <a:solidFill>
            <a:srgbClr val="6FE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0ED90B-19C2-35D7-7253-6EE5FF2379BF}"/>
              </a:ext>
            </a:extLst>
          </p:cNvPr>
          <p:cNvSpPr txBox="1"/>
          <p:nvPr/>
        </p:nvSpPr>
        <p:spPr>
          <a:xfrm>
            <a:off x="795528" y="299923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FAEF3D-E854-ABD9-5C2A-F54DADFB6E93}"/>
              </a:ext>
            </a:extLst>
          </p:cNvPr>
          <p:cNvSpPr txBox="1"/>
          <p:nvPr/>
        </p:nvSpPr>
        <p:spPr>
          <a:xfrm>
            <a:off x="1325880" y="295351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One thread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95ED32A-3E63-A430-C0D8-755D4BA87A66}"/>
              </a:ext>
            </a:extLst>
          </p:cNvPr>
          <p:cNvSpPr/>
          <p:nvPr/>
        </p:nvSpPr>
        <p:spPr>
          <a:xfrm>
            <a:off x="6217920" y="288036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E0027D5-DB09-1CB1-D822-1E2A5B4B1B49}"/>
              </a:ext>
            </a:extLst>
          </p:cNvPr>
          <p:cNvSpPr/>
          <p:nvPr/>
        </p:nvSpPr>
        <p:spPr>
          <a:xfrm>
            <a:off x="6327648" y="2999232"/>
            <a:ext cx="402336" cy="402336"/>
          </a:xfrm>
          <a:prstGeom prst="roundRect">
            <a:avLst/>
          </a:prstGeom>
          <a:solidFill>
            <a:srgbClr val="FF8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363E57B-77C4-9F8F-3F5F-2132DD5796FA}"/>
              </a:ext>
            </a:extLst>
          </p:cNvPr>
          <p:cNvSpPr txBox="1"/>
          <p:nvPr/>
        </p:nvSpPr>
        <p:spPr>
          <a:xfrm>
            <a:off x="6327648" y="299923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1F38816-2237-7B26-6000-B7EBC47E6CCA}"/>
              </a:ext>
            </a:extLst>
          </p:cNvPr>
          <p:cNvSpPr txBox="1"/>
          <p:nvPr/>
        </p:nvSpPr>
        <p:spPr>
          <a:xfrm>
            <a:off x="6858000" y="295351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Two tasks in one function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E85F5530-B124-1F45-0CEB-B28D7A63DBC6}"/>
              </a:ext>
            </a:extLst>
          </p:cNvPr>
          <p:cNvSpPr/>
          <p:nvPr/>
        </p:nvSpPr>
        <p:spPr>
          <a:xfrm>
            <a:off x="685800" y="3977639"/>
            <a:ext cx="10835640" cy="1874519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7E06EE9-A575-CAFC-7F14-28DF38B9D7C8}"/>
              </a:ext>
            </a:extLst>
          </p:cNvPr>
          <p:cNvSpPr txBox="1"/>
          <p:nvPr/>
        </p:nvSpPr>
        <p:spPr>
          <a:xfrm>
            <a:off x="914400" y="4187952"/>
            <a:ext cx="201168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6FE0A7"/>
                </a:solidFill>
                <a:latin typeface="Aptos"/>
              </a:rPr>
              <a:t>ANSWER  B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E39A636-47B0-5A4B-4B1C-CB2DEA845995}"/>
              </a:ext>
            </a:extLst>
          </p:cNvPr>
          <p:cNvSpPr txBox="1"/>
          <p:nvPr/>
        </p:nvSpPr>
        <p:spPr>
          <a:xfrm>
            <a:off x="914400" y="4617720"/>
            <a:ext cx="10241280" cy="9601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They commonly run as separate processes, each with its own protected address space and resources.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1B2B5F6-215D-9297-1787-EBBF7919D7AA}"/>
              </a:ext>
            </a:extLst>
          </p:cNvPr>
          <p:cNvSpPr txBox="1"/>
          <p:nvPr/>
        </p:nvSpPr>
        <p:spPr>
          <a:xfrm>
            <a:off x="685800" y="6263640"/>
            <a:ext cx="10789920" cy="22860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B1BED3"/>
                </a:solidFill>
                <a:latin typeface="Aptos"/>
              </a:rPr>
              <a:t>Ask students to justify their choice before discussing the answer.</a:t>
            </a:r>
          </a:p>
        </p:txBody>
      </p:sp>
    </p:spTree>
    <p:extLst>
      <p:ext uri="{BB962C8B-B14F-4D97-AF65-F5344CB8AC3E}">
        <p14:creationId xmlns:p14="http://schemas.microsoft.com/office/powerpoint/2010/main" val="1645256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4BD3E2"/>
                </a:solidFill>
                <a:latin typeface="Aptos"/>
              </a:rPr>
              <a:t>THREAD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228600"/>
            <a:ext cx="100584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B1BED3"/>
                </a:solidFill>
                <a:latin typeface="Aptos"/>
              </a:rPr>
              <a:t>05 / 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594360"/>
            <a:ext cx="11064240" cy="22860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86868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2700" b="1">
                <a:solidFill>
                  <a:srgbClr val="F7F9FC"/>
                </a:solidFill>
                <a:latin typeface="Aptos"/>
              </a:rPr>
              <a:t>Q05. Two threads in the same process typically share which resource?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95528" y="2176272"/>
            <a:ext cx="402336" cy="402336"/>
          </a:xfrm>
          <a:prstGeom prst="roundRect">
            <a:avLst/>
          </a:prstGeom>
          <a:solidFill>
            <a:srgbClr val="4B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217627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13055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The process address space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5740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27648" y="2176272"/>
            <a:ext cx="402336" cy="402336"/>
          </a:xfrm>
          <a:prstGeom prst="roundRect">
            <a:avLst/>
          </a:prstGeom>
          <a:solidFill>
            <a:srgbClr val="FFC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27648" y="217627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13055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Separate operating-system kernels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8036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95528" y="2999232"/>
            <a:ext cx="402336" cy="402336"/>
          </a:xfrm>
          <a:prstGeom prst="roundRect">
            <a:avLst/>
          </a:prstGeom>
          <a:solidFill>
            <a:srgbClr val="6FE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8" y="299923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95351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A guaranteed CPU core each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88036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327648" y="2999232"/>
            <a:ext cx="402336" cy="402336"/>
          </a:xfrm>
          <a:prstGeom prst="roundRect">
            <a:avLst/>
          </a:prstGeom>
          <a:solidFill>
            <a:srgbClr val="FF8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27648" y="299923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95351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Completely isolated memory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B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139698-85A0-8C25-E828-6026A7171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09EC7E-0D8C-EF8E-1D9F-F680BB651427}"/>
              </a:ext>
            </a:extLst>
          </p:cNvPr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4BD3E2"/>
                </a:solidFill>
                <a:latin typeface="Aptos"/>
              </a:rPr>
              <a:t>THREAD BASICS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FE0F29-8625-1D19-E85C-9582836B7FEA}"/>
              </a:ext>
            </a:extLst>
          </p:cNvPr>
          <p:cNvSpPr txBox="1"/>
          <p:nvPr/>
        </p:nvSpPr>
        <p:spPr>
          <a:xfrm>
            <a:off x="10607040" y="228600"/>
            <a:ext cx="100584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B1BED3"/>
                </a:solidFill>
                <a:latin typeface="Aptos"/>
              </a:rPr>
              <a:t>05 / 20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8409086-72E6-C7DE-3F7D-8F97D7FF95E7}"/>
              </a:ext>
            </a:extLst>
          </p:cNvPr>
          <p:cNvSpPr/>
          <p:nvPr/>
        </p:nvSpPr>
        <p:spPr>
          <a:xfrm>
            <a:off x="548640" y="594360"/>
            <a:ext cx="11064240" cy="22860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14673E-B3CA-F469-6C97-4238EDF9EB1C}"/>
              </a:ext>
            </a:extLst>
          </p:cNvPr>
          <p:cNvSpPr txBox="1"/>
          <p:nvPr/>
        </p:nvSpPr>
        <p:spPr>
          <a:xfrm>
            <a:off x="640080" y="868680"/>
            <a:ext cx="10972800" cy="86868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2700" b="1">
                <a:solidFill>
                  <a:srgbClr val="F7F9FC"/>
                </a:solidFill>
                <a:latin typeface="Aptos"/>
              </a:rPr>
              <a:t>Q05. Two threads in the same process typically share which resource?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EE157C3-5AA6-3792-D5AB-98BADED5EA4D}"/>
              </a:ext>
            </a:extLst>
          </p:cNvPr>
          <p:cNvSpPr/>
          <p:nvPr/>
        </p:nvSpPr>
        <p:spPr>
          <a:xfrm>
            <a:off x="685800" y="205740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C7BF4F9-95CA-2A4C-2EBC-6092C34D1148}"/>
              </a:ext>
            </a:extLst>
          </p:cNvPr>
          <p:cNvSpPr/>
          <p:nvPr/>
        </p:nvSpPr>
        <p:spPr>
          <a:xfrm>
            <a:off x="795528" y="2176272"/>
            <a:ext cx="402336" cy="402336"/>
          </a:xfrm>
          <a:prstGeom prst="roundRect">
            <a:avLst/>
          </a:prstGeom>
          <a:solidFill>
            <a:srgbClr val="4B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87498B-6EA9-84EA-CC57-5D0533365502}"/>
              </a:ext>
            </a:extLst>
          </p:cNvPr>
          <p:cNvSpPr txBox="1"/>
          <p:nvPr/>
        </p:nvSpPr>
        <p:spPr>
          <a:xfrm>
            <a:off x="795528" y="217627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E756AD-53EC-8C63-0DB2-945F05C553AF}"/>
              </a:ext>
            </a:extLst>
          </p:cNvPr>
          <p:cNvSpPr txBox="1"/>
          <p:nvPr/>
        </p:nvSpPr>
        <p:spPr>
          <a:xfrm>
            <a:off x="1325880" y="213055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The process address space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028E5B3-F911-8189-CD33-293DDEEE38D6}"/>
              </a:ext>
            </a:extLst>
          </p:cNvPr>
          <p:cNvSpPr/>
          <p:nvPr/>
        </p:nvSpPr>
        <p:spPr>
          <a:xfrm>
            <a:off x="6217920" y="205740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0C64EA7-AEF5-76D0-2D98-F401151B1F11}"/>
              </a:ext>
            </a:extLst>
          </p:cNvPr>
          <p:cNvSpPr/>
          <p:nvPr/>
        </p:nvSpPr>
        <p:spPr>
          <a:xfrm>
            <a:off x="6327648" y="2176272"/>
            <a:ext cx="402336" cy="402336"/>
          </a:xfrm>
          <a:prstGeom prst="roundRect">
            <a:avLst/>
          </a:prstGeom>
          <a:solidFill>
            <a:srgbClr val="FFC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18FC68-C2BF-DD57-4682-CF9A3BEF42DB}"/>
              </a:ext>
            </a:extLst>
          </p:cNvPr>
          <p:cNvSpPr txBox="1"/>
          <p:nvPr/>
        </p:nvSpPr>
        <p:spPr>
          <a:xfrm>
            <a:off x="6327648" y="217627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24401D-7CBB-2BBB-9A68-10CD5A8B8C2D}"/>
              </a:ext>
            </a:extLst>
          </p:cNvPr>
          <p:cNvSpPr txBox="1"/>
          <p:nvPr/>
        </p:nvSpPr>
        <p:spPr>
          <a:xfrm>
            <a:off x="6858000" y="213055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Separate operating-system kernels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285838C-7F4E-D5EB-D228-8AE03943062F}"/>
              </a:ext>
            </a:extLst>
          </p:cNvPr>
          <p:cNvSpPr/>
          <p:nvPr/>
        </p:nvSpPr>
        <p:spPr>
          <a:xfrm>
            <a:off x="685800" y="288036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402765B-5FE7-502E-A46C-65F55503ABB4}"/>
              </a:ext>
            </a:extLst>
          </p:cNvPr>
          <p:cNvSpPr/>
          <p:nvPr/>
        </p:nvSpPr>
        <p:spPr>
          <a:xfrm>
            <a:off x="795528" y="2999232"/>
            <a:ext cx="402336" cy="402336"/>
          </a:xfrm>
          <a:prstGeom prst="roundRect">
            <a:avLst/>
          </a:prstGeom>
          <a:solidFill>
            <a:srgbClr val="6FE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AC35BF-9048-6FA7-435E-109A2518FA31}"/>
              </a:ext>
            </a:extLst>
          </p:cNvPr>
          <p:cNvSpPr txBox="1"/>
          <p:nvPr/>
        </p:nvSpPr>
        <p:spPr>
          <a:xfrm>
            <a:off x="795528" y="299923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F1AB70-AD3D-E4DF-C33D-8B1E6FFD4E57}"/>
              </a:ext>
            </a:extLst>
          </p:cNvPr>
          <p:cNvSpPr txBox="1"/>
          <p:nvPr/>
        </p:nvSpPr>
        <p:spPr>
          <a:xfrm>
            <a:off x="1325880" y="295351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A guaranteed CPU core each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519E373-2211-5F5B-94B9-A590EA5C99BE}"/>
              </a:ext>
            </a:extLst>
          </p:cNvPr>
          <p:cNvSpPr/>
          <p:nvPr/>
        </p:nvSpPr>
        <p:spPr>
          <a:xfrm>
            <a:off x="6217920" y="288036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33FF5228-BABF-008A-B265-BC63363D6050}"/>
              </a:ext>
            </a:extLst>
          </p:cNvPr>
          <p:cNvSpPr/>
          <p:nvPr/>
        </p:nvSpPr>
        <p:spPr>
          <a:xfrm>
            <a:off x="6327648" y="2999232"/>
            <a:ext cx="402336" cy="402336"/>
          </a:xfrm>
          <a:prstGeom prst="roundRect">
            <a:avLst/>
          </a:prstGeom>
          <a:solidFill>
            <a:srgbClr val="FF8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4188E24-F7B9-28E9-5AE1-DF9EE7B8A7A6}"/>
              </a:ext>
            </a:extLst>
          </p:cNvPr>
          <p:cNvSpPr txBox="1"/>
          <p:nvPr/>
        </p:nvSpPr>
        <p:spPr>
          <a:xfrm>
            <a:off x="6327648" y="299923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335EE25-CAF3-7D43-15E0-253D66FE810E}"/>
              </a:ext>
            </a:extLst>
          </p:cNvPr>
          <p:cNvSpPr txBox="1"/>
          <p:nvPr/>
        </p:nvSpPr>
        <p:spPr>
          <a:xfrm>
            <a:off x="6858000" y="295351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Completely isolated memory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8E31928D-D0DB-41AA-A25B-6DF5A0149CA3}"/>
              </a:ext>
            </a:extLst>
          </p:cNvPr>
          <p:cNvSpPr/>
          <p:nvPr/>
        </p:nvSpPr>
        <p:spPr>
          <a:xfrm>
            <a:off x="685800" y="3977639"/>
            <a:ext cx="10835640" cy="1874519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64E417-8B79-4C14-F8BC-8EB6B2DD5E5F}"/>
              </a:ext>
            </a:extLst>
          </p:cNvPr>
          <p:cNvSpPr txBox="1"/>
          <p:nvPr/>
        </p:nvSpPr>
        <p:spPr>
          <a:xfrm>
            <a:off x="914400" y="4187952"/>
            <a:ext cx="201168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6FE0A7"/>
                </a:solidFill>
                <a:latin typeface="Aptos"/>
              </a:rPr>
              <a:t>ANSWER  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517DD2-1612-20CF-FCDE-1C74AC8D927D}"/>
              </a:ext>
            </a:extLst>
          </p:cNvPr>
          <p:cNvSpPr txBox="1"/>
          <p:nvPr/>
        </p:nvSpPr>
        <p:spPr>
          <a:xfrm>
            <a:off x="914400" y="4617720"/>
            <a:ext cx="10241280" cy="9601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Threads in a process typically share memory and process resources, while each thread has its own execution state and stack.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9A140EB-CBCB-F539-FDEB-605209A811F9}"/>
              </a:ext>
            </a:extLst>
          </p:cNvPr>
          <p:cNvSpPr txBox="1"/>
          <p:nvPr/>
        </p:nvSpPr>
        <p:spPr>
          <a:xfrm>
            <a:off x="685800" y="6263640"/>
            <a:ext cx="10789920" cy="22860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B1BED3"/>
                </a:solidFill>
                <a:latin typeface="Aptos"/>
              </a:rPr>
              <a:t>Ask students to justify their choice before discussing the answer.</a:t>
            </a:r>
          </a:p>
        </p:txBody>
      </p:sp>
    </p:spTree>
    <p:extLst>
      <p:ext uri="{BB962C8B-B14F-4D97-AF65-F5344CB8AC3E}">
        <p14:creationId xmlns:p14="http://schemas.microsoft.com/office/powerpoint/2010/main" val="12628989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4BD3E2"/>
                </a:solidFill>
                <a:latin typeface="Aptos"/>
              </a:rPr>
              <a:t>TASK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228600"/>
            <a:ext cx="100584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B1BED3"/>
                </a:solidFill>
                <a:latin typeface="Aptos"/>
              </a:rPr>
              <a:t>06 / 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594360"/>
            <a:ext cx="11064240" cy="22860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86868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2700" b="1">
                <a:solidFill>
                  <a:srgbClr val="F7F9FC"/>
                </a:solidFill>
                <a:latin typeface="Aptos"/>
              </a:rPr>
              <a:t>Q06. In a video editor, “encode this video” is best described as…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95528" y="2176272"/>
            <a:ext cx="402336" cy="402336"/>
          </a:xfrm>
          <a:prstGeom prst="roundRect">
            <a:avLst/>
          </a:prstGeom>
          <a:solidFill>
            <a:srgbClr val="4B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217627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13055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A CPU core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5740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27648" y="2176272"/>
            <a:ext cx="402336" cy="402336"/>
          </a:xfrm>
          <a:prstGeom prst="roundRect">
            <a:avLst/>
          </a:prstGeom>
          <a:solidFill>
            <a:srgbClr val="FFC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27648" y="217627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13055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A task / unit of work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8036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95528" y="2999232"/>
            <a:ext cx="402336" cy="402336"/>
          </a:xfrm>
          <a:prstGeom prst="roundRect">
            <a:avLst/>
          </a:prstGeom>
          <a:solidFill>
            <a:srgbClr val="6FE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8" y="299923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95351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An operating system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88036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327648" y="2999232"/>
            <a:ext cx="402336" cy="402336"/>
          </a:xfrm>
          <a:prstGeom prst="roundRect">
            <a:avLst/>
          </a:prstGeom>
          <a:solidFill>
            <a:srgbClr val="FF8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27648" y="299923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95351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A process address space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B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ED96AF-A7E1-3F9F-6524-A8A9638AE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F80519-CF53-B0A2-63A7-122145A4CFA8}"/>
              </a:ext>
            </a:extLst>
          </p:cNvPr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4BD3E2"/>
                </a:solidFill>
                <a:latin typeface="Aptos"/>
              </a:rPr>
              <a:t>TASK BASICS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D4CF8F-ADC5-FF3E-9AF0-2D90DBEEDEAD}"/>
              </a:ext>
            </a:extLst>
          </p:cNvPr>
          <p:cNvSpPr txBox="1"/>
          <p:nvPr/>
        </p:nvSpPr>
        <p:spPr>
          <a:xfrm>
            <a:off x="10607040" y="228600"/>
            <a:ext cx="100584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B1BED3"/>
                </a:solidFill>
                <a:latin typeface="Aptos"/>
              </a:rPr>
              <a:t>06 / 20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52E1C64-90FF-BA5E-9623-DA55F92347AF}"/>
              </a:ext>
            </a:extLst>
          </p:cNvPr>
          <p:cNvSpPr/>
          <p:nvPr/>
        </p:nvSpPr>
        <p:spPr>
          <a:xfrm>
            <a:off x="548640" y="594360"/>
            <a:ext cx="11064240" cy="22860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75DA5A-AEC3-0ED4-16BB-0714EDB3E486}"/>
              </a:ext>
            </a:extLst>
          </p:cNvPr>
          <p:cNvSpPr txBox="1"/>
          <p:nvPr/>
        </p:nvSpPr>
        <p:spPr>
          <a:xfrm>
            <a:off x="640080" y="868680"/>
            <a:ext cx="10972800" cy="86868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2700" b="1">
                <a:solidFill>
                  <a:srgbClr val="F7F9FC"/>
                </a:solidFill>
                <a:latin typeface="Aptos"/>
              </a:rPr>
              <a:t>Q06. In a video editor, “encode this video” is best described as…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BBD57A9-F603-01BE-17A1-2E934D81550B}"/>
              </a:ext>
            </a:extLst>
          </p:cNvPr>
          <p:cNvSpPr/>
          <p:nvPr/>
        </p:nvSpPr>
        <p:spPr>
          <a:xfrm>
            <a:off x="685800" y="205740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BA4CF6F-3DA0-E0A9-729C-0D63B56CE6AD}"/>
              </a:ext>
            </a:extLst>
          </p:cNvPr>
          <p:cNvSpPr/>
          <p:nvPr/>
        </p:nvSpPr>
        <p:spPr>
          <a:xfrm>
            <a:off x="795528" y="2176272"/>
            <a:ext cx="402336" cy="402336"/>
          </a:xfrm>
          <a:prstGeom prst="roundRect">
            <a:avLst/>
          </a:prstGeom>
          <a:solidFill>
            <a:srgbClr val="4B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0A198E-0378-71CC-01AC-79C12E4692A7}"/>
              </a:ext>
            </a:extLst>
          </p:cNvPr>
          <p:cNvSpPr txBox="1"/>
          <p:nvPr/>
        </p:nvSpPr>
        <p:spPr>
          <a:xfrm>
            <a:off x="795528" y="217627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D693DA-4E4A-A9AA-8E3D-107544B65E54}"/>
              </a:ext>
            </a:extLst>
          </p:cNvPr>
          <p:cNvSpPr txBox="1"/>
          <p:nvPr/>
        </p:nvSpPr>
        <p:spPr>
          <a:xfrm>
            <a:off x="1325880" y="213055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A CPU core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16DEB66-AAE3-E31F-F80F-5570DF0989C6}"/>
              </a:ext>
            </a:extLst>
          </p:cNvPr>
          <p:cNvSpPr/>
          <p:nvPr/>
        </p:nvSpPr>
        <p:spPr>
          <a:xfrm>
            <a:off x="6217920" y="205740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95F3253-3EE6-AD81-A5AF-F82CEE8704A7}"/>
              </a:ext>
            </a:extLst>
          </p:cNvPr>
          <p:cNvSpPr/>
          <p:nvPr/>
        </p:nvSpPr>
        <p:spPr>
          <a:xfrm>
            <a:off x="6327648" y="2176272"/>
            <a:ext cx="402336" cy="402336"/>
          </a:xfrm>
          <a:prstGeom prst="roundRect">
            <a:avLst/>
          </a:prstGeom>
          <a:solidFill>
            <a:srgbClr val="FFC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AE7AD4-892A-09EA-F14B-58F709426BFE}"/>
              </a:ext>
            </a:extLst>
          </p:cNvPr>
          <p:cNvSpPr txBox="1"/>
          <p:nvPr/>
        </p:nvSpPr>
        <p:spPr>
          <a:xfrm>
            <a:off x="6327648" y="217627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BA26DA-936C-41BC-9DDC-C573E33F1F20}"/>
              </a:ext>
            </a:extLst>
          </p:cNvPr>
          <p:cNvSpPr txBox="1"/>
          <p:nvPr/>
        </p:nvSpPr>
        <p:spPr>
          <a:xfrm>
            <a:off x="6858000" y="213055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A task / unit of work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C33304F-0B17-6595-370A-DDA0E2824C46}"/>
              </a:ext>
            </a:extLst>
          </p:cNvPr>
          <p:cNvSpPr/>
          <p:nvPr/>
        </p:nvSpPr>
        <p:spPr>
          <a:xfrm>
            <a:off x="685800" y="288036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D92B1DF-D386-3116-3F7E-B10A6F0129A9}"/>
              </a:ext>
            </a:extLst>
          </p:cNvPr>
          <p:cNvSpPr/>
          <p:nvPr/>
        </p:nvSpPr>
        <p:spPr>
          <a:xfrm>
            <a:off x="795528" y="2999232"/>
            <a:ext cx="402336" cy="402336"/>
          </a:xfrm>
          <a:prstGeom prst="roundRect">
            <a:avLst/>
          </a:prstGeom>
          <a:solidFill>
            <a:srgbClr val="6FE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EF1B65-0957-85A5-D24D-4A26A3C348DE}"/>
              </a:ext>
            </a:extLst>
          </p:cNvPr>
          <p:cNvSpPr txBox="1"/>
          <p:nvPr/>
        </p:nvSpPr>
        <p:spPr>
          <a:xfrm>
            <a:off x="795528" y="299923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825BAE-24F3-A633-86C2-ABEEE86A19AE}"/>
              </a:ext>
            </a:extLst>
          </p:cNvPr>
          <p:cNvSpPr txBox="1"/>
          <p:nvPr/>
        </p:nvSpPr>
        <p:spPr>
          <a:xfrm>
            <a:off x="1325880" y="295351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An operating system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E740289-5BB6-0824-1CEA-32131A15A953}"/>
              </a:ext>
            </a:extLst>
          </p:cNvPr>
          <p:cNvSpPr/>
          <p:nvPr/>
        </p:nvSpPr>
        <p:spPr>
          <a:xfrm>
            <a:off x="6217920" y="288036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2A554C63-F7A7-F10E-DC01-ED18FA4A8879}"/>
              </a:ext>
            </a:extLst>
          </p:cNvPr>
          <p:cNvSpPr/>
          <p:nvPr/>
        </p:nvSpPr>
        <p:spPr>
          <a:xfrm>
            <a:off x="6327648" y="2999232"/>
            <a:ext cx="402336" cy="402336"/>
          </a:xfrm>
          <a:prstGeom prst="roundRect">
            <a:avLst/>
          </a:prstGeom>
          <a:solidFill>
            <a:srgbClr val="FF8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3CD92C2-5729-AD37-1634-A182408189E6}"/>
              </a:ext>
            </a:extLst>
          </p:cNvPr>
          <p:cNvSpPr txBox="1"/>
          <p:nvPr/>
        </p:nvSpPr>
        <p:spPr>
          <a:xfrm>
            <a:off x="6327648" y="299923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5773D3F-728C-1491-5352-DD2D9AB69195}"/>
              </a:ext>
            </a:extLst>
          </p:cNvPr>
          <p:cNvSpPr txBox="1"/>
          <p:nvPr/>
        </p:nvSpPr>
        <p:spPr>
          <a:xfrm>
            <a:off x="6858000" y="295351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A process address space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C79B53FB-C2E3-FE12-09A6-5F88B7AD89A8}"/>
              </a:ext>
            </a:extLst>
          </p:cNvPr>
          <p:cNvSpPr/>
          <p:nvPr/>
        </p:nvSpPr>
        <p:spPr>
          <a:xfrm>
            <a:off x="685800" y="3977639"/>
            <a:ext cx="10835640" cy="1874519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BFE4A47-49F3-559D-4BA1-04B61BD8CA14}"/>
              </a:ext>
            </a:extLst>
          </p:cNvPr>
          <p:cNvSpPr txBox="1"/>
          <p:nvPr/>
        </p:nvSpPr>
        <p:spPr>
          <a:xfrm>
            <a:off x="914400" y="4187952"/>
            <a:ext cx="201168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6FE0A7"/>
                </a:solidFill>
                <a:latin typeface="Aptos"/>
              </a:rPr>
              <a:t>ANSWER  B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7B40E1C-011A-E92C-2ACF-3595C7A5EC53}"/>
              </a:ext>
            </a:extLst>
          </p:cNvPr>
          <p:cNvSpPr txBox="1"/>
          <p:nvPr/>
        </p:nvSpPr>
        <p:spPr>
          <a:xfrm>
            <a:off x="914400" y="4617720"/>
            <a:ext cx="10241280" cy="9601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A task is a unit of work. Depending on the design, it may run on a thread or be split into smaller tasks.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65D4CD9-B4D8-8516-3313-DFD3D04EA932}"/>
              </a:ext>
            </a:extLst>
          </p:cNvPr>
          <p:cNvSpPr txBox="1"/>
          <p:nvPr/>
        </p:nvSpPr>
        <p:spPr>
          <a:xfrm>
            <a:off x="685800" y="6263640"/>
            <a:ext cx="10789920" cy="22860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B1BED3"/>
                </a:solidFill>
                <a:latin typeface="Aptos"/>
              </a:rPr>
              <a:t>Ask students to justify their choice before discussing the answer.</a:t>
            </a:r>
          </a:p>
        </p:txBody>
      </p:sp>
    </p:spTree>
    <p:extLst>
      <p:ext uri="{BB962C8B-B14F-4D97-AF65-F5344CB8AC3E}">
        <p14:creationId xmlns:p14="http://schemas.microsoft.com/office/powerpoint/2010/main" val="30430215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4BD3E2"/>
                </a:solidFill>
                <a:latin typeface="Aptos"/>
              </a:rPr>
              <a:t>TRUE OR FALSE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228600"/>
            <a:ext cx="100584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B1BED3"/>
                </a:solidFill>
                <a:latin typeface="Aptos"/>
              </a:rPr>
              <a:t>07 / 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594360"/>
            <a:ext cx="11064240" cy="22860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86868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2700" b="1">
                <a:solidFill>
                  <a:srgbClr val="F7F9FC"/>
                </a:solidFill>
                <a:latin typeface="Aptos"/>
              </a:rPr>
              <a:t>Q07. A computer with 8 CPU cores automatically makes every program 8× faster.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24028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95528" y="2359152"/>
            <a:ext cx="402336" cy="402336"/>
          </a:xfrm>
          <a:prstGeom prst="roundRect">
            <a:avLst/>
          </a:prstGeom>
          <a:solidFill>
            <a:srgbClr val="4B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235915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31343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True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24028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27648" y="2359152"/>
            <a:ext cx="402336" cy="402336"/>
          </a:xfrm>
          <a:prstGeom prst="roundRect">
            <a:avLst/>
          </a:prstGeom>
          <a:solidFill>
            <a:srgbClr val="FFC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27648" y="235915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31343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False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B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948E11-DEDC-B08E-FCC0-A64BA3847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ED1BE9-90E4-DF5A-E3C4-88634E14C68A}"/>
              </a:ext>
            </a:extLst>
          </p:cNvPr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4BD3E2"/>
                </a:solidFill>
                <a:latin typeface="Aptos"/>
              </a:rPr>
              <a:t>TRUE OR FALSE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BC8E4F-FB7A-A51E-F895-A811C97ECD75}"/>
              </a:ext>
            </a:extLst>
          </p:cNvPr>
          <p:cNvSpPr txBox="1"/>
          <p:nvPr/>
        </p:nvSpPr>
        <p:spPr>
          <a:xfrm>
            <a:off x="10607040" y="228600"/>
            <a:ext cx="100584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B1BED3"/>
                </a:solidFill>
                <a:latin typeface="Aptos"/>
              </a:rPr>
              <a:t>07 / 20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B5E4608-5622-30E1-6546-FA6B101F6FB5}"/>
              </a:ext>
            </a:extLst>
          </p:cNvPr>
          <p:cNvSpPr/>
          <p:nvPr/>
        </p:nvSpPr>
        <p:spPr>
          <a:xfrm>
            <a:off x="548640" y="594360"/>
            <a:ext cx="11064240" cy="22860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BCDE6B-DAF2-BB5D-B616-CC4B9BA79B7B}"/>
              </a:ext>
            </a:extLst>
          </p:cNvPr>
          <p:cNvSpPr txBox="1"/>
          <p:nvPr/>
        </p:nvSpPr>
        <p:spPr>
          <a:xfrm>
            <a:off x="640080" y="868680"/>
            <a:ext cx="10972800" cy="86868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2700" b="1">
                <a:solidFill>
                  <a:srgbClr val="F7F9FC"/>
                </a:solidFill>
                <a:latin typeface="Aptos"/>
              </a:rPr>
              <a:t>Q07. A computer with 8 CPU cores automatically makes every program 8× faster.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1E45B53-10B0-E45E-65BF-F424B0D7D9C0}"/>
              </a:ext>
            </a:extLst>
          </p:cNvPr>
          <p:cNvSpPr/>
          <p:nvPr/>
        </p:nvSpPr>
        <p:spPr>
          <a:xfrm>
            <a:off x="685800" y="224028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CD0A376-4DBC-E9B5-7159-C7749B7189D1}"/>
              </a:ext>
            </a:extLst>
          </p:cNvPr>
          <p:cNvSpPr/>
          <p:nvPr/>
        </p:nvSpPr>
        <p:spPr>
          <a:xfrm>
            <a:off x="795528" y="2359152"/>
            <a:ext cx="402336" cy="402336"/>
          </a:xfrm>
          <a:prstGeom prst="roundRect">
            <a:avLst/>
          </a:prstGeom>
          <a:solidFill>
            <a:srgbClr val="4B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198B01-1307-DD0A-EBFE-2D332FE23804}"/>
              </a:ext>
            </a:extLst>
          </p:cNvPr>
          <p:cNvSpPr txBox="1"/>
          <p:nvPr/>
        </p:nvSpPr>
        <p:spPr>
          <a:xfrm>
            <a:off x="795528" y="235915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7371A1-AE8D-C62E-701D-1A9A749ED85F}"/>
              </a:ext>
            </a:extLst>
          </p:cNvPr>
          <p:cNvSpPr txBox="1"/>
          <p:nvPr/>
        </p:nvSpPr>
        <p:spPr>
          <a:xfrm>
            <a:off x="1325880" y="231343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True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7158363-DAAE-28F6-4D50-21D5AE94B55D}"/>
              </a:ext>
            </a:extLst>
          </p:cNvPr>
          <p:cNvSpPr/>
          <p:nvPr/>
        </p:nvSpPr>
        <p:spPr>
          <a:xfrm>
            <a:off x="6217920" y="224028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A0DA20C-A6AC-E965-0F36-2BDEAF461556}"/>
              </a:ext>
            </a:extLst>
          </p:cNvPr>
          <p:cNvSpPr/>
          <p:nvPr/>
        </p:nvSpPr>
        <p:spPr>
          <a:xfrm>
            <a:off x="6327648" y="2359152"/>
            <a:ext cx="402336" cy="402336"/>
          </a:xfrm>
          <a:prstGeom prst="roundRect">
            <a:avLst/>
          </a:prstGeom>
          <a:solidFill>
            <a:srgbClr val="FFC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30DB85-7B04-16E9-2138-FEAA530E6E9F}"/>
              </a:ext>
            </a:extLst>
          </p:cNvPr>
          <p:cNvSpPr txBox="1"/>
          <p:nvPr/>
        </p:nvSpPr>
        <p:spPr>
          <a:xfrm>
            <a:off x="6327648" y="235915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6D6C36-5699-6A78-7FDF-9FDF271A5655}"/>
              </a:ext>
            </a:extLst>
          </p:cNvPr>
          <p:cNvSpPr txBox="1"/>
          <p:nvPr/>
        </p:nvSpPr>
        <p:spPr>
          <a:xfrm>
            <a:off x="6858000" y="231343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False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3FA7FA2-B6D2-9B3A-4F8C-F2EF1C16F54B}"/>
              </a:ext>
            </a:extLst>
          </p:cNvPr>
          <p:cNvSpPr/>
          <p:nvPr/>
        </p:nvSpPr>
        <p:spPr>
          <a:xfrm>
            <a:off x="685800" y="3977639"/>
            <a:ext cx="10835640" cy="1874519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9833F9-A2E1-7FB7-A92D-752B76923503}"/>
              </a:ext>
            </a:extLst>
          </p:cNvPr>
          <p:cNvSpPr txBox="1"/>
          <p:nvPr/>
        </p:nvSpPr>
        <p:spPr>
          <a:xfrm>
            <a:off x="914400" y="4187952"/>
            <a:ext cx="201168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6FE0A7"/>
                </a:solidFill>
                <a:latin typeface="Aptos"/>
              </a:rPr>
              <a:t>ANSWER  B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F1E9D5-7C60-79FE-4E2E-82ACE0575E8D}"/>
              </a:ext>
            </a:extLst>
          </p:cNvPr>
          <p:cNvSpPr txBox="1"/>
          <p:nvPr/>
        </p:nvSpPr>
        <p:spPr>
          <a:xfrm>
            <a:off x="914400" y="4617720"/>
            <a:ext cx="10241280" cy="9601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False. Speedup depends on parallelizable work, dependencies, overhead, and resource limits.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98F6EA-FEAD-9D25-67A8-9B0CFBD3011E}"/>
              </a:ext>
            </a:extLst>
          </p:cNvPr>
          <p:cNvSpPr txBox="1"/>
          <p:nvPr/>
        </p:nvSpPr>
        <p:spPr>
          <a:xfrm>
            <a:off x="685800" y="6263640"/>
            <a:ext cx="10789920" cy="22860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B1BED3"/>
                </a:solidFill>
                <a:latin typeface="Aptos"/>
              </a:rPr>
              <a:t>Ask students to justify their choice before discussing the answer.</a:t>
            </a:r>
          </a:p>
        </p:txBody>
      </p:sp>
    </p:spTree>
    <p:extLst>
      <p:ext uri="{BB962C8B-B14F-4D97-AF65-F5344CB8AC3E}">
        <p14:creationId xmlns:p14="http://schemas.microsoft.com/office/powerpoint/2010/main" val="34545077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4BD3E2"/>
                </a:solidFill>
                <a:latin typeface="Aptos"/>
              </a:rPr>
              <a:t>REAL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228600"/>
            <a:ext cx="100584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B1BED3"/>
                </a:solidFill>
                <a:latin typeface="Aptos"/>
              </a:rPr>
              <a:t>08 / 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594360"/>
            <a:ext cx="11064240" cy="22860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86868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2700" b="1">
                <a:solidFill>
                  <a:srgbClr val="F7F9FC"/>
                </a:solidFill>
                <a:latin typeface="Aptos"/>
              </a:rPr>
              <a:t>Q08. You must resize 10,000 independent images. Why might parallelism help?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95528" y="2176272"/>
            <a:ext cx="402336" cy="402336"/>
          </a:xfrm>
          <a:prstGeom prst="roundRect">
            <a:avLst/>
          </a:prstGeom>
          <a:solidFill>
            <a:srgbClr val="4B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217627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13055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Every image must wait for the previous 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5740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27648" y="2176272"/>
            <a:ext cx="402336" cy="402336"/>
          </a:xfrm>
          <a:prstGeom prst="roundRect">
            <a:avLst/>
          </a:prstGeom>
          <a:solidFill>
            <a:srgbClr val="FFC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27648" y="217627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13055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Independent images can use different cores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8036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95528" y="2999232"/>
            <a:ext cx="402336" cy="402336"/>
          </a:xfrm>
          <a:prstGeom prst="roundRect">
            <a:avLst/>
          </a:prstGeom>
          <a:solidFill>
            <a:srgbClr val="6FE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8" y="299923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95351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It removes all memory use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88036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327648" y="2999232"/>
            <a:ext cx="402336" cy="402336"/>
          </a:xfrm>
          <a:prstGeom prst="roundRect">
            <a:avLst/>
          </a:prstGeom>
          <a:solidFill>
            <a:srgbClr val="FF8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27648" y="299923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95351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It guarantees zero bugs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B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0B9E75-37B4-B695-E99A-B5E9B4F2C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C02E94-FD6F-0509-CD7C-053100CBA99C}"/>
              </a:ext>
            </a:extLst>
          </p:cNvPr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4BD3E2"/>
                </a:solidFill>
                <a:latin typeface="Aptos"/>
              </a:rPr>
              <a:t>REAL USE CASE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499CC0-C6B1-9229-0C6E-D000AD5BF3E0}"/>
              </a:ext>
            </a:extLst>
          </p:cNvPr>
          <p:cNvSpPr txBox="1"/>
          <p:nvPr/>
        </p:nvSpPr>
        <p:spPr>
          <a:xfrm>
            <a:off x="10607040" y="228600"/>
            <a:ext cx="100584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B1BED3"/>
                </a:solidFill>
                <a:latin typeface="Aptos"/>
              </a:rPr>
              <a:t>08 / 20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547831B-0C2D-698D-1AF2-1DE2B4E6B0B1}"/>
              </a:ext>
            </a:extLst>
          </p:cNvPr>
          <p:cNvSpPr/>
          <p:nvPr/>
        </p:nvSpPr>
        <p:spPr>
          <a:xfrm>
            <a:off x="548640" y="594360"/>
            <a:ext cx="11064240" cy="22860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4668D8-C83E-8F3A-7A2B-2F6DB2324B6E}"/>
              </a:ext>
            </a:extLst>
          </p:cNvPr>
          <p:cNvSpPr txBox="1"/>
          <p:nvPr/>
        </p:nvSpPr>
        <p:spPr>
          <a:xfrm>
            <a:off x="640080" y="868680"/>
            <a:ext cx="10972800" cy="86868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2700" b="1">
                <a:solidFill>
                  <a:srgbClr val="F7F9FC"/>
                </a:solidFill>
                <a:latin typeface="Aptos"/>
              </a:rPr>
              <a:t>Q08. You must resize 10,000 independent images. Why might parallelism help?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49C0D1A-83C8-50CC-4C38-DBBEB77B163F}"/>
              </a:ext>
            </a:extLst>
          </p:cNvPr>
          <p:cNvSpPr/>
          <p:nvPr/>
        </p:nvSpPr>
        <p:spPr>
          <a:xfrm>
            <a:off x="685800" y="205740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4932A4F-993D-0A1B-0B40-63032776B7BC}"/>
              </a:ext>
            </a:extLst>
          </p:cNvPr>
          <p:cNvSpPr/>
          <p:nvPr/>
        </p:nvSpPr>
        <p:spPr>
          <a:xfrm>
            <a:off x="795528" y="2176272"/>
            <a:ext cx="402336" cy="402336"/>
          </a:xfrm>
          <a:prstGeom prst="roundRect">
            <a:avLst/>
          </a:prstGeom>
          <a:solidFill>
            <a:srgbClr val="4B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34BEC3-380B-CD4F-3C6C-1709B984E530}"/>
              </a:ext>
            </a:extLst>
          </p:cNvPr>
          <p:cNvSpPr txBox="1"/>
          <p:nvPr/>
        </p:nvSpPr>
        <p:spPr>
          <a:xfrm>
            <a:off x="795528" y="217627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082FBC-AB3D-5F45-6646-BBF6C5948F60}"/>
              </a:ext>
            </a:extLst>
          </p:cNvPr>
          <p:cNvSpPr txBox="1"/>
          <p:nvPr/>
        </p:nvSpPr>
        <p:spPr>
          <a:xfrm>
            <a:off x="1325880" y="213055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Every image must wait for the previous one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8B4BBBE-7DB0-D2C4-4C0F-D3DD91BC20D1}"/>
              </a:ext>
            </a:extLst>
          </p:cNvPr>
          <p:cNvSpPr/>
          <p:nvPr/>
        </p:nvSpPr>
        <p:spPr>
          <a:xfrm>
            <a:off x="6217920" y="205740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067109D-239F-DA7E-8723-BE159C875944}"/>
              </a:ext>
            </a:extLst>
          </p:cNvPr>
          <p:cNvSpPr/>
          <p:nvPr/>
        </p:nvSpPr>
        <p:spPr>
          <a:xfrm>
            <a:off x="6327648" y="2176272"/>
            <a:ext cx="402336" cy="402336"/>
          </a:xfrm>
          <a:prstGeom prst="roundRect">
            <a:avLst/>
          </a:prstGeom>
          <a:solidFill>
            <a:srgbClr val="FFC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DF4B7B-B288-F19A-2404-F6E7389C3B41}"/>
              </a:ext>
            </a:extLst>
          </p:cNvPr>
          <p:cNvSpPr txBox="1"/>
          <p:nvPr/>
        </p:nvSpPr>
        <p:spPr>
          <a:xfrm>
            <a:off x="6327648" y="217627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5C196F-1D68-40C5-B0AB-ED64718AE9ED}"/>
              </a:ext>
            </a:extLst>
          </p:cNvPr>
          <p:cNvSpPr txBox="1"/>
          <p:nvPr/>
        </p:nvSpPr>
        <p:spPr>
          <a:xfrm>
            <a:off x="6858000" y="213055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Independent images can use different cores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4844D14-D585-8164-3D36-5D51C154ED21}"/>
              </a:ext>
            </a:extLst>
          </p:cNvPr>
          <p:cNvSpPr/>
          <p:nvPr/>
        </p:nvSpPr>
        <p:spPr>
          <a:xfrm>
            <a:off x="685800" y="288036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91E4196-2340-22DC-6C00-96455E97A463}"/>
              </a:ext>
            </a:extLst>
          </p:cNvPr>
          <p:cNvSpPr/>
          <p:nvPr/>
        </p:nvSpPr>
        <p:spPr>
          <a:xfrm>
            <a:off x="795528" y="2999232"/>
            <a:ext cx="402336" cy="402336"/>
          </a:xfrm>
          <a:prstGeom prst="roundRect">
            <a:avLst/>
          </a:prstGeom>
          <a:solidFill>
            <a:srgbClr val="6FE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521F94-F93B-19C6-4715-A2B565243270}"/>
              </a:ext>
            </a:extLst>
          </p:cNvPr>
          <p:cNvSpPr txBox="1"/>
          <p:nvPr/>
        </p:nvSpPr>
        <p:spPr>
          <a:xfrm>
            <a:off x="795528" y="299923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44A45F-F0E1-13C0-1165-F110D6C6C0E5}"/>
              </a:ext>
            </a:extLst>
          </p:cNvPr>
          <p:cNvSpPr txBox="1"/>
          <p:nvPr/>
        </p:nvSpPr>
        <p:spPr>
          <a:xfrm>
            <a:off x="1325880" y="295351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It removes all memory use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8328620-4619-B933-7614-D2344B0C1490}"/>
              </a:ext>
            </a:extLst>
          </p:cNvPr>
          <p:cNvSpPr/>
          <p:nvPr/>
        </p:nvSpPr>
        <p:spPr>
          <a:xfrm>
            <a:off x="6217920" y="288036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1E139AF8-B713-207A-C328-2229FF8D8FC3}"/>
              </a:ext>
            </a:extLst>
          </p:cNvPr>
          <p:cNvSpPr/>
          <p:nvPr/>
        </p:nvSpPr>
        <p:spPr>
          <a:xfrm>
            <a:off x="6327648" y="2999232"/>
            <a:ext cx="402336" cy="402336"/>
          </a:xfrm>
          <a:prstGeom prst="roundRect">
            <a:avLst/>
          </a:prstGeom>
          <a:solidFill>
            <a:srgbClr val="FF8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647076C-2BA9-4A92-7F1E-9B28377CFE74}"/>
              </a:ext>
            </a:extLst>
          </p:cNvPr>
          <p:cNvSpPr txBox="1"/>
          <p:nvPr/>
        </p:nvSpPr>
        <p:spPr>
          <a:xfrm>
            <a:off x="6327648" y="299923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7FC0E81-57F6-09AF-2B45-AF4767D7FDBC}"/>
              </a:ext>
            </a:extLst>
          </p:cNvPr>
          <p:cNvSpPr txBox="1"/>
          <p:nvPr/>
        </p:nvSpPr>
        <p:spPr>
          <a:xfrm>
            <a:off x="6858000" y="295351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It guarantees zero bugs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4B17CAA8-B0E3-C524-47AF-43D5A96DD0D0}"/>
              </a:ext>
            </a:extLst>
          </p:cNvPr>
          <p:cNvSpPr/>
          <p:nvPr/>
        </p:nvSpPr>
        <p:spPr>
          <a:xfrm>
            <a:off x="685800" y="3977639"/>
            <a:ext cx="10835640" cy="1874519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F3EAB03-A98F-B6C8-789B-CD1ADBEB147F}"/>
              </a:ext>
            </a:extLst>
          </p:cNvPr>
          <p:cNvSpPr txBox="1"/>
          <p:nvPr/>
        </p:nvSpPr>
        <p:spPr>
          <a:xfrm>
            <a:off x="914400" y="4187952"/>
            <a:ext cx="201168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6FE0A7"/>
                </a:solidFill>
                <a:latin typeface="Aptos"/>
              </a:rPr>
              <a:t>ANSWER  B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3E1DF2-BF87-B0D2-FC6E-DDC47CAB248E}"/>
              </a:ext>
            </a:extLst>
          </p:cNvPr>
          <p:cNvSpPr txBox="1"/>
          <p:nvPr/>
        </p:nvSpPr>
        <p:spPr>
          <a:xfrm>
            <a:off x="914400" y="4617720"/>
            <a:ext cx="10241280" cy="9601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Independent, CPU-heavy image processing can be split across cores. Overhead and disk/memory limits still matter.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0507F4C-A05B-AC72-47FE-0291276AEC7D}"/>
              </a:ext>
            </a:extLst>
          </p:cNvPr>
          <p:cNvSpPr txBox="1"/>
          <p:nvPr/>
        </p:nvSpPr>
        <p:spPr>
          <a:xfrm>
            <a:off x="685800" y="6263640"/>
            <a:ext cx="10789920" cy="22860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B1BED3"/>
                </a:solidFill>
                <a:latin typeface="Aptos"/>
              </a:rPr>
              <a:t>Ask students to justify their choice before discussing the answer.</a:t>
            </a:r>
          </a:p>
        </p:txBody>
      </p:sp>
    </p:spTree>
    <p:extLst>
      <p:ext uri="{BB962C8B-B14F-4D97-AF65-F5344CB8AC3E}">
        <p14:creationId xmlns:p14="http://schemas.microsoft.com/office/powerpoint/2010/main" val="6985756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4BD3E2"/>
                </a:solidFill>
                <a:latin typeface="Aptos"/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228600"/>
            <a:ext cx="100584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B1BED3"/>
                </a:solidFill>
                <a:latin typeface="Aptos"/>
              </a:rPr>
              <a:t>09 / 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594360"/>
            <a:ext cx="11064240" cy="22860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86868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2700" b="1">
                <a:solidFill>
                  <a:srgbClr val="F7F9FC"/>
                </a:solidFill>
                <a:latin typeface="Aptos"/>
              </a:rPr>
              <a:t>Q09. Task B needs the output of Task A. What is the safest general plan?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95528" y="2176272"/>
            <a:ext cx="402336" cy="402336"/>
          </a:xfrm>
          <a:prstGeom prst="roundRect">
            <a:avLst/>
          </a:prstGeom>
          <a:solidFill>
            <a:srgbClr val="4B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217627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13055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Always run B before 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5740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27648" y="2176272"/>
            <a:ext cx="402336" cy="402336"/>
          </a:xfrm>
          <a:prstGeom prst="roundRect">
            <a:avLst/>
          </a:prstGeom>
          <a:solidFill>
            <a:srgbClr val="FFC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27648" y="217627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13055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Ignore the dependency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8036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95528" y="2999232"/>
            <a:ext cx="402336" cy="402336"/>
          </a:xfrm>
          <a:prstGeom prst="roundRect">
            <a:avLst/>
          </a:prstGeom>
          <a:solidFill>
            <a:srgbClr val="6FE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8" y="299923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95351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Ensure A finishes before B uses its result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88036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327648" y="2999232"/>
            <a:ext cx="402336" cy="402336"/>
          </a:xfrm>
          <a:prstGeom prst="roundRect">
            <a:avLst/>
          </a:prstGeom>
          <a:solidFill>
            <a:srgbClr val="FF8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27648" y="299923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95351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Delete 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B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F6E39F-435F-5C70-DBE9-A882E145D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4C7B0B-4CF7-3E88-8874-13CD013F2D84}"/>
              </a:ext>
            </a:extLst>
          </p:cNvPr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4BD3E2"/>
                </a:solidFill>
                <a:latin typeface="Aptos"/>
              </a:rPr>
              <a:t>DEPENDENCIES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628164-100B-4E58-5DF3-836F096657F5}"/>
              </a:ext>
            </a:extLst>
          </p:cNvPr>
          <p:cNvSpPr txBox="1"/>
          <p:nvPr/>
        </p:nvSpPr>
        <p:spPr>
          <a:xfrm>
            <a:off x="10607040" y="228600"/>
            <a:ext cx="100584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B1BED3"/>
                </a:solidFill>
                <a:latin typeface="Aptos"/>
              </a:rPr>
              <a:t>09 / 20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245751E-356E-73AE-3930-8496D8B3DF43}"/>
              </a:ext>
            </a:extLst>
          </p:cNvPr>
          <p:cNvSpPr/>
          <p:nvPr/>
        </p:nvSpPr>
        <p:spPr>
          <a:xfrm>
            <a:off x="548640" y="594360"/>
            <a:ext cx="11064240" cy="22860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E5A300-4637-696D-7D14-3146033085AA}"/>
              </a:ext>
            </a:extLst>
          </p:cNvPr>
          <p:cNvSpPr txBox="1"/>
          <p:nvPr/>
        </p:nvSpPr>
        <p:spPr>
          <a:xfrm>
            <a:off x="640080" y="868680"/>
            <a:ext cx="10972800" cy="86868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2700" b="1">
                <a:solidFill>
                  <a:srgbClr val="F7F9FC"/>
                </a:solidFill>
                <a:latin typeface="Aptos"/>
              </a:rPr>
              <a:t>Q09. Task B needs the output of Task A. What is the safest general plan?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BC34607-9F24-7764-004C-8AB804CB4FB2}"/>
              </a:ext>
            </a:extLst>
          </p:cNvPr>
          <p:cNvSpPr/>
          <p:nvPr/>
        </p:nvSpPr>
        <p:spPr>
          <a:xfrm>
            <a:off x="685800" y="205740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E5F49A5-1D3C-B232-8C4A-D883F4D6BE9E}"/>
              </a:ext>
            </a:extLst>
          </p:cNvPr>
          <p:cNvSpPr/>
          <p:nvPr/>
        </p:nvSpPr>
        <p:spPr>
          <a:xfrm>
            <a:off x="795528" y="2176272"/>
            <a:ext cx="402336" cy="402336"/>
          </a:xfrm>
          <a:prstGeom prst="roundRect">
            <a:avLst/>
          </a:prstGeom>
          <a:solidFill>
            <a:srgbClr val="4B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55A4DE-D780-BA98-CC55-F15A77274E69}"/>
              </a:ext>
            </a:extLst>
          </p:cNvPr>
          <p:cNvSpPr txBox="1"/>
          <p:nvPr/>
        </p:nvSpPr>
        <p:spPr>
          <a:xfrm>
            <a:off x="795528" y="217627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64C747-6237-5476-C712-56951374881B}"/>
              </a:ext>
            </a:extLst>
          </p:cNvPr>
          <p:cNvSpPr txBox="1"/>
          <p:nvPr/>
        </p:nvSpPr>
        <p:spPr>
          <a:xfrm>
            <a:off x="1325880" y="213055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Always run B before A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EEA0CA1-EB08-B01F-3005-6A12DD3842EE}"/>
              </a:ext>
            </a:extLst>
          </p:cNvPr>
          <p:cNvSpPr/>
          <p:nvPr/>
        </p:nvSpPr>
        <p:spPr>
          <a:xfrm>
            <a:off x="6217920" y="205740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9AF9720-87EA-A3E7-AEEA-A24A403A09FE}"/>
              </a:ext>
            </a:extLst>
          </p:cNvPr>
          <p:cNvSpPr/>
          <p:nvPr/>
        </p:nvSpPr>
        <p:spPr>
          <a:xfrm>
            <a:off x="6327648" y="2176272"/>
            <a:ext cx="402336" cy="402336"/>
          </a:xfrm>
          <a:prstGeom prst="roundRect">
            <a:avLst/>
          </a:prstGeom>
          <a:solidFill>
            <a:srgbClr val="FFC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3B8005-983F-ADED-0CD7-D9482D5A0A29}"/>
              </a:ext>
            </a:extLst>
          </p:cNvPr>
          <p:cNvSpPr txBox="1"/>
          <p:nvPr/>
        </p:nvSpPr>
        <p:spPr>
          <a:xfrm>
            <a:off x="6327648" y="217627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12EB4B-AD80-A74A-BE75-4711ACAEF90F}"/>
              </a:ext>
            </a:extLst>
          </p:cNvPr>
          <p:cNvSpPr txBox="1"/>
          <p:nvPr/>
        </p:nvSpPr>
        <p:spPr>
          <a:xfrm>
            <a:off x="6858000" y="213055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Ignore the dependency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40A7DB-44F5-DC83-F61F-0BD699036E7F}"/>
              </a:ext>
            </a:extLst>
          </p:cNvPr>
          <p:cNvSpPr/>
          <p:nvPr/>
        </p:nvSpPr>
        <p:spPr>
          <a:xfrm>
            <a:off x="685800" y="288036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AD5ECE4-E6DA-4CAD-1470-718ED5D6FC6E}"/>
              </a:ext>
            </a:extLst>
          </p:cNvPr>
          <p:cNvSpPr/>
          <p:nvPr/>
        </p:nvSpPr>
        <p:spPr>
          <a:xfrm>
            <a:off x="795528" y="2999232"/>
            <a:ext cx="402336" cy="402336"/>
          </a:xfrm>
          <a:prstGeom prst="roundRect">
            <a:avLst/>
          </a:prstGeom>
          <a:solidFill>
            <a:srgbClr val="6FE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221601-F6A2-6A68-0441-3D315FF71DE4}"/>
              </a:ext>
            </a:extLst>
          </p:cNvPr>
          <p:cNvSpPr txBox="1"/>
          <p:nvPr/>
        </p:nvSpPr>
        <p:spPr>
          <a:xfrm>
            <a:off x="795528" y="299923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C60577-1FA1-9399-CE30-72DD0C8C4A62}"/>
              </a:ext>
            </a:extLst>
          </p:cNvPr>
          <p:cNvSpPr txBox="1"/>
          <p:nvPr/>
        </p:nvSpPr>
        <p:spPr>
          <a:xfrm>
            <a:off x="1325880" y="295351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Ensure A finishes before B uses its result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F8823AE-EB7A-1007-5CDD-E4FC2A7A2D17}"/>
              </a:ext>
            </a:extLst>
          </p:cNvPr>
          <p:cNvSpPr/>
          <p:nvPr/>
        </p:nvSpPr>
        <p:spPr>
          <a:xfrm>
            <a:off x="6217920" y="288036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3AEFE16-32F9-2A00-0C32-2E5E1E57CB47}"/>
              </a:ext>
            </a:extLst>
          </p:cNvPr>
          <p:cNvSpPr/>
          <p:nvPr/>
        </p:nvSpPr>
        <p:spPr>
          <a:xfrm>
            <a:off x="6327648" y="2999232"/>
            <a:ext cx="402336" cy="402336"/>
          </a:xfrm>
          <a:prstGeom prst="roundRect">
            <a:avLst/>
          </a:prstGeom>
          <a:solidFill>
            <a:srgbClr val="FF8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562BB9-C268-3F79-F0C4-E69A8EEA75D9}"/>
              </a:ext>
            </a:extLst>
          </p:cNvPr>
          <p:cNvSpPr txBox="1"/>
          <p:nvPr/>
        </p:nvSpPr>
        <p:spPr>
          <a:xfrm>
            <a:off x="6327648" y="299923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786723-4C8E-0AFB-0B0A-6A8B76CCF533}"/>
              </a:ext>
            </a:extLst>
          </p:cNvPr>
          <p:cNvSpPr txBox="1"/>
          <p:nvPr/>
        </p:nvSpPr>
        <p:spPr>
          <a:xfrm>
            <a:off x="6858000" y="295351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Delete A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9F9D54B-7184-8046-CA5D-10C29A0B901D}"/>
              </a:ext>
            </a:extLst>
          </p:cNvPr>
          <p:cNvSpPr/>
          <p:nvPr/>
        </p:nvSpPr>
        <p:spPr>
          <a:xfrm>
            <a:off x="685800" y="3977639"/>
            <a:ext cx="10835640" cy="1874519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A6A706A-37A0-227C-1B1F-0D361C5F04DA}"/>
              </a:ext>
            </a:extLst>
          </p:cNvPr>
          <p:cNvSpPr txBox="1"/>
          <p:nvPr/>
        </p:nvSpPr>
        <p:spPr>
          <a:xfrm>
            <a:off x="914400" y="4187952"/>
            <a:ext cx="201168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6FE0A7"/>
                </a:solidFill>
                <a:latin typeface="Aptos"/>
              </a:rPr>
              <a:t>ANSWER  C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196FEE3-0622-F9B1-70E0-93DB431FEDAF}"/>
              </a:ext>
            </a:extLst>
          </p:cNvPr>
          <p:cNvSpPr txBox="1"/>
          <p:nvPr/>
        </p:nvSpPr>
        <p:spPr>
          <a:xfrm>
            <a:off x="914400" y="4617720"/>
            <a:ext cx="10241280" cy="9601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A dependency constrains execution order. B can proceed only when the required result from A is ready.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EDF297D-2548-D60C-2B7C-597DC6DF2060}"/>
              </a:ext>
            </a:extLst>
          </p:cNvPr>
          <p:cNvSpPr txBox="1"/>
          <p:nvPr/>
        </p:nvSpPr>
        <p:spPr>
          <a:xfrm>
            <a:off x="685800" y="6263640"/>
            <a:ext cx="10789920" cy="22860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B1BED3"/>
                </a:solidFill>
                <a:latin typeface="Aptos"/>
              </a:rPr>
              <a:t>Ask students to justify their choice before discussing the answer.</a:t>
            </a:r>
          </a:p>
        </p:txBody>
      </p:sp>
    </p:spTree>
    <p:extLst>
      <p:ext uri="{BB962C8B-B14F-4D97-AF65-F5344CB8AC3E}">
        <p14:creationId xmlns:p14="http://schemas.microsoft.com/office/powerpoint/2010/main" val="38597891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4BD3E2"/>
                </a:solidFill>
                <a:latin typeface="Aptos"/>
              </a:rPr>
              <a:t>SPAWN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228600"/>
            <a:ext cx="100584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B1BED3"/>
                </a:solidFill>
                <a:latin typeface="Aptos"/>
              </a:rPr>
              <a:t>10 / 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594360"/>
            <a:ext cx="11064240" cy="22860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86868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2700" b="1">
                <a:solidFill>
                  <a:srgbClr val="F7F9FC"/>
                </a:solidFill>
                <a:latin typeface="Aptos"/>
              </a:rPr>
              <a:t>Q10. In parallel-algorithm pseudocode, what does `x = spawn task_A()` usually mean?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95528" y="2176272"/>
            <a:ext cx="402336" cy="402336"/>
          </a:xfrm>
          <a:prstGeom prst="roundRect">
            <a:avLst/>
          </a:prstGeom>
          <a:solidFill>
            <a:srgbClr val="4B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217627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13055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Start a child task that may run concurrently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5740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27648" y="2176272"/>
            <a:ext cx="402336" cy="402336"/>
          </a:xfrm>
          <a:prstGeom prst="roundRect">
            <a:avLst/>
          </a:prstGeom>
          <a:solidFill>
            <a:srgbClr val="FFC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27648" y="217627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13055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Shut down the CPU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8036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95528" y="2999232"/>
            <a:ext cx="402336" cy="402336"/>
          </a:xfrm>
          <a:prstGeom prst="roundRect">
            <a:avLst/>
          </a:prstGeom>
          <a:solidFill>
            <a:srgbClr val="6FE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8" y="299923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95351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Create a new laptop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88036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327648" y="2999232"/>
            <a:ext cx="402336" cy="402336"/>
          </a:xfrm>
          <a:prstGeom prst="roundRect">
            <a:avLst/>
          </a:prstGeom>
          <a:solidFill>
            <a:srgbClr val="FF8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27648" y="299923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95351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Wait for every task to finish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B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28799C-67B7-14B1-3805-9794000B4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47C49B-1986-5F57-AFA7-F9AA213259A8}"/>
              </a:ext>
            </a:extLst>
          </p:cNvPr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4BD3E2"/>
                </a:solidFill>
                <a:latin typeface="Aptos"/>
              </a:rPr>
              <a:t>SPAWN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6288A6-EF8A-BD7F-83CE-786F6A734A13}"/>
              </a:ext>
            </a:extLst>
          </p:cNvPr>
          <p:cNvSpPr txBox="1"/>
          <p:nvPr/>
        </p:nvSpPr>
        <p:spPr>
          <a:xfrm>
            <a:off x="10607040" y="228600"/>
            <a:ext cx="100584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B1BED3"/>
                </a:solidFill>
                <a:latin typeface="Aptos"/>
              </a:rPr>
              <a:t>10 / 20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7AD9B9B-08CF-08E9-9CC0-464C1AAA0B89}"/>
              </a:ext>
            </a:extLst>
          </p:cNvPr>
          <p:cNvSpPr/>
          <p:nvPr/>
        </p:nvSpPr>
        <p:spPr>
          <a:xfrm>
            <a:off x="548640" y="594360"/>
            <a:ext cx="11064240" cy="22860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D4BD55-571D-514B-FD0E-5D18CE0505FF}"/>
              </a:ext>
            </a:extLst>
          </p:cNvPr>
          <p:cNvSpPr txBox="1"/>
          <p:nvPr/>
        </p:nvSpPr>
        <p:spPr>
          <a:xfrm>
            <a:off x="640080" y="868680"/>
            <a:ext cx="10972800" cy="86868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2700" b="1">
                <a:solidFill>
                  <a:srgbClr val="F7F9FC"/>
                </a:solidFill>
                <a:latin typeface="Aptos"/>
              </a:rPr>
              <a:t>Q10. In parallel-algorithm pseudocode, what does `x = spawn task_A()` usually mean?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D237579-CEEA-4308-B145-6B70E0D9EBC8}"/>
              </a:ext>
            </a:extLst>
          </p:cNvPr>
          <p:cNvSpPr/>
          <p:nvPr/>
        </p:nvSpPr>
        <p:spPr>
          <a:xfrm>
            <a:off x="685800" y="205740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F3D1024-99AB-D2AB-1E1F-EBDDC902D1C1}"/>
              </a:ext>
            </a:extLst>
          </p:cNvPr>
          <p:cNvSpPr/>
          <p:nvPr/>
        </p:nvSpPr>
        <p:spPr>
          <a:xfrm>
            <a:off x="795528" y="2176272"/>
            <a:ext cx="402336" cy="402336"/>
          </a:xfrm>
          <a:prstGeom prst="roundRect">
            <a:avLst/>
          </a:prstGeom>
          <a:solidFill>
            <a:srgbClr val="4B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578EE9-C6CE-9880-1327-029F0DFBF075}"/>
              </a:ext>
            </a:extLst>
          </p:cNvPr>
          <p:cNvSpPr txBox="1"/>
          <p:nvPr/>
        </p:nvSpPr>
        <p:spPr>
          <a:xfrm>
            <a:off x="795528" y="217627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81BBB6-E1FC-F5B0-C95F-4D318E0193B7}"/>
              </a:ext>
            </a:extLst>
          </p:cNvPr>
          <p:cNvSpPr txBox="1"/>
          <p:nvPr/>
        </p:nvSpPr>
        <p:spPr>
          <a:xfrm>
            <a:off x="1325880" y="213055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Start a child task that may run concurrently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B42969C-43FD-A1EA-554A-FDC19F71D39D}"/>
              </a:ext>
            </a:extLst>
          </p:cNvPr>
          <p:cNvSpPr/>
          <p:nvPr/>
        </p:nvSpPr>
        <p:spPr>
          <a:xfrm>
            <a:off x="6217920" y="205740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479336F-96A1-2A53-EE18-D4B7BE8692EE}"/>
              </a:ext>
            </a:extLst>
          </p:cNvPr>
          <p:cNvSpPr/>
          <p:nvPr/>
        </p:nvSpPr>
        <p:spPr>
          <a:xfrm>
            <a:off x="6327648" y="2176272"/>
            <a:ext cx="402336" cy="402336"/>
          </a:xfrm>
          <a:prstGeom prst="roundRect">
            <a:avLst/>
          </a:prstGeom>
          <a:solidFill>
            <a:srgbClr val="FFC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F9F826-D0AF-A882-CF02-211B4C94F739}"/>
              </a:ext>
            </a:extLst>
          </p:cNvPr>
          <p:cNvSpPr txBox="1"/>
          <p:nvPr/>
        </p:nvSpPr>
        <p:spPr>
          <a:xfrm>
            <a:off x="6327648" y="217627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F90078-3DF8-E51E-FA39-A973F9B11843}"/>
              </a:ext>
            </a:extLst>
          </p:cNvPr>
          <p:cNvSpPr txBox="1"/>
          <p:nvPr/>
        </p:nvSpPr>
        <p:spPr>
          <a:xfrm>
            <a:off x="6858000" y="213055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Shut down the CPU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C905067-0451-3F9C-F298-12CC3BD214C9}"/>
              </a:ext>
            </a:extLst>
          </p:cNvPr>
          <p:cNvSpPr/>
          <p:nvPr/>
        </p:nvSpPr>
        <p:spPr>
          <a:xfrm>
            <a:off x="685800" y="288036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46A55DC-6F84-BA8D-595C-DE9BD5132034}"/>
              </a:ext>
            </a:extLst>
          </p:cNvPr>
          <p:cNvSpPr/>
          <p:nvPr/>
        </p:nvSpPr>
        <p:spPr>
          <a:xfrm>
            <a:off x="795528" y="2999232"/>
            <a:ext cx="402336" cy="402336"/>
          </a:xfrm>
          <a:prstGeom prst="roundRect">
            <a:avLst/>
          </a:prstGeom>
          <a:solidFill>
            <a:srgbClr val="6FE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98F634-F055-5914-9614-D2202A1DD19B}"/>
              </a:ext>
            </a:extLst>
          </p:cNvPr>
          <p:cNvSpPr txBox="1"/>
          <p:nvPr/>
        </p:nvSpPr>
        <p:spPr>
          <a:xfrm>
            <a:off x="795528" y="299923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B81536-60A4-5319-75E4-990AEEA79444}"/>
              </a:ext>
            </a:extLst>
          </p:cNvPr>
          <p:cNvSpPr txBox="1"/>
          <p:nvPr/>
        </p:nvSpPr>
        <p:spPr>
          <a:xfrm>
            <a:off x="1325880" y="295351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Create a new laptop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00147F0B-A641-DC53-C76B-D73063CAF49F}"/>
              </a:ext>
            </a:extLst>
          </p:cNvPr>
          <p:cNvSpPr/>
          <p:nvPr/>
        </p:nvSpPr>
        <p:spPr>
          <a:xfrm>
            <a:off x="6217920" y="288036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43952AD-FCF9-6F8E-BF62-C692514A1D9F}"/>
              </a:ext>
            </a:extLst>
          </p:cNvPr>
          <p:cNvSpPr/>
          <p:nvPr/>
        </p:nvSpPr>
        <p:spPr>
          <a:xfrm>
            <a:off x="6327648" y="2999232"/>
            <a:ext cx="402336" cy="402336"/>
          </a:xfrm>
          <a:prstGeom prst="roundRect">
            <a:avLst/>
          </a:prstGeom>
          <a:solidFill>
            <a:srgbClr val="FF8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C6F3AB0-4B96-94DA-0441-ABCAD48B6483}"/>
              </a:ext>
            </a:extLst>
          </p:cNvPr>
          <p:cNvSpPr txBox="1"/>
          <p:nvPr/>
        </p:nvSpPr>
        <p:spPr>
          <a:xfrm>
            <a:off x="6327648" y="299923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C18D69-3142-8553-4F3E-3CF8B28E918C}"/>
              </a:ext>
            </a:extLst>
          </p:cNvPr>
          <p:cNvSpPr txBox="1"/>
          <p:nvPr/>
        </p:nvSpPr>
        <p:spPr>
          <a:xfrm>
            <a:off x="6858000" y="295351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Wait for every task to finish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08810A15-A180-A886-563B-721614E10F1A}"/>
              </a:ext>
            </a:extLst>
          </p:cNvPr>
          <p:cNvSpPr/>
          <p:nvPr/>
        </p:nvSpPr>
        <p:spPr>
          <a:xfrm>
            <a:off x="685800" y="3977639"/>
            <a:ext cx="10835640" cy="1874519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BD98DF-7905-1540-E117-E5CAEC5F9546}"/>
              </a:ext>
            </a:extLst>
          </p:cNvPr>
          <p:cNvSpPr txBox="1"/>
          <p:nvPr/>
        </p:nvSpPr>
        <p:spPr>
          <a:xfrm>
            <a:off x="914400" y="4187952"/>
            <a:ext cx="201168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6FE0A7"/>
                </a:solidFill>
                <a:latin typeface="Aptos"/>
              </a:rPr>
              <a:t>ANSWER  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66753B3-1E6F-DB60-FD53-8EDB8C232534}"/>
              </a:ext>
            </a:extLst>
          </p:cNvPr>
          <p:cNvSpPr txBox="1"/>
          <p:nvPr/>
        </p:nvSpPr>
        <p:spPr>
          <a:xfrm>
            <a:off x="914400" y="4617720"/>
            <a:ext cx="10241280" cy="9601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Here, `spawn` starts a child computation that may execute concurrently; it is not a Python keyword.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748FE4D-257A-94F2-A65F-BA5339690177}"/>
              </a:ext>
            </a:extLst>
          </p:cNvPr>
          <p:cNvSpPr txBox="1"/>
          <p:nvPr/>
        </p:nvSpPr>
        <p:spPr>
          <a:xfrm>
            <a:off x="685800" y="6263640"/>
            <a:ext cx="10789920" cy="22860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B1BED3"/>
                </a:solidFill>
                <a:latin typeface="Aptos"/>
              </a:rPr>
              <a:t>Ask students to justify their choice before discussing the answer.</a:t>
            </a:r>
          </a:p>
        </p:txBody>
      </p:sp>
    </p:spTree>
    <p:extLst>
      <p:ext uri="{BB962C8B-B14F-4D97-AF65-F5344CB8AC3E}">
        <p14:creationId xmlns:p14="http://schemas.microsoft.com/office/powerpoint/2010/main" val="42803360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4BD3E2"/>
                </a:solidFill>
                <a:latin typeface="Aptos"/>
              </a:rPr>
              <a:t>SYNC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228600"/>
            <a:ext cx="100584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B1BED3"/>
                </a:solidFill>
                <a:latin typeface="Aptos"/>
              </a:rPr>
              <a:t>11 / 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594360"/>
            <a:ext cx="11064240" cy="22860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86868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2700" b="1">
                <a:solidFill>
                  <a:srgbClr val="F7F9FC"/>
                </a:solidFill>
                <a:latin typeface="Aptos"/>
              </a:rPr>
              <a:t>Q11. After spawning tasks A and B, what is the purpose of `sync`?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95528" y="2176272"/>
            <a:ext cx="402336" cy="402336"/>
          </a:xfrm>
          <a:prstGeom prst="roundRect">
            <a:avLst/>
          </a:prstGeom>
          <a:solidFill>
            <a:srgbClr val="4B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217627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13055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Start the operating system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5740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27648" y="2176272"/>
            <a:ext cx="402336" cy="402336"/>
          </a:xfrm>
          <a:prstGeom prst="roundRect">
            <a:avLst/>
          </a:prstGeom>
          <a:solidFill>
            <a:srgbClr val="FFC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27648" y="217627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13055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Wait for relevant spawned tasks to complete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8036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95528" y="2999232"/>
            <a:ext cx="402336" cy="402336"/>
          </a:xfrm>
          <a:prstGeom prst="roundRect">
            <a:avLst/>
          </a:prstGeom>
          <a:solidFill>
            <a:srgbClr val="6FE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8" y="299923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95351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Create another process automatically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88036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327648" y="2999232"/>
            <a:ext cx="402336" cy="402336"/>
          </a:xfrm>
          <a:prstGeom prst="roundRect">
            <a:avLst/>
          </a:prstGeom>
          <a:solidFill>
            <a:srgbClr val="FF8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27648" y="299923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95351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Make tasks independent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B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93988C-A6ED-A5E0-CDDD-51DFC6689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B4208D-1D7D-1BC0-9430-721D613A6D14}"/>
              </a:ext>
            </a:extLst>
          </p:cNvPr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4BD3E2"/>
                </a:solidFill>
                <a:latin typeface="Aptos"/>
              </a:rPr>
              <a:t>SYNC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9267FD-9A7B-4C1A-E13A-4C68E584D977}"/>
              </a:ext>
            </a:extLst>
          </p:cNvPr>
          <p:cNvSpPr txBox="1"/>
          <p:nvPr/>
        </p:nvSpPr>
        <p:spPr>
          <a:xfrm>
            <a:off x="10607040" y="228600"/>
            <a:ext cx="100584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B1BED3"/>
                </a:solidFill>
                <a:latin typeface="Aptos"/>
              </a:rPr>
              <a:t>11 / 20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799CE51-335C-1E4C-CC61-8E198328009D}"/>
              </a:ext>
            </a:extLst>
          </p:cNvPr>
          <p:cNvSpPr/>
          <p:nvPr/>
        </p:nvSpPr>
        <p:spPr>
          <a:xfrm>
            <a:off x="548640" y="594360"/>
            <a:ext cx="11064240" cy="22860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3981E2-D24E-D744-7FD6-CFE0113D539A}"/>
              </a:ext>
            </a:extLst>
          </p:cNvPr>
          <p:cNvSpPr txBox="1"/>
          <p:nvPr/>
        </p:nvSpPr>
        <p:spPr>
          <a:xfrm>
            <a:off x="640080" y="868680"/>
            <a:ext cx="10972800" cy="86868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2700" b="1">
                <a:solidFill>
                  <a:srgbClr val="F7F9FC"/>
                </a:solidFill>
                <a:latin typeface="Aptos"/>
              </a:rPr>
              <a:t>Q11. After spawning tasks A and B, what is the purpose of `sync`?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E371AAE-DC48-7834-8888-81691CA0682D}"/>
              </a:ext>
            </a:extLst>
          </p:cNvPr>
          <p:cNvSpPr/>
          <p:nvPr/>
        </p:nvSpPr>
        <p:spPr>
          <a:xfrm>
            <a:off x="685800" y="205740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23DA28B-8E25-99BC-FB95-26C8F96FE0D2}"/>
              </a:ext>
            </a:extLst>
          </p:cNvPr>
          <p:cNvSpPr/>
          <p:nvPr/>
        </p:nvSpPr>
        <p:spPr>
          <a:xfrm>
            <a:off x="795528" y="2176272"/>
            <a:ext cx="402336" cy="402336"/>
          </a:xfrm>
          <a:prstGeom prst="roundRect">
            <a:avLst/>
          </a:prstGeom>
          <a:solidFill>
            <a:srgbClr val="4B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07D0AF-B44F-B054-C22D-89C104A64D4D}"/>
              </a:ext>
            </a:extLst>
          </p:cNvPr>
          <p:cNvSpPr txBox="1"/>
          <p:nvPr/>
        </p:nvSpPr>
        <p:spPr>
          <a:xfrm>
            <a:off x="795528" y="217627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9CB575-CF9F-0632-E0D1-326A7F01D4DD}"/>
              </a:ext>
            </a:extLst>
          </p:cNvPr>
          <p:cNvSpPr txBox="1"/>
          <p:nvPr/>
        </p:nvSpPr>
        <p:spPr>
          <a:xfrm>
            <a:off x="1325880" y="213055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Start the operating system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8E13607-BA30-D0E3-8752-174F819953C1}"/>
              </a:ext>
            </a:extLst>
          </p:cNvPr>
          <p:cNvSpPr/>
          <p:nvPr/>
        </p:nvSpPr>
        <p:spPr>
          <a:xfrm>
            <a:off x="6217920" y="205740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65CCD1A-95B9-3D99-2846-BB2CD1A222DB}"/>
              </a:ext>
            </a:extLst>
          </p:cNvPr>
          <p:cNvSpPr/>
          <p:nvPr/>
        </p:nvSpPr>
        <p:spPr>
          <a:xfrm>
            <a:off x="6327648" y="2176272"/>
            <a:ext cx="402336" cy="402336"/>
          </a:xfrm>
          <a:prstGeom prst="roundRect">
            <a:avLst/>
          </a:prstGeom>
          <a:solidFill>
            <a:srgbClr val="FFC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ABB1FD-604D-AF3D-7C33-AB16C635EE1C}"/>
              </a:ext>
            </a:extLst>
          </p:cNvPr>
          <p:cNvSpPr txBox="1"/>
          <p:nvPr/>
        </p:nvSpPr>
        <p:spPr>
          <a:xfrm>
            <a:off x="6327648" y="217627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0BDFD8-AD42-6A84-7998-9BB46C316B20}"/>
              </a:ext>
            </a:extLst>
          </p:cNvPr>
          <p:cNvSpPr txBox="1"/>
          <p:nvPr/>
        </p:nvSpPr>
        <p:spPr>
          <a:xfrm>
            <a:off x="6858000" y="213055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Wait for relevant spawned tasks to complete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202E534-E141-4BE5-3D19-AB9D6DBB1A54}"/>
              </a:ext>
            </a:extLst>
          </p:cNvPr>
          <p:cNvSpPr/>
          <p:nvPr/>
        </p:nvSpPr>
        <p:spPr>
          <a:xfrm>
            <a:off x="685800" y="288036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19F482E-0991-BE8B-BC5C-39394D64BBD7}"/>
              </a:ext>
            </a:extLst>
          </p:cNvPr>
          <p:cNvSpPr/>
          <p:nvPr/>
        </p:nvSpPr>
        <p:spPr>
          <a:xfrm>
            <a:off x="795528" y="2999232"/>
            <a:ext cx="402336" cy="402336"/>
          </a:xfrm>
          <a:prstGeom prst="roundRect">
            <a:avLst/>
          </a:prstGeom>
          <a:solidFill>
            <a:srgbClr val="6FE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C4DD2B-B2DE-1867-CC93-CAFF83A597AD}"/>
              </a:ext>
            </a:extLst>
          </p:cNvPr>
          <p:cNvSpPr txBox="1"/>
          <p:nvPr/>
        </p:nvSpPr>
        <p:spPr>
          <a:xfrm>
            <a:off x="795528" y="299923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E0E1BC-9F07-D9E1-74FB-B6264CA4919A}"/>
              </a:ext>
            </a:extLst>
          </p:cNvPr>
          <p:cNvSpPr txBox="1"/>
          <p:nvPr/>
        </p:nvSpPr>
        <p:spPr>
          <a:xfrm>
            <a:off x="1325880" y="295351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Create another process automatically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BB1721B-8F78-B87B-7548-74DCDCBE4473}"/>
              </a:ext>
            </a:extLst>
          </p:cNvPr>
          <p:cNvSpPr/>
          <p:nvPr/>
        </p:nvSpPr>
        <p:spPr>
          <a:xfrm>
            <a:off x="6217920" y="288036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A9C38BC4-5EA4-2D70-7C31-6C79630BB68F}"/>
              </a:ext>
            </a:extLst>
          </p:cNvPr>
          <p:cNvSpPr/>
          <p:nvPr/>
        </p:nvSpPr>
        <p:spPr>
          <a:xfrm>
            <a:off x="6327648" y="2999232"/>
            <a:ext cx="402336" cy="402336"/>
          </a:xfrm>
          <a:prstGeom prst="roundRect">
            <a:avLst/>
          </a:prstGeom>
          <a:solidFill>
            <a:srgbClr val="FF8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D6F329-49B5-8BEF-2C07-B109155DAD7A}"/>
              </a:ext>
            </a:extLst>
          </p:cNvPr>
          <p:cNvSpPr txBox="1"/>
          <p:nvPr/>
        </p:nvSpPr>
        <p:spPr>
          <a:xfrm>
            <a:off x="6327648" y="299923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C21F5F-8017-3141-BE2B-99018D367615}"/>
              </a:ext>
            </a:extLst>
          </p:cNvPr>
          <p:cNvSpPr txBox="1"/>
          <p:nvPr/>
        </p:nvSpPr>
        <p:spPr>
          <a:xfrm>
            <a:off x="6858000" y="295351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Make tasks independent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602E7593-2D6E-A7CD-406E-17A75386ECCE}"/>
              </a:ext>
            </a:extLst>
          </p:cNvPr>
          <p:cNvSpPr/>
          <p:nvPr/>
        </p:nvSpPr>
        <p:spPr>
          <a:xfrm>
            <a:off x="685800" y="3977639"/>
            <a:ext cx="10835640" cy="1874519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2F46328-A251-4ABE-1E8F-01B1506E5106}"/>
              </a:ext>
            </a:extLst>
          </p:cNvPr>
          <p:cNvSpPr txBox="1"/>
          <p:nvPr/>
        </p:nvSpPr>
        <p:spPr>
          <a:xfrm>
            <a:off x="914400" y="4187952"/>
            <a:ext cx="201168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6FE0A7"/>
                </a:solidFill>
                <a:latin typeface="Aptos"/>
              </a:rPr>
              <a:t>ANSWER  B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431FD2F-44FA-D99C-EE04-EED8BADC341A}"/>
              </a:ext>
            </a:extLst>
          </p:cNvPr>
          <p:cNvSpPr txBox="1"/>
          <p:nvPr/>
        </p:nvSpPr>
        <p:spPr>
          <a:xfrm>
            <a:off x="914400" y="4617720"/>
            <a:ext cx="10241280" cy="9601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`sync` is a point where the parent waits for relevant spawned tasks in scope to finish.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8A672F6-5C43-9B06-35A8-D129C9BC81E2}"/>
              </a:ext>
            </a:extLst>
          </p:cNvPr>
          <p:cNvSpPr txBox="1"/>
          <p:nvPr/>
        </p:nvSpPr>
        <p:spPr>
          <a:xfrm>
            <a:off x="685800" y="6263640"/>
            <a:ext cx="10789920" cy="22860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B1BED3"/>
                </a:solidFill>
                <a:latin typeface="Aptos"/>
              </a:rPr>
              <a:t>Ask students to justify their choice before discussing the answer.</a:t>
            </a:r>
          </a:p>
        </p:txBody>
      </p:sp>
    </p:spTree>
    <p:extLst>
      <p:ext uri="{BB962C8B-B14F-4D97-AF65-F5344CB8AC3E}">
        <p14:creationId xmlns:p14="http://schemas.microsoft.com/office/powerpoint/2010/main" val="35468891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4BD3E2"/>
                </a:solidFill>
                <a:latin typeface="Aptos"/>
              </a:rPr>
              <a:t>PREDICT THE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228600"/>
            <a:ext cx="100584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B1BED3"/>
                </a:solidFill>
                <a:latin typeface="Aptos"/>
              </a:rPr>
              <a:t>12 / 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594360"/>
            <a:ext cx="11064240" cy="22860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86868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2700" b="1">
                <a:solidFill>
                  <a:srgbClr val="F7F9FC"/>
                </a:solidFill>
                <a:latin typeface="Aptos"/>
              </a:rPr>
              <a:t>Q12. A program spawns A, then computes B, then reaches `sync`. What is the best interpretation?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95528" y="2176272"/>
            <a:ext cx="402336" cy="402336"/>
          </a:xfrm>
          <a:prstGeom prst="roundRect">
            <a:avLst/>
          </a:prstGeom>
          <a:solidFill>
            <a:srgbClr val="4B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217627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13055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A and B may overlap; sync waits for spawned 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5740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27648" y="2176272"/>
            <a:ext cx="402336" cy="402336"/>
          </a:xfrm>
          <a:prstGeom prst="roundRect">
            <a:avLst/>
          </a:prstGeom>
          <a:solidFill>
            <a:srgbClr val="FFC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27648" y="217627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13055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B always starts after A finishes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8036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95528" y="2999232"/>
            <a:ext cx="402336" cy="402336"/>
          </a:xfrm>
          <a:prstGeom prst="roundRect">
            <a:avLst/>
          </a:prstGeom>
          <a:solidFill>
            <a:srgbClr val="6FE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8" y="299923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95351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sync deletes 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88036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327648" y="2999232"/>
            <a:ext cx="402336" cy="402336"/>
          </a:xfrm>
          <a:prstGeom prst="roundRect">
            <a:avLst/>
          </a:prstGeom>
          <a:solidFill>
            <a:srgbClr val="FF8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27648" y="299923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95351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spawn means OS fork in every language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B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A8A555-A70B-9E2F-0A01-F908947AF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CF6A3C-75A8-2C7F-EF76-4C09A9A30F90}"/>
              </a:ext>
            </a:extLst>
          </p:cNvPr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4BD3E2"/>
                </a:solidFill>
                <a:latin typeface="Aptos"/>
              </a:rPr>
              <a:t>PREDICT THE CODE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6B04B0-8B74-4B80-EF0D-D68A79757C19}"/>
              </a:ext>
            </a:extLst>
          </p:cNvPr>
          <p:cNvSpPr txBox="1"/>
          <p:nvPr/>
        </p:nvSpPr>
        <p:spPr>
          <a:xfrm>
            <a:off x="10607040" y="228600"/>
            <a:ext cx="100584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B1BED3"/>
                </a:solidFill>
                <a:latin typeface="Aptos"/>
              </a:rPr>
              <a:t>12 / 20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47D02D0-88F0-D861-58C7-5CCCA6CB7AFC}"/>
              </a:ext>
            </a:extLst>
          </p:cNvPr>
          <p:cNvSpPr/>
          <p:nvPr/>
        </p:nvSpPr>
        <p:spPr>
          <a:xfrm>
            <a:off x="548640" y="594360"/>
            <a:ext cx="11064240" cy="22860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813F80-93E2-AAB0-C04F-23EB2A7ABB8C}"/>
              </a:ext>
            </a:extLst>
          </p:cNvPr>
          <p:cNvSpPr txBox="1"/>
          <p:nvPr/>
        </p:nvSpPr>
        <p:spPr>
          <a:xfrm>
            <a:off x="640080" y="868680"/>
            <a:ext cx="10972800" cy="86868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2700" b="1">
                <a:solidFill>
                  <a:srgbClr val="F7F9FC"/>
                </a:solidFill>
                <a:latin typeface="Aptos"/>
              </a:rPr>
              <a:t>Q12. A program spawns A, then computes B, then reaches `sync`. What is the best interpretation?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3E26DB5-0407-4F95-511E-94A2BBE8BDA6}"/>
              </a:ext>
            </a:extLst>
          </p:cNvPr>
          <p:cNvSpPr/>
          <p:nvPr/>
        </p:nvSpPr>
        <p:spPr>
          <a:xfrm>
            <a:off x="685800" y="205740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18011C0-4309-7CD3-9C13-EF36EFB1FEF3}"/>
              </a:ext>
            </a:extLst>
          </p:cNvPr>
          <p:cNvSpPr/>
          <p:nvPr/>
        </p:nvSpPr>
        <p:spPr>
          <a:xfrm>
            <a:off x="795528" y="2176272"/>
            <a:ext cx="402336" cy="402336"/>
          </a:xfrm>
          <a:prstGeom prst="roundRect">
            <a:avLst/>
          </a:prstGeom>
          <a:solidFill>
            <a:srgbClr val="4B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587D3C-3B54-751A-4736-260580DADFCD}"/>
              </a:ext>
            </a:extLst>
          </p:cNvPr>
          <p:cNvSpPr txBox="1"/>
          <p:nvPr/>
        </p:nvSpPr>
        <p:spPr>
          <a:xfrm>
            <a:off x="795528" y="217627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5C8408-C71F-24A5-D731-F6EF69F11218}"/>
              </a:ext>
            </a:extLst>
          </p:cNvPr>
          <p:cNvSpPr txBox="1"/>
          <p:nvPr/>
        </p:nvSpPr>
        <p:spPr>
          <a:xfrm>
            <a:off x="1325880" y="213055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A and B may overlap; sync waits for spawned work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4EE0403-640D-3BB5-7341-5BFECE2EDCD3}"/>
              </a:ext>
            </a:extLst>
          </p:cNvPr>
          <p:cNvSpPr/>
          <p:nvPr/>
        </p:nvSpPr>
        <p:spPr>
          <a:xfrm>
            <a:off x="6217920" y="205740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2C75A41-90E8-0A38-192C-CD49F84D434F}"/>
              </a:ext>
            </a:extLst>
          </p:cNvPr>
          <p:cNvSpPr/>
          <p:nvPr/>
        </p:nvSpPr>
        <p:spPr>
          <a:xfrm>
            <a:off x="6327648" y="2176272"/>
            <a:ext cx="402336" cy="402336"/>
          </a:xfrm>
          <a:prstGeom prst="roundRect">
            <a:avLst/>
          </a:prstGeom>
          <a:solidFill>
            <a:srgbClr val="FFC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48A864-D2C8-0629-CCE6-C03FF0FF2EA2}"/>
              </a:ext>
            </a:extLst>
          </p:cNvPr>
          <p:cNvSpPr txBox="1"/>
          <p:nvPr/>
        </p:nvSpPr>
        <p:spPr>
          <a:xfrm>
            <a:off x="6327648" y="217627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A5C354-D41D-9660-5309-C34A2DE8CBFB}"/>
              </a:ext>
            </a:extLst>
          </p:cNvPr>
          <p:cNvSpPr txBox="1"/>
          <p:nvPr/>
        </p:nvSpPr>
        <p:spPr>
          <a:xfrm>
            <a:off x="6858000" y="213055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B always starts after A finishes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5F0EA43-FCF3-AEE2-371C-6CD50CE6DE7C}"/>
              </a:ext>
            </a:extLst>
          </p:cNvPr>
          <p:cNvSpPr/>
          <p:nvPr/>
        </p:nvSpPr>
        <p:spPr>
          <a:xfrm>
            <a:off x="685800" y="288036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DF27717-3CB6-F12F-387D-D76C9D305CD3}"/>
              </a:ext>
            </a:extLst>
          </p:cNvPr>
          <p:cNvSpPr/>
          <p:nvPr/>
        </p:nvSpPr>
        <p:spPr>
          <a:xfrm>
            <a:off x="795528" y="2999232"/>
            <a:ext cx="402336" cy="402336"/>
          </a:xfrm>
          <a:prstGeom prst="roundRect">
            <a:avLst/>
          </a:prstGeom>
          <a:solidFill>
            <a:srgbClr val="6FE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C20444F-F0BE-B069-479C-FF923FE5A4DE}"/>
              </a:ext>
            </a:extLst>
          </p:cNvPr>
          <p:cNvSpPr txBox="1"/>
          <p:nvPr/>
        </p:nvSpPr>
        <p:spPr>
          <a:xfrm>
            <a:off x="795528" y="299923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A0EE88-4074-3028-9618-DA1C2D26E375}"/>
              </a:ext>
            </a:extLst>
          </p:cNvPr>
          <p:cNvSpPr txBox="1"/>
          <p:nvPr/>
        </p:nvSpPr>
        <p:spPr>
          <a:xfrm>
            <a:off x="1325880" y="295351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sync deletes A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254A689-1DDE-E5CA-57CE-D6E333A3BF2A}"/>
              </a:ext>
            </a:extLst>
          </p:cNvPr>
          <p:cNvSpPr/>
          <p:nvPr/>
        </p:nvSpPr>
        <p:spPr>
          <a:xfrm>
            <a:off x="6217920" y="288036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6EDED97F-A9E8-A11C-0128-37619D77E55B}"/>
              </a:ext>
            </a:extLst>
          </p:cNvPr>
          <p:cNvSpPr/>
          <p:nvPr/>
        </p:nvSpPr>
        <p:spPr>
          <a:xfrm>
            <a:off x="6327648" y="2999232"/>
            <a:ext cx="402336" cy="402336"/>
          </a:xfrm>
          <a:prstGeom prst="roundRect">
            <a:avLst/>
          </a:prstGeom>
          <a:solidFill>
            <a:srgbClr val="FF8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705B313-0C39-9250-9DA5-4632E14CE9AE}"/>
              </a:ext>
            </a:extLst>
          </p:cNvPr>
          <p:cNvSpPr txBox="1"/>
          <p:nvPr/>
        </p:nvSpPr>
        <p:spPr>
          <a:xfrm>
            <a:off x="6327648" y="299923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740566C-C089-4114-2325-C2A7BE3424EF}"/>
              </a:ext>
            </a:extLst>
          </p:cNvPr>
          <p:cNvSpPr txBox="1"/>
          <p:nvPr/>
        </p:nvSpPr>
        <p:spPr>
          <a:xfrm>
            <a:off x="6858000" y="295351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spawn means OS fork in every language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49FE026-EC93-29C6-517C-FDCEBB1E2965}"/>
              </a:ext>
            </a:extLst>
          </p:cNvPr>
          <p:cNvSpPr/>
          <p:nvPr/>
        </p:nvSpPr>
        <p:spPr>
          <a:xfrm>
            <a:off x="685800" y="3977639"/>
            <a:ext cx="10835640" cy="1874519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8EAA58-7DEB-7CE0-C7EA-B4C329BB3F33}"/>
              </a:ext>
            </a:extLst>
          </p:cNvPr>
          <p:cNvSpPr txBox="1"/>
          <p:nvPr/>
        </p:nvSpPr>
        <p:spPr>
          <a:xfrm>
            <a:off x="914400" y="4187952"/>
            <a:ext cx="201168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6FE0A7"/>
                </a:solidFill>
                <a:latin typeface="Aptos"/>
              </a:rPr>
              <a:t>ANSWER  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764D663-F0B6-257F-0662-67BC9BCBB4DA}"/>
              </a:ext>
            </a:extLst>
          </p:cNvPr>
          <p:cNvSpPr txBox="1"/>
          <p:nvPr/>
        </p:nvSpPr>
        <p:spPr>
          <a:xfrm>
            <a:off x="914400" y="4617720"/>
            <a:ext cx="10241280" cy="9601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Child task A may run while the parent computes B. At sync, the parent waits for relevant spawned work.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99A7860-8B81-842F-2D08-77C75F739EDD}"/>
              </a:ext>
            </a:extLst>
          </p:cNvPr>
          <p:cNvSpPr txBox="1"/>
          <p:nvPr/>
        </p:nvSpPr>
        <p:spPr>
          <a:xfrm>
            <a:off x="685800" y="6263640"/>
            <a:ext cx="10789920" cy="22860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B1BED3"/>
                </a:solidFill>
                <a:latin typeface="Aptos"/>
              </a:rPr>
              <a:t>Ask students to justify their choice before discussing the answer.</a:t>
            </a:r>
          </a:p>
        </p:txBody>
      </p:sp>
    </p:spTree>
    <p:extLst>
      <p:ext uri="{BB962C8B-B14F-4D97-AF65-F5344CB8AC3E}">
        <p14:creationId xmlns:p14="http://schemas.microsoft.com/office/powerpoint/2010/main" val="17803421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4BD3E2"/>
                </a:solidFill>
                <a:latin typeface="Aptos"/>
              </a:rPr>
              <a:t>OVERHEAD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228600"/>
            <a:ext cx="100584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B1BED3"/>
                </a:solidFill>
                <a:latin typeface="Aptos"/>
              </a:rPr>
              <a:t>13 / 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594360"/>
            <a:ext cx="11064240" cy="22860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86868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2700" b="1">
                <a:solidFill>
                  <a:srgbClr val="F7F9FC"/>
                </a:solidFill>
                <a:latin typeface="Aptos"/>
              </a:rPr>
              <a:t>Q13. A task takes 1 ms, but creating and coordinating a parallel task costs 5 ms. What is likely?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95528" y="2176272"/>
            <a:ext cx="402336" cy="402336"/>
          </a:xfrm>
          <a:prstGeom prst="roundRect">
            <a:avLst/>
          </a:prstGeom>
          <a:solidFill>
            <a:srgbClr val="4B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217627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13055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Parallel is always faster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5740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27648" y="2176272"/>
            <a:ext cx="402336" cy="402336"/>
          </a:xfrm>
          <a:prstGeom prst="roundRect">
            <a:avLst/>
          </a:prstGeom>
          <a:solidFill>
            <a:srgbClr val="FFC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27648" y="217627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13055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Overhead may outweigh the work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8036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95528" y="2999232"/>
            <a:ext cx="402336" cy="402336"/>
          </a:xfrm>
          <a:prstGeom prst="roundRect">
            <a:avLst/>
          </a:prstGeom>
          <a:solidFill>
            <a:srgbClr val="6FE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8" y="299923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95351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The task disappears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88036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327648" y="2999232"/>
            <a:ext cx="402336" cy="402336"/>
          </a:xfrm>
          <a:prstGeom prst="roundRect">
            <a:avLst/>
          </a:prstGeom>
          <a:solidFill>
            <a:srgbClr val="FF8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27648" y="299923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95351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More cores remove all overhead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B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E0A3F2-4AD3-61FA-78ED-ABCBC86E8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D0FA57-ABB7-BAE5-6B76-B849A3F4CAD2}"/>
              </a:ext>
            </a:extLst>
          </p:cNvPr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4BD3E2"/>
                </a:solidFill>
                <a:latin typeface="Aptos"/>
              </a:rPr>
              <a:t>OVERHEAD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BD1136-0E28-22C7-E17B-694D010A64CF}"/>
              </a:ext>
            </a:extLst>
          </p:cNvPr>
          <p:cNvSpPr txBox="1"/>
          <p:nvPr/>
        </p:nvSpPr>
        <p:spPr>
          <a:xfrm>
            <a:off x="10607040" y="228600"/>
            <a:ext cx="100584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B1BED3"/>
                </a:solidFill>
                <a:latin typeface="Aptos"/>
              </a:rPr>
              <a:t>13 / 20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3E3BDBD-7BF6-3384-E5C9-616497C8F9DB}"/>
              </a:ext>
            </a:extLst>
          </p:cNvPr>
          <p:cNvSpPr/>
          <p:nvPr/>
        </p:nvSpPr>
        <p:spPr>
          <a:xfrm>
            <a:off x="548640" y="594360"/>
            <a:ext cx="11064240" cy="22860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275766-7F45-CA55-938B-2848D2DE378F}"/>
              </a:ext>
            </a:extLst>
          </p:cNvPr>
          <p:cNvSpPr txBox="1"/>
          <p:nvPr/>
        </p:nvSpPr>
        <p:spPr>
          <a:xfrm>
            <a:off x="640080" y="868680"/>
            <a:ext cx="10972800" cy="86868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2700" b="1">
                <a:solidFill>
                  <a:srgbClr val="F7F9FC"/>
                </a:solidFill>
                <a:latin typeface="Aptos"/>
              </a:rPr>
              <a:t>Q13. A task takes 1 ms, but creating and coordinating a parallel task costs 5 ms. What is likely?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82C6284-0ED4-3C89-C06D-932BE96CF220}"/>
              </a:ext>
            </a:extLst>
          </p:cNvPr>
          <p:cNvSpPr/>
          <p:nvPr/>
        </p:nvSpPr>
        <p:spPr>
          <a:xfrm>
            <a:off x="685800" y="205740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6A1E415-AB08-BBCD-007C-912C9B0BCD8B}"/>
              </a:ext>
            </a:extLst>
          </p:cNvPr>
          <p:cNvSpPr/>
          <p:nvPr/>
        </p:nvSpPr>
        <p:spPr>
          <a:xfrm>
            <a:off x="795528" y="2176272"/>
            <a:ext cx="402336" cy="402336"/>
          </a:xfrm>
          <a:prstGeom prst="roundRect">
            <a:avLst/>
          </a:prstGeom>
          <a:solidFill>
            <a:srgbClr val="4B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FFABEF-786D-48C2-61D1-FAACCEB156A5}"/>
              </a:ext>
            </a:extLst>
          </p:cNvPr>
          <p:cNvSpPr txBox="1"/>
          <p:nvPr/>
        </p:nvSpPr>
        <p:spPr>
          <a:xfrm>
            <a:off x="795528" y="217627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DBBD4B-E6C1-592D-B68A-423B55F9A53E}"/>
              </a:ext>
            </a:extLst>
          </p:cNvPr>
          <p:cNvSpPr txBox="1"/>
          <p:nvPr/>
        </p:nvSpPr>
        <p:spPr>
          <a:xfrm>
            <a:off x="1325880" y="213055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Parallel is always faster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51E8ACD-BD32-D255-4CC0-C849E864B9CF}"/>
              </a:ext>
            </a:extLst>
          </p:cNvPr>
          <p:cNvSpPr/>
          <p:nvPr/>
        </p:nvSpPr>
        <p:spPr>
          <a:xfrm>
            <a:off x="6217920" y="205740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26F712A-FAE7-26B6-138C-7B5C0EA56B90}"/>
              </a:ext>
            </a:extLst>
          </p:cNvPr>
          <p:cNvSpPr/>
          <p:nvPr/>
        </p:nvSpPr>
        <p:spPr>
          <a:xfrm>
            <a:off x="6327648" y="2176272"/>
            <a:ext cx="402336" cy="402336"/>
          </a:xfrm>
          <a:prstGeom prst="roundRect">
            <a:avLst/>
          </a:prstGeom>
          <a:solidFill>
            <a:srgbClr val="FFC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A41761-DCB9-D427-37B8-CC2289C1DFE2}"/>
              </a:ext>
            </a:extLst>
          </p:cNvPr>
          <p:cNvSpPr txBox="1"/>
          <p:nvPr/>
        </p:nvSpPr>
        <p:spPr>
          <a:xfrm>
            <a:off x="6327648" y="217627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ADC6D8-A7A3-071A-4369-55C186EB957F}"/>
              </a:ext>
            </a:extLst>
          </p:cNvPr>
          <p:cNvSpPr txBox="1"/>
          <p:nvPr/>
        </p:nvSpPr>
        <p:spPr>
          <a:xfrm>
            <a:off x="6858000" y="213055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Overhead may outweigh the work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D8AF89D-3E77-464E-D891-63055E2F6254}"/>
              </a:ext>
            </a:extLst>
          </p:cNvPr>
          <p:cNvSpPr/>
          <p:nvPr/>
        </p:nvSpPr>
        <p:spPr>
          <a:xfrm>
            <a:off x="685800" y="288036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71D255E-74E2-7D3F-E13E-3234046347E7}"/>
              </a:ext>
            </a:extLst>
          </p:cNvPr>
          <p:cNvSpPr/>
          <p:nvPr/>
        </p:nvSpPr>
        <p:spPr>
          <a:xfrm>
            <a:off x="795528" y="2999232"/>
            <a:ext cx="402336" cy="402336"/>
          </a:xfrm>
          <a:prstGeom prst="roundRect">
            <a:avLst/>
          </a:prstGeom>
          <a:solidFill>
            <a:srgbClr val="6FE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CC5968-B178-AAF1-80B3-1FA93AC5115F}"/>
              </a:ext>
            </a:extLst>
          </p:cNvPr>
          <p:cNvSpPr txBox="1"/>
          <p:nvPr/>
        </p:nvSpPr>
        <p:spPr>
          <a:xfrm>
            <a:off x="795528" y="299923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D833C4-3509-1331-FF55-3F59D95F1277}"/>
              </a:ext>
            </a:extLst>
          </p:cNvPr>
          <p:cNvSpPr txBox="1"/>
          <p:nvPr/>
        </p:nvSpPr>
        <p:spPr>
          <a:xfrm>
            <a:off x="1325880" y="295351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The task disappears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781EC9B-AF5F-0AE8-E484-90A735AF46EB}"/>
              </a:ext>
            </a:extLst>
          </p:cNvPr>
          <p:cNvSpPr/>
          <p:nvPr/>
        </p:nvSpPr>
        <p:spPr>
          <a:xfrm>
            <a:off x="6217920" y="288036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5E61D92-7BA2-7699-777D-6C6089127F30}"/>
              </a:ext>
            </a:extLst>
          </p:cNvPr>
          <p:cNvSpPr/>
          <p:nvPr/>
        </p:nvSpPr>
        <p:spPr>
          <a:xfrm>
            <a:off x="6327648" y="2999232"/>
            <a:ext cx="402336" cy="402336"/>
          </a:xfrm>
          <a:prstGeom prst="roundRect">
            <a:avLst/>
          </a:prstGeom>
          <a:solidFill>
            <a:srgbClr val="FF8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9EFA7F-5FE7-8967-67FD-CB32D63C5FCE}"/>
              </a:ext>
            </a:extLst>
          </p:cNvPr>
          <p:cNvSpPr txBox="1"/>
          <p:nvPr/>
        </p:nvSpPr>
        <p:spPr>
          <a:xfrm>
            <a:off x="6327648" y="299923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408C31A-833E-E714-33C8-0B1344370DE1}"/>
              </a:ext>
            </a:extLst>
          </p:cNvPr>
          <p:cNvSpPr txBox="1"/>
          <p:nvPr/>
        </p:nvSpPr>
        <p:spPr>
          <a:xfrm>
            <a:off x="6858000" y="295351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More cores remove all overhead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A4B4577B-7670-71B4-6B20-5D9F144EBACA}"/>
              </a:ext>
            </a:extLst>
          </p:cNvPr>
          <p:cNvSpPr/>
          <p:nvPr/>
        </p:nvSpPr>
        <p:spPr>
          <a:xfrm>
            <a:off x="685800" y="3977639"/>
            <a:ext cx="10835640" cy="1874519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7472A9-1877-3AFE-1A0C-D62B4B2D7DD1}"/>
              </a:ext>
            </a:extLst>
          </p:cNvPr>
          <p:cNvSpPr txBox="1"/>
          <p:nvPr/>
        </p:nvSpPr>
        <p:spPr>
          <a:xfrm>
            <a:off x="914400" y="4187952"/>
            <a:ext cx="201168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6FE0A7"/>
                </a:solidFill>
                <a:latin typeface="Aptos"/>
              </a:rPr>
              <a:t>ANSWER  B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26B9F2F-6846-E08A-9BE4-5B1D00ADF4A1}"/>
              </a:ext>
            </a:extLst>
          </p:cNvPr>
          <p:cNvSpPr txBox="1"/>
          <p:nvPr/>
        </p:nvSpPr>
        <p:spPr>
          <a:xfrm>
            <a:off x="914400" y="4617720"/>
            <a:ext cx="10241280" cy="9601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For very small tasks, scheduling and coordination overhead can exceed the time saved.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FD18B71-BC7E-899C-A771-CBD818AD85E9}"/>
              </a:ext>
            </a:extLst>
          </p:cNvPr>
          <p:cNvSpPr txBox="1"/>
          <p:nvPr/>
        </p:nvSpPr>
        <p:spPr>
          <a:xfrm>
            <a:off x="685800" y="6263640"/>
            <a:ext cx="10789920" cy="22860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B1BED3"/>
                </a:solidFill>
                <a:latin typeface="Aptos"/>
              </a:rPr>
              <a:t>Ask students to justify their choice before discussing the answer.</a:t>
            </a:r>
          </a:p>
        </p:txBody>
      </p:sp>
    </p:spTree>
    <p:extLst>
      <p:ext uri="{BB962C8B-B14F-4D97-AF65-F5344CB8AC3E}">
        <p14:creationId xmlns:p14="http://schemas.microsoft.com/office/powerpoint/2010/main" val="38658962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4BD3E2"/>
                </a:solidFill>
                <a:latin typeface="Aptos"/>
              </a:rPr>
              <a:t>RACE CONDITION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228600"/>
            <a:ext cx="100584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B1BED3"/>
                </a:solidFill>
                <a:latin typeface="Aptos"/>
              </a:rPr>
              <a:t>14 / 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594360"/>
            <a:ext cx="11064240" cy="22860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86868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2700" b="1">
                <a:solidFill>
                  <a:srgbClr val="F7F9FC"/>
                </a:solidFill>
                <a:latin typeface="Aptos"/>
              </a:rPr>
              <a:t>Q14. Two threads increment the same shared counter without coordination. What can happen?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95528" y="2176272"/>
            <a:ext cx="402336" cy="402336"/>
          </a:xfrm>
          <a:prstGeom prst="roundRect">
            <a:avLst/>
          </a:prstGeom>
          <a:solidFill>
            <a:srgbClr val="4B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217627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13055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The result may be incorrect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5740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27648" y="2176272"/>
            <a:ext cx="402336" cy="402336"/>
          </a:xfrm>
          <a:prstGeom prst="roundRect">
            <a:avLst/>
          </a:prstGeom>
          <a:solidFill>
            <a:srgbClr val="FFC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27648" y="217627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13055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The counter is always doubled correctly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8036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95528" y="2999232"/>
            <a:ext cx="402336" cy="402336"/>
          </a:xfrm>
          <a:prstGeom prst="roundRect">
            <a:avLst/>
          </a:prstGeom>
          <a:solidFill>
            <a:srgbClr val="6FE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8" y="299923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95351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The OS creates two counters automatically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88036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327648" y="2999232"/>
            <a:ext cx="402336" cy="402336"/>
          </a:xfrm>
          <a:prstGeom prst="roundRect">
            <a:avLst/>
          </a:prstGeom>
          <a:solidFill>
            <a:srgbClr val="FF8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27648" y="299923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95351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The program becomes sequential by definition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B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5AC9C8-B26C-2576-35E9-BA3F2EBFA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7AD6D6-7E74-4EA3-4A2A-9A961F4861C7}"/>
              </a:ext>
            </a:extLst>
          </p:cNvPr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4BD3E2"/>
                </a:solidFill>
                <a:latin typeface="Aptos"/>
              </a:rPr>
              <a:t>RACE CONDITION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C36813-29FE-BE02-1E94-14ACA306D237}"/>
              </a:ext>
            </a:extLst>
          </p:cNvPr>
          <p:cNvSpPr txBox="1"/>
          <p:nvPr/>
        </p:nvSpPr>
        <p:spPr>
          <a:xfrm>
            <a:off x="10607040" y="228600"/>
            <a:ext cx="100584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B1BED3"/>
                </a:solidFill>
                <a:latin typeface="Aptos"/>
              </a:rPr>
              <a:t>14 / 20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8E3CD45-CC58-324C-C784-58A3A0217D0E}"/>
              </a:ext>
            </a:extLst>
          </p:cNvPr>
          <p:cNvSpPr/>
          <p:nvPr/>
        </p:nvSpPr>
        <p:spPr>
          <a:xfrm>
            <a:off x="548640" y="594360"/>
            <a:ext cx="11064240" cy="22860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AC0A7C-3445-B850-CD7D-DE327B890C55}"/>
              </a:ext>
            </a:extLst>
          </p:cNvPr>
          <p:cNvSpPr txBox="1"/>
          <p:nvPr/>
        </p:nvSpPr>
        <p:spPr>
          <a:xfrm>
            <a:off x="640080" y="868680"/>
            <a:ext cx="10972800" cy="86868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2700" b="1">
                <a:solidFill>
                  <a:srgbClr val="F7F9FC"/>
                </a:solidFill>
                <a:latin typeface="Aptos"/>
              </a:rPr>
              <a:t>Q14. Two threads increment the same shared counter without coordination. What can happen?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FDCDD36-9725-E462-AF83-2B8F5BC1683B}"/>
              </a:ext>
            </a:extLst>
          </p:cNvPr>
          <p:cNvSpPr/>
          <p:nvPr/>
        </p:nvSpPr>
        <p:spPr>
          <a:xfrm>
            <a:off x="685800" y="205740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FC93B4F-F949-8411-BD88-02E90F68E8CC}"/>
              </a:ext>
            </a:extLst>
          </p:cNvPr>
          <p:cNvSpPr/>
          <p:nvPr/>
        </p:nvSpPr>
        <p:spPr>
          <a:xfrm>
            <a:off x="795528" y="2176272"/>
            <a:ext cx="402336" cy="402336"/>
          </a:xfrm>
          <a:prstGeom prst="roundRect">
            <a:avLst/>
          </a:prstGeom>
          <a:solidFill>
            <a:srgbClr val="4B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38DC0B-6C58-346A-78B1-DC8E0B0FB13E}"/>
              </a:ext>
            </a:extLst>
          </p:cNvPr>
          <p:cNvSpPr txBox="1"/>
          <p:nvPr/>
        </p:nvSpPr>
        <p:spPr>
          <a:xfrm>
            <a:off x="795528" y="217627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75F173-72A4-B34C-4A7B-E91AA1AB5602}"/>
              </a:ext>
            </a:extLst>
          </p:cNvPr>
          <p:cNvSpPr txBox="1"/>
          <p:nvPr/>
        </p:nvSpPr>
        <p:spPr>
          <a:xfrm>
            <a:off x="1325880" y="213055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The result may be incorrect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E989103-005A-C317-6FCA-F6029197C4BB}"/>
              </a:ext>
            </a:extLst>
          </p:cNvPr>
          <p:cNvSpPr/>
          <p:nvPr/>
        </p:nvSpPr>
        <p:spPr>
          <a:xfrm>
            <a:off x="6217920" y="205740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8C719C3-BA1A-0ECA-ED1A-32785482E7AE}"/>
              </a:ext>
            </a:extLst>
          </p:cNvPr>
          <p:cNvSpPr/>
          <p:nvPr/>
        </p:nvSpPr>
        <p:spPr>
          <a:xfrm>
            <a:off x="6327648" y="2176272"/>
            <a:ext cx="402336" cy="402336"/>
          </a:xfrm>
          <a:prstGeom prst="roundRect">
            <a:avLst/>
          </a:prstGeom>
          <a:solidFill>
            <a:srgbClr val="FFC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2661F0-7832-212A-3DE4-E780FCD89797}"/>
              </a:ext>
            </a:extLst>
          </p:cNvPr>
          <p:cNvSpPr txBox="1"/>
          <p:nvPr/>
        </p:nvSpPr>
        <p:spPr>
          <a:xfrm>
            <a:off x="6327648" y="217627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B78ED1-25E2-B114-BCFA-71489D48D28F}"/>
              </a:ext>
            </a:extLst>
          </p:cNvPr>
          <p:cNvSpPr txBox="1"/>
          <p:nvPr/>
        </p:nvSpPr>
        <p:spPr>
          <a:xfrm>
            <a:off x="6858000" y="213055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The counter is always doubled correctly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075C802-BC7C-94C2-BFDE-21B8DC1621FE}"/>
              </a:ext>
            </a:extLst>
          </p:cNvPr>
          <p:cNvSpPr/>
          <p:nvPr/>
        </p:nvSpPr>
        <p:spPr>
          <a:xfrm>
            <a:off x="685800" y="288036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EBA5E51-D963-BB51-3224-773C08B53816}"/>
              </a:ext>
            </a:extLst>
          </p:cNvPr>
          <p:cNvSpPr/>
          <p:nvPr/>
        </p:nvSpPr>
        <p:spPr>
          <a:xfrm>
            <a:off x="795528" y="2999232"/>
            <a:ext cx="402336" cy="402336"/>
          </a:xfrm>
          <a:prstGeom prst="roundRect">
            <a:avLst/>
          </a:prstGeom>
          <a:solidFill>
            <a:srgbClr val="6FE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7E6308-CCA8-34BA-E0B1-0AEF53127A83}"/>
              </a:ext>
            </a:extLst>
          </p:cNvPr>
          <p:cNvSpPr txBox="1"/>
          <p:nvPr/>
        </p:nvSpPr>
        <p:spPr>
          <a:xfrm>
            <a:off x="795528" y="299923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95B9B9-271C-F6B4-3675-87DBDF622A52}"/>
              </a:ext>
            </a:extLst>
          </p:cNvPr>
          <p:cNvSpPr txBox="1"/>
          <p:nvPr/>
        </p:nvSpPr>
        <p:spPr>
          <a:xfrm>
            <a:off x="1325880" y="295351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The OS creates two counters automatically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3E1FA68-B1BF-6761-FF15-EB27E8E1FF18}"/>
              </a:ext>
            </a:extLst>
          </p:cNvPr>
          <p:cNvSpPr/>
          <p:nvPr/>
        </p:nvSpPr>
        <p:spPr>
          <a:xfrm>
            <a:off x="6217920" y="288036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DA605DF-C23F-284B-5349-DDD4F9A747AA}"/>
              </a:ext>
            </a:extLst>
          </p:cNvPr>
          <p:cNvSpPr/>
          <p:nvPr/>
        </p:nvSpPr>
        <p:spPr>
          <a:xfrm>
            <a:off x="6327648" y="2999232"/>
            <a:ext cx="402336" cy="402336"/>
          </a:xfrm>
          <a:prstGeom prst="roundRect">
            <a:avLst/>
          </a:prstGeom>
          <a:solidFill>
            <a:srgbClr val="FF8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351461-62C2-A969-C9E9-FE30BD94373E}"/>
              </a:ext>
            </a:extLst>
          </p:cNvPr>
          <p:cNvSpPr txBox="1"/>
          <p:nvPr/>
        </p:nvSpPr>
        <p:spPr>
          <a:xfrm>
            <a:off x="6327648" y="299923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499D84A-E373-AC67-6A8A-020F93395FA2}"/>
              </a:ext>
            </a:extLst>
          </p:cNvPr>
          <p:cNvSpPr txBox="1"/>
          <p:nvPr/>
        </p:nvSpPr>
        <p:spPr>
          <a:xfrm>
            <a:off x="6858000" y="295351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The program becomes sequential by definition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44EFB302-0C6B-EFA2-D25B-335CC0518B7A}"/>
              </a:ext>
            </a:extLst>
          </p:cNvPr>
          <p:cNvSpPr/>
          <p:nvPr/>
        </p:nvSpPr>
        <p:spPr>
          <a:xfrm>
            <a:off x="685800" y="3977639"/>
            <a:ext cx="10835640" cy="1874519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7FCCC83-B805-3470-559B-093C27FC16C9}"/>
              </a:ext>
            </a:extLst>
          </p:cNvPr>
          <p:cNvSpPr txBox="1"/>
          <p:nvPr/>
        </p:nvSpPr>
        <p:spPr>
          <a:xfrm>
            <a:off x="914400" y="4187952"/>
            <a:ext cx="201168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6FE0A7"/>
                </a:solidFill>
                <a:latin typeface="Aptos"/>
              </a:rPr>
              <a:t>ANSWER  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F8D78A2-4876-1E39-AD98-E38613963344}"/>
              </a:ext>
            </a:extLst>
          </p:cNvPr>
          <p:cNvSpPr txBox="1"/>
          <p:nvPr/>
        </p:nvSpPr>
        <p:spPr>
          <a:xfrm>
            <a:off x="914400" y="4617720"/>
            <a:ext cx="10241280" cy="9601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A race condition can occur when operations interleave unpredictably. Use appropriate synchronization or a safe counting strategy.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ED3B80B-8245-37C2-F5BE-6C39AACBCBA1}"/>
              </a:ext>
            </a:extLst>
          </p:cNvPr>
          <p:cNvSpPr txBox="1"/>
          <p:nvPr/>
        </p:nvSpPr>
        <p:spPr>
          <a:xfrm>
            <a:off x="685800" y="6263640"/>
            <a:ext cx="10789920" cy="22860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B1BED3"/>
                </a:solidFill>
                <a:latin typeface="Aptos"/>
              </a:rPr>
              <a:t>Ask students to justify their choice before discussing the answer.</a:t>
            </a:r>
          </a:p>
        </p:txBody>
      </p:sp>
    </p:spTree>
    <p:extLst>
      <p:ext uri="{BB962C8B-B14F-4D97-AF65-F5344CB8AC3E}">
        <p14:creationId xmlns:p14="http://schemas.microsoft.com/office/powerpoint/2010/main" val="14735982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4BD3E2"/>
                </a:solidFill>
                <a:latin typeface="Aptos"/>
              </a:rPr>
              <a:t>WEB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228600"/>
            <a:ext cx="100584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B1BED3"/>
                </a:solidFill>
                <a:latin typeface="Aptos"/>
              </a:rPr>
              <a:t>15 / 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594360"/>
            <a:ext cx="11064240" cy="22860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86868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2700" b="1">
                <a:solidFill>
                  <a:srgbClr val="F7F9FC"/>
                </a:solidFill>
                <a:latin typeface="Aptos"/>
              </a:rPr>
              <a:t>Q15. A service handles many requests waiting on network responses. Which benefit is often important?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95528" y="2176272"/>
            <a:ext cx="402336" cy="402336"/>
          </a:xfrm>
          <a:prstGeom prst="roundRect">
            <a:avLst/>
          </a:prstGeom>
          <a:solidFill>
            <a:srgbClr val="4B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217627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13055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Overlapping I/O waits with other 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5740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27648" y="2176272"/>
            <a:ext cx="402336" cy="402336"/>
          </a:xfrm>
          <a:prstGeom prst="roundRect">
            <a:avLst/>
          </a:prstGeom>
          <a:solidFill>
            <a:srgbClr val="FFC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27648" y="217627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13055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Using every core for every request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8036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95528" y="2999232"/>
            <a:ext cx="402336" cy="402336"/>
          </a:xfrm>
          <a:prstGeom prst="roundRect">
            <a:avLst/>
          </a:prstGeom>
          <a:solidFill>
            <a:srgbClr val="6FE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8" y="299923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95351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Removing all scheduling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88036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327648" y="2999232"/>
            <a:ext cx="402336" cy="402336"/>
          </a:xfrm>
          <a:prstGeom prst="roundRect">
            <a:avLst/>
          </a:prstGeom>
          <a:solidFill>
            <a:srgbClr val="FF8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27648" y="299923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95351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Making every request CPU-bound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B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8F027C-D1C5-A710-6BEF-6CF34DF41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BD2B49-9122-B87C-1C01-C43C09498D89}"/>
              </a:ext>
            </a:extLst>
          </p:cNvPr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4BD3E2"/>
                </a:solidFill>
                <a:latin typeface="Aptos"/>
              </a:rPr>
              <a:t>WEB SERVICE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C5CCDB-2AE5-4EE1-9E98-33769B89DA21}"/>
              </a:ext>
            </a:extLst>
          </p:cNvPr>
          <p:cNvSpPr txBox="1"/>
          <p:nvPr/>
        </p:nvSpPr>
        <p:spPr>
          <a:xfrm>
            <a:off x="10607040" y="228600"/>
            <a:ext cx="100584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B1BED3"/>
                </a:solidFill>
                <a:latin typeface="Aptos"/>
              </a:rPr>
              <a:t>15 / 20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B2B05D4-1690-5271-A8CC-A319FE1F734D}"/>
              </a:ext>
            </a:extLst>
          </p:cNvPr>
          <p:cNvSpPr/>
          <p:nvPr/>
        </p:nvSpPr>
        <p:spPr>
          <a:xfrm>
            <a:off x="548640" y="594360"/>
            <a:ext cx="11064240" cy="22860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3E0416-C963-53DB-581C-7407B751DCAE}"/>
              </a:ext>
            </a:extLst>
          </p:cNvPr>
          <p:cNvSpPr txBox="1"/>
          <p:nvPr/>
        </p:nvSpPr>
        <p:spPr>
          <a:xfrm>
            <a:off x="640080" y="868680"/>
            <a:ext cx="10972800" cy="86868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2700" b="1">
                <a:solidFill>
                  <a:srgbClr val="F7F9FC"/>
                </a:solidFill>
                <a:latin typeface="Aptos"/>
              </a:rPr>
              <a:t>Q15. A service handles many requests waiting on network responses. Which benefit is often important?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ABDFC33-FCD2-2C3B-3183-4A666C5C5DB3}"/>
              </a:ext>
            </a:extLst>
          </p:cNvPr>
          <p:cNvSpPr/>
          <p:nvPr/>
        </p:nvSpPr>
        <p:spPr>
          <a:xfrm>
            <a:off x="685800" y="205740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4C85B40-A8C9-E5FD-4D49-EA4CF860A307}"/>
              </a:ext>
            </a:extLst>
          </p:cNvPr>
          <p:cNvSpPr/>
          <p:nvPr/>
        </p:nvSpPr>
        <p:spPr>
          <a:xfrm>
            <a:off x="795528" y="2176272"/>
            <a:ext cx="402336" cy="402336"/>
          </a:xfrm>
          <a:prstGeom prst="roundRect">
            <a:avLst/>
          </a:prstGeom>
          <a:solidFill>
            <a:srgbClr val="4B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95F0F6-55D6-71C7-A586-265F083655EA}"/>
              </a:ext>
            </a:extLst>
          </p:cNvPr>
          <p:cNvSpPr txBox="1"/>
          <p:nvPr/>
        </p:nvSpPr>
        <p:spPr>
          <a:xfrm>
            <a:off x="795528" y="217627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F7C01D-F663-81FC-90AE-B5AF1B7A44FC}"/>
              </a:ext>
            </a:extLst>
          </p:cNvPr>
          <p:cNvSpPr txBox="1"/>
          <p:nvPr/>
        </p:nvSpPr>
        <p:spPr>
          <a:xfrm>
            <a:off x="1325880" y="213055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Overlapping I/O waits with other work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F11836F-22AB-C457-48C3-7D0F429F2994}"/>
              </a:ext>
            </a:extLst>
          </p:cNvPr>
          <p:cNvSpPr/>
          <p:nvPr/>
        </p:nvSpPr>
        <p:spPr>
          <a:xfrm>
            <a:off x="6217920" y="205740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1828543-B45F-4B8C-7028-690985BF0671}"/>
              </a:ext>
            </a:extLst>
          </p:cNvPr>
          <p:cNvSpPr/>
          <p:nvPr/>
        </p:nvSpPr>
        <p:spPr>
          <a:xfrm>
            <a:off x="6327648" y="2176272"/>
            <a:ext cx="402336" cy="402336"/>
          </a:xfrm>
          <a:prstGeom prst="roundRect">
            <a:avLst/>
          </a:prstGeom>
          <a:solidFill>
            <a:srgbClr val="FFC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1ACC6A-F891-F842-1918-7A695B7B3D81}"/>
              </a:ext>
            </a:extLst>
          </p:cNvPr>
          <p:cNvSpPr txBox="1"/>
          <p:nvPr/>
        </p:nvSpPr>
        <p:spPr>
          <a:xfrm>
            <a:off x="6327648" y="217627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0395D7-47A0-7C2E-1290-607A21AB0B1C}"/>
              </a:ext>
            </a:extLst>
          </p:cNvPr>
          <p:cNvSpPr txBox="1"/>
          <p:nvPr/>
        </p:nvSpPr>
        <p:spPr>
          <a:xfrm>
            <a:off x="6858000" y="213055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Using every core for every request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ED85160-7413-C1E2-EBF8-7E8BF593C7BF}"/>
              </a:ext>
            </a:extLst>
          </p:cNvPr>
          <p:cNvSpPr/>
          <p:nvPr/>
        </p:nvSpPr>
        <p:spPr>
          <a:xfrm>
            <a:off x="685800" y="288036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3CC93E6-5EF6-3020-2764-4BED61AF82FD}"/>
              </a:ext>
            </a:extLst>
          </p:cNvPr>
          <p:cNvSpPr/>
          <p:nvPr/>
        </p:nvSpPr>
        <p:spPr>
          <a:xfrm>
            <a:off x="795528" y="2999232"/>
            <a:ext cx="402336" cy="402336"/>
          </a:xfrm>
          <a:prstGeom prst="roundRect">
            <a:avLst/>
          </a:prstGeom>
          <a:solidFill>
            <a:srgbClr val="6FE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874C5A-5B68-1300-2596-7423A2165C07}"/>
              </a:ext>
            </a:extLst>
          </p:cNvPr>
          <p:cNvSpPr txBox="1"/>
          <p:nvPr/>
        </p:nvSpPr>
        <p:spPr>
          <a:xfrm>
            <a:off x="795528" y="299923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DAB9F0-21AC-2CBC-8A5D-1C8D7EC782BC}"/>
              </a:ext>
            </a:extLst>
          </p:cNvPr>
          <p:cNvSpPr txBox="1"/>
          <p:nvPr/>
        </p:nvSpPr>
        <p:spPr>
          <a:xfrm>
            <a:off x="1325880" y="295351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Removing all scheduling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E30E408-A2BD-48C0-695C-989F6C0612C6}"/>
              </a:ext>
            </a:extLst>
          </p:cNvPr>
          <p:cNvSpPr/>
          <p:nvPr/>
        </p:nvSpPr>
        <p:spPr>
          <a:xfrm>
            <a:off x="6217920" y="288036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AAE5EDC5-44DD-D641-A17F-0800C12FAC35}"/>
              </a:ext>
            </a:extLst>
          </p:cNvPr>
          <p:cNvSpPr/>
          <p:nvPr/>
        </p:nvSpPr>
        <p:spPr>
          <a:xfrm>
            <a:off x="6327648" y="2999232"/>
            <a:ext cx="402336" cy="402336"/>
          </a:xfrm>
          <a:prstGeom prst="roundRect">
            <a:avLst/>
          </a:prstGeom>
          <a:solidFill>
            <a:srgbClr val="FF8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D5D8AE1-8AC0-C646-B200-F7244F4AE875}"/>
              </a:ext>
            </a:extLst>
          </p:cNvPr>
          <p:cNvSpPr txBox="1"/>
          <p:nvPr/>
        </p:nvSpPr>
        <p:spPr>
          <a:xfrm>
            <a:off x="6327648" y="299923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51D264D-9100-7F74-2CF3-8B98D6EDE62C}"/>
              </a:ext>
            </a:extLst>
          </p:cNvPr>
          <p:cNvSpPr txBox="1"/>
          <p:nvPr/>
        </p:nvSpPr>
        <p:spPr>
          <a:xfrm>
            <a:off x="6858000" y="295351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Making every request CPU-bound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06599C31-1A59-E0A4-0C56-C8DCA8C2E3A1}"/>
              </a:ext>
            </a:extLst>
          </p:cNvPr>
          <p:cNvSpPr/>
          <p:nvPr/>
        </p:nvSpPr>
        <p:spPr>
          <a:xfrm>
            <a:off x="685800" y="3977639"/>
            <a:ext cx="10835640" cy="1874519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44F594-47EC-D2D3-1469-1A583674DC40}"/>
              </a:ext>
            </a:extLst>
          </p:cNvPr>
          <p:cNvSpPr txBox="1"/>
          <p:nvPr/>
        </p:nvSpPr>
        <p:spPr>
          <a:xfrm>
            <a:off x="914400" y="4187952"/>
            <a:ext cx="201168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6FE0A7"/>
                </a:solidFill>
                <a:latin typeface="Aptos"/>
              </a:rPr>
              <a:t>ANSWER  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5D6A5EF-EC8F-964A-D2EE-0684583B8AF2}"/>
              </a:ext>
            </a:extLst>
          </p:cNvPr>
          <p:cNvSpPr txBox="1"/>
          <p:nvPr/>
        </p:nvSpPr>
        <p:spPr>
          <a:xfrm>
            <a:off x="914400" y="4617720"/>
            <a:ext cx="10241280" cy="9601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Concurrency can improve responsiveness and throughput when many requests spend time waiting on I/O.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33D4F44-BDEE-7B01-18CE-E5271EBFB0CF}"/>
              </a:ext>
            </a:extLst>
          </p:cNvPr>
          <p:cNvSpPr txBox="1"/>
          <p:nvPr/>
        </p:nvSpPr>
        <p:spPr>
          <a:xfrm>
            <a:off x="685800" y="6263640"/>
            <a:ext cx="10789920" cy="22860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B1BED3"/>
                </a:solidFill>
                <a:latin typeface="Aptos"/>
              </a:rPr>
              <a:t>Ask students to justify their choice before discussing the answer.</a:t>
            </a:r>
          </a:p>
        </p:txBody>
      </p:sp>
    </p:spTree>
    <p:extLst>
      <p:ext uri="{BB962C8B-B14F-4D97-AF65-F5344CB8AC3E}">
        <p14:creationId xmlns:p14="http://schemas.microsoft.com/office/powerpoint/2010/main" val="27133963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4BD3E2"/>
                </a:solidFill>
                <a:latin typeface="Aptos"/>
              </a:rPr>
              <a:t>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228600"/>
            <a:ext cx="100584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B1BED3"/>
                </a:solidFill>
                <a:latin typeface="Aptos"/>
              </a:rPr>
              <a:t>19 / 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594360"/>
            <a:ext cx="11064240" cy="22860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89563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2700" b="1" dirty="0">
                <a:solidFill>
                  <a:srgbClr val="F7F9FC"/>
                </a:solidFill>
                <a:latin typeface="Aptos"/>
              </a:rPr>
              <a:t>Q1</a:t>
            </a:r>
            <a:r>
              <a:rPr lang="en-IN" sz="2700" b="1" dirty="0">
                <a:solidFill>
                  <a:srgbClr val="F7F9FC"/>
                </a:solidFill>
                <a:latin typeface="Aptos"/>
              </a:rPr>
              <a:t>6</a:t>
            </a:r>
            <a:r>
              <a:rPr sz="2700" b="1" dirty="0">
                <a:solidFill>
                  <a:srgbClr val="F7F9FC"/>
                </a:solidFill>
                <a:latin typeface="Aptos"/>
              </a:rPr>
              <a:t>. A 4-thread program on a 4-core CPU runs slower than its single-threaded version. Why?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95528" y="2176272"/>
            <a:ext cx="402336" cy="402336"/>
          </a:xfrm>
          <a:prstGeom prst="roundRect">
            <a:avLst/>
          </a:prstGeom>
          <a:solidFill>
            <a:srgbClr val="4B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217627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13055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Overhead or contention outweighs benefits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5740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27648" y="2176272"/>
            <a:ext cx="402336" cy="402336"/>
          </a:xfrm>
          <a:prstGeom prst="roundRect">
            <a:avLst/>
          </a:prstGeom>
          <a:solidFill>
            <a:srgbClr val="FFC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27648" y="217627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13055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Four threads always mean 4× speed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8036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95528" y="2999232"/>
            <a:ext cx="402336" cy="402336"/>
          </a:xfrm>
          <a:prstGeom prst="roundRect">
            <a:avLst/>
          </a:prstGeom>
          <a:solidFill>
            <a:srgbClr val="6FE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8" y="299923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95351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CPU cores cannot execute instructions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88036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327648" y="2999232"/>
            <a:ext cx="402336" cy="402336"/>
          </a:xfrm>
          <a:prstGeom prst="roundRect">
            <a:avLst/>
          </a:prstGeom>
          <a:solidFill>
            <a:srgbClr val="FF8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27648" y="299923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95351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Threads never share memory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B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AE0EFE-A454-963E-E2A7-FCD3C390E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7F2D43-38BD-98C9-B326-BA17DD1AD403}"/>
              </a:ext>
            </a:extLst>
          </p:cNvPr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4BD3E2"/>
                </a:solidFill>
                <a:latin typeface="Aptos"/>
              </a:rPr>
              <a:t>PERFORMANCE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67DF0C-2D87-B0B4-1B07-01303F419C16}"/>
              </a:ext>
            </a:extLst>
          </p:cNvPr>
          <p:cNvSpPr txBox="1"/>
          <p:nvPr/>
        </p:nvSpPr>
        <p:spPr>
          <a:xfrm>
            <a:off x="10607040" y="228600"/>
            <a:ext cx="100584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B1BED3"/>
                </a:solidFill>
                <a:latin typeface="Aptos"/>
              </a:rPr>
              <a:t>19 / 20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AF3EE60-0CFE-6547-822F-E2A49EEA1CFA}"/>
              </a:ext>
            </a:extLst>
          </p:cNvPr>
          <p:cNvSpPr/>
          <p:nvPr/>
        </p:nvSpPr>
        <p:spPr>
          <a:xfrm>
            <a:off x="548640" y="594360"/>
            <a:ext cx="11064240" cy="22860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8C66C7-4888-60EC-553E-B318D1C27F10}"/>
              </a:ext>
            </a:extLst>
          </p:cNvPr>
          <p:cNvSpPr txBox="1"/>
          <p:nvPr/>
        </p:nvSpPr>
        <p:spPr>
          <a:xfrm>
            <a:off x="640080" y="868680"/>
            <a:ext cx="10972800" cy="89563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2700" b="1" dirty="0">
                <a:solidFill>
                  <a:srgbClr val="F7F9FC"/>
                </a:solidFill>
                <a:latin typeface="Aptos"/>
              </a:rPr>
              <a:t>Q1</a:t>
            </a:r>
            <a:r>
              <a:rPr lang="en-IN" sz="2700" b="1" dirty="0">
                <a:solidFill>
                  <a:srgbClr val="F7F9FC"/>
                </a:solidFill>
                <a:latin typeface="Aptos"/>
              </a:rPr>
              <a:t>6</a:t>
            </a:r>
            <a:r>
              <a:rPr sz="2700" b="1" dirty="0">
                <a:solidFill>
                  <a:srgbClr val="F7F9FC"/>
                </a:solidFill>
                <a:latin typeface="Aptos"/>
              </a:rPr>
              <a:t>. A 4-thread program on a 4-core CPU runs slower than its single-threaded version. Why?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D4C044F-890C-A688-693B-22CAA1563BA2}"/>
              </a:ext>
            </a:extLst>
          </p:cNvPr>
          <p:cNvSpPr/>
          <p:nvPr/>
        </p:nvSpPr>
        <p:spPr>
          <a:xfrm>
            <a:off x="685800" y="205740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FE8160E-599B-76A4-0ED6-921FE52FAD3C}"/>
              </a:ext>
            </a:extLst>
          </p:cNvPr>
          <p:cNvSpPr/>
          <p:nvPr/>
        </p:nvSpPr>
        <p:spPr>
          <a:xfrm>
            <a:off x="795528" y="2176272"/>
            <a:ext cx="402336" cy="402336"/>
          </a:xfrm>
          <a:prstGeom prst="roundRect">
            <a:avLst/>
          </a:prstGeom>
          <a:solidFill>
            <a:srgbClr val="4B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793D75-328E-8343-0B84-EBA2FBEF8E00}"/>
              </a:ext>
            </a:extLst>
          </p:cNvPr>
          <p:cNvSpPr txBox="1"/>
          <p:nvPr/>
        </p:nvSpPr>
        <p:spPr>
          <a:xfrm>
            <a:off x="795528" y="217627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1EC26E-0763-B97F-FCC7-394B1B0197A6}"/>
              </a:ext>
            </a:extLst>
          </p:cNvPr>
          <p:cNvSpPr txBox="1"/>
          <p:nvPr/>
        </p:nvSpPr>
        <p:spPr>
          <a:xfrm>
            <a:off x="1325880" y="213055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Overhead or contention outweighs benefits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D86FFAB-251C-0AC7-2D4B-EDB4063D627A}"/>
              </a:ext>
            </a:extLst>
          </p:cNvPr>
          <p:cNvSpPr/>
          <p:nvPr/>
        </p:nvSpPr>
        <p:spPr>
          <a:xfrm>
            <a:off x="6217920" y="205740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9568C1C-4A9C-CFA9-8E3B-3EA6BB7EFE53}"/>
              </a:ext>
            </a:extLst>
          </p:cNvPr>
          <p:cNvSpPr/>
          <p:nvPr/>
        </p:nvSpPr>
        <p:spPr>
          <a:xfrm>
            <a:off x="6327648" y="2176272"/>
            <a:ext cx="402336" cy="402336"/>
          </a:xfrm>
          <a:prstGeom prst="roundRect">
            <a:avLst/>
          </a:prstGeom>
          <a:solidFill>
            <a:srgbClr val="FFC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27962F-CC07-C909-B2D7-DDE0C9A4D993}"/>
              </a:ext>
            </a:extLst>
          </p:cNvPr>
          <p:cNvSpPr txBox="1"/>
          <p:nvPr/>
        </p:nvSpPr>
        <p:spPr>
          <a:xfrm>
            <a:off x="6327648" y="217627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6C4D78-6399-5ABC-CA75-256198180E2D}"/>
              </a:ext>
            </a:extLst>
          </p:cNvPr>
          <p:cNvSpPr txBox="1"/>
          <p:nvPr/>
        </p:nvSpPr>
        <p:spPr>
          <a:xfrm>
            <a:off x="6858000" y="213055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Four threads always mean 4× speed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B62D7CE-ED8E-27C8-8657-C067784E0260}"/>
              </a:ext>
            </a:extLst>
          </p:cNvPr>
          <p:cNvSpPr/>
          <p:nvPr/>
        </p:nvSpPr>
        <p:spPr>
          <a:xfrm>
            <a:off x="685800" y="288036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F95A5F5-BEB8-0043-B1BB-99F012C803BE}"/>
              </a:ext>
            </a:extLst>
          </p:cNvPr>
          <p:cNvSpPr/>
          <p:nvPr/>
        </p:nvSpPr>
        <p:spPr>
          <a:xfrm>
            <a:off x="795528" y="2999232"/>
            <a:ext cx="402336" cy="402336"/>
          </a:xfrm>
          <a:prstGeom prst="roundRect">
            <a:avLst/>
          </a:prstGeom>
          <a:solidFill>
            <a:srgbClr val="6FE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183DAD-D844-B433-020C-CB845186328B}"/>
              </a:ext>
            </a:extLst>
          </p:cNvPr>
          <p:cNvSpPr txBox="1"/>
          <p:nvPr/>
        </p:nvSpPr>
        <p:spPr>
          <a:xfrm>
            <a:off x="795528" y="299923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479BEE-F83C-3E35-70E5-61DE400ACCC1}"/>
              </a:ext>
            </a:extLst>
          </p:cNvPr>
          <p:cNvSpPr txBox="1"/>
          <p:nvPr/>
        </p:nvSpPr>
        <p:spPr>
          <a:xfrm>
            <a:off x="1325880" y="295351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CPU cores cannot execute instructions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ADAEDF1-51F1-8117-A06C-323F1FB929FD}"/>
              </a:ext>
            </a:extLst>
          </p:cNvPr>
          <p:cNvSpPr/>
          <p:nvPr/>
        </p:nvSpPr>
        <p:spPr>
          <a:xfrm>
            <a:off x="6217920" y="288036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A490D6C-8139-4D1C-3A8C-A00139E4F992}"/>
              </a:ext>
            </a:extLst>
          </p:cNvPr>
          <p:cNvSpPr/>
          <p:nvPr/>
        </p:nvSpPr>
        <p:spPr>
          <a:xfrm>
            <a:off x="6327648" y="2999232"/>
            <a:ext cx="402336" cy="402336"/>
          </a:xfrm>
          <a:prstGeom prst="roundRect">
            <a:avLst/>
          </a:prstGeom>
          <a:solidFill>
            <a:srgbClr val="FF8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84434DE-C76D-2EDA-BFFC-263FE4B40439}"/>
              </a:ext>
            </a:extLst>
          </p:cNvPr>
          <p:cNvSpPr txBox="1"/>
          <p:nvPr/>
        </p:nvSpPr>
        <p:spPr>
          <a:xfrm>
            <a:off x="6327648" y="299923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A04EC-4269-1E96-1D66-74FCB8963112}"/>
              </a:ext>
            </a:extLst>
          </p:cNvPr>
          <p:cNvSpPr txBox="1"/>
          <p:nvPr/>
        </p:nvSpPr>
        <p:spPr>
          <a:xfrm>
            <a:off x="6858000" y="295351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Threads never share memory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2024551-4ADF-2126-3DFD-CA909CDA9B30}"/>
              </a:ext>
            </a:extLst>
          </p:cNvPr>
          <p:cNvSpPr/>
          <p:nvPr/>
        </p:nvSpPr>
        <p:spPr>
          <a:xfrm>
            <a:off x="685800" y="3977639"/>
            <a:ext cx="10835640" cy="1874519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BA5565-A84C-4DE8-246D-79A4C8A93D1C}"/>
              </a:ext>
            </a:extLst>
          </p:cNvPr>
          <p:cNvSpPr txBox="1"/>
          <p:nvPr/>
        </p:nvSpPr>
        <p:spPr>
          <a:xfrm>
            <a:off x="914400" y="4187952"/>
            <a:ext cx="201168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6FE0A7"/>
                </a:solidFill>
                <a:latin typeface="Aptos"/>
              </a:rPr>
              <a:t>ANSWER  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45CE77D-0F89-4D4B-CE68-14E00E2CAFDE}"/>
              </a:ext>
            </a:extLst>
          </p:cNvPr>
          <p:cNvSpPr txBox="1"/>
          <p:nvPr/>
        </p:nvSpPr>
        <p:spPr>
          <a:xfrm>
            <a:off x="914400" y="4617720"/>
            <a:ext cx="10241280" cy="9601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Thread management, synchronization, contention, memory bandwidth, and sequential work can reduce performance.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C466BAA-E857-7687-C7AD-F16613DDD0AD}"/>
              </a:ext>
            </a:extLst>
          </p:cNvPr>
          <p:cNvSpPr txBox="1"/>
          <p:nvPr/>
        </p:nvSpPr>
        <p:spPr>
          <a:xfrm>
            <a:off x="685800" y="6263640"/>
            <a:ext cx="10789920" cy="22860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B1BED3"/>
                </a:solidFill>
                <a:latin typeface="Aptos"/>
              </a:rPr>
              <a:t>Ask students to justify their choice before discussing the answer.</a:t>
            </a:r>
          </a:p>
        </p:txBody>
      </p:sp>
    </p:spTree>
    <p:extLst>
      <p:ext uri="{BB962C8B-B14F-4D97-AF65-F5344CB8AC3E}">
        <p14:creationId xmlns:p14="http://schemas.microsoft.com/office/powerpoint/2010/main" val="6900475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4BD3E2"/>
                </a:solidFill>
                <a:latin typeface="Aptos"/>
              </a:rPr>
              <a:t>EXIT TICKET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228600"/>
            <a:ext cx="100584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B1BED3"/>
                </a:solidFill>
                <a:latin typeface="Aptos"/>
              </a:rPr>
              <a:t>20 / 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594360"/>
            <a:ext cx="11064240" cy="22860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89563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2700" b="1" dirty="0">
                <a:solidFill>
                  <a:srgbClr val="F7F9FC"/>
                </a:solidFill>
                <a:latin typeface="Aptos"/>
              </a:rPr>
              <a:t>Q</a:t>
            </a:r>
            <a:r>
              <a:rPr lang="en-IN" sz="2700" b="1" dirty="0">
                <a:solidFill>
                  <a:srgbClr val="F7F9FC"/>
                </a:solidFill>
                <a:latin typeface="Aptos"/>
              </a:rPr>
              <a:t>17</a:t>
            </a:r>
            <a:r>
              <a:rPr sz="2700" b="1" dirty="0">
                <a:solidFill>
                  <a:srgbClr val="F7F9FC"/>
                </a:solidFill>
                <a:latin typeface="Aptos"/>
              </a:rPr>
              <a:t>. Before parallelizing a task, what is the most useful first question?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95528" y="2176272"/>
            <a:ext cx="402336" cy="402336"/>
          </a:xfrm>
          <a:prstGeom prst="roundRect">
            <a:avLst/>
          </a:prstGeom>
          <a:solidFill>
            <a:srgbClr val="4B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217627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13055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Can work be divided safely, with enough work to offset overhead?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5740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27648" y="2176272"/>
            <a:ext cx="402336" cy="402336"/>
          </a:xfrm>
          <a:prstGeom prst="roundRect">
            <a:avLst/>
          </a:prstGeom>
          <a:solidFill>
            <a:srgbClr val="FFC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27648" y="217627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13055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Can I add as many threads as possible?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8036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95528" y="2999232"/>
            <a:ext cx="402336" cy="402336"/>
          </a:xfrm>
          <a:prstGeom prst="roundRect">
            <a:avLst/>
          </a:prstGeom>
          <a:solidFill>
            <a:srgbClr val="6FE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8" y="299923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95351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Can I remove every dependency?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88036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327648" y="2999232"/>
            <a:ext cx="402336" cy="402336"/>
          </a:xfrm>
          <a:prstGeom prst="roundRect">
            <a:avLst/>
          </a:prstGeom>
          <a:solidFill>
            <a:srgbClr val="FF8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27648" y="299923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95351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Does the code contain a loop?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B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47CFBA-A6CB-535B-D6E8-138413477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7A136A-815A-C48D-5AE2-222ECE330AB5}"/>
              </a:ext>
            </a:extLst>
          </p:cNvPr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4BD3E2"/>
                </a:solidFill>
                <a:latin typeface="Aptos"/>
              </a:rPr>
              <a:t>EXIT TICKET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DB1F7D-FC95-D15D-1172-DDEBB3FC435E}"/>
              </a:ext>
            </a:extLst>
          </p:cNvPr>
          <p:cNvSpPr txBox="1"/>
          <p:nvPr/>
        </p:nvSpPr>
        <p:spPr>
          <a:xfrm>
            <a:off x="10607040" y="228600"/>
            <a:ext cx="100584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B1BED3"/>
                </a:solidFill>
                <a:latin typeface="Aptos"/>
              </a:rPr>
              <a:t>20 / 20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218E601-18BB-3103-9E06-207107A3854D}"/>
              </a:ext>
            </a:extLst>
          </p:cNvPr>
          <p:cNvSpPr/>
          <p:nvPr/>
        </p:nvSpPr>
        <p:spPr>
          <a:xfrm>
            <a:off x="548640" y="594360"/>
            <a:ext cx="11064240" cy="22860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34B518-EBC5-8418-AD96-BDD2B7855C43}"/>
              </a:ext>
            </a:extLst>
          </p:cNvPr>
          <p:cNvSpPr txBox="1"/>
          <p:nvPr/>
        </p:nvSpPr>
        <p:spPr>
          <a:xfrm>
            <a:off x="640080" y="868680"/>
            <a:ext cx="10972800" cy="89563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2700" b="1" dirty="0">
                <a:solidFill>
                  <a:srgbClr val="F7F9FC"/>
                </a:solidFill>
                <a:latin typeface="Aptos"/>
              </a:rPr>
              <a:t>Q</a:t>
            </a:r>
            <a:r>
              <a:rPr lang="en-IN" sz="2700" b="1" dirty="0">
                <a:solidFill>
                  <a:srgbClr val="F7F9FC"/>
                </a:solidFill>
                <a:latin typeface="Aptos"/>
              </a:rPr>
              <a:t>17</a:t>
            </a:r>
            <a:r>
              <a:rPr sz="2700" b="1" dirty="0">
                <a:solidFill>
                  <a:srgbClr val="F7F9FC"/>
                </a:solidFill>
                <a:latin typeface="Aptos"/>
              </a:rPr>
              <a:t>. Before parallelizing a task, what is the most useful first question?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D3ED420-6929-B68C-2639-55C40A35713A}"/>
              </a:ext>
            </a:extLst>
          </p:cNvPr>
          <p:cNvSpPr/>
          <p:nvPr/>
        </p:nvSpPr>
        <p:spPr>
          <a:xfrm>
            <a:off x="685800" y="205740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21A29AF-BA59-E019-41F4-718B8ECE3A4C}"/>
              </a:ext>
            </a:extLst>
          </p:cNvPr>
          <p:cNvSpPr/>
          <p:nvPr/>
        </p:nvSpPr>
        <p:spPr>
          <a:xfrm>
            <a:off x="795528" y="2176272"/>
            <a:ext cx="402336" cy="402336"/>
          </a:xfrm>
          <a:prstGeom prst="roundRect">
            <a:avLst/>
          </a:prstGeom>
          <a:solidFill>
            <a:srgbClr val="4B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327EFF-832B-8B26-1D7D-F7F5D263354E}"/>
              </a:ext>
            </a:extLst>
          </p:cNvPr>
          <p:cNvSpPr txBox="1"/>
          <p:nvPr/>
        </p:nvSpPr>
        <p:spPr>
          <a:xfrm>
            <a:off x="795528" y="217627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A5883B-EB8C-A08C-3C7C-AAEC1699587F}"/>
              </a:ext>
            </a:extLst>
          </p:cNvPr>
          <p:cNvSpPr txBox="1"/>
          <p:nvPr/>
        </p:nvSpPr>
        <p:spPr>
          <a:xfrm>
            <a:off x="1325880" y="213055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Can work be divided safely, with enough work to offset overhead?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842088C-EEEE-E2F4-F433-3BB6FA49BD09}"/>
              </a:ext>
            </a:extLst>
          </p:cNvPr>
          <p:cNvSpPr/>
          <p:nvPr/>
        </p:nvSpPr>
        <p:spPr>
          <a:xfrm>
            <a:off x="6217920" y="205740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2B9AEB1-96F3-7FB7-1647-C731C47A800E}"/>
              </a:ext>
            </a:extLst>
          </p:cNvPr>
          <p:cNvSpPr/>
          <p:nvPr/>
        </p:nvSpPr>
        <p:spPr>
          <a:xfrm>
            <a:off x="6327648" y="2176272"/>
            <a:ext cx="402336" cy="402336"/>
          </a:xfrm>
          <a:prstGeom prst="roundRect">
            <a:avLst/>
          </a:prstGeom>
          <a:solidFill>
            <a:srgbClr val="FFC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765BA4-EB43-AA30-CD17-33B1CFC6A2AB}"/>
              </a:ext>
            </a:extLst>
          </p:cNvPr>
          <p:cNvSpPr txBox="1"/>
          <p:nvPr/>
        </p:nvSpPr>
        <p:spPr>
          <a:xfrm>
            <a:off x="6327648" y="217627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2A2A2A-7F0C-82D2-27EB-285F01B8C273}"/>
              </a:ext>
            </a:extLst>
          </p:cNvPr>
          <p:cNvSpPr txBox="1"/>
          <p:nvPr/>
        </p:nvSpPr>
        <p:spPr>
          <a:xfrm>
            <a:off x="6858000" y="213055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Can I add as many threads as possible?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BF24765-0CF8-A6FD-1843-B0FAD800B9B5}"/>
              </a:ext>
            </a:extLst>
          </p:cNvPr>
          <p:cNvSpPr/>
          <p:nvPr/>
        </p:nvSpPr>
        <p:spPr>
          <a:xfrm>
            <a:off x="685800" y="288036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6420AA1-0916-9EFC-25D0-5CA9B4F7CCAF}"/>
              </a:ext>
            </a:extLst>
          </p:cNvPr>
          <p:cNvSpPr/>
          <p:nvPr/>
        </p:nvSpPr>
        <p:spPr>
          <a:xfrm>
            <a:off x="795528" y="2999232"/>
            <a:ext cx="402336" cy="402336"/>
          </a:xfrm>
          <a:prstGeom prst="roundRect">
            <a:avLst/>
          </a:prstGeom>
          <a:solidFill>
            <a:srgbClr val="6FE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EDFC88-34AB-A1F3-F726-8D94AE181C42}"/>
              </a:ext>
            </a:extLst>
          </p:cNvPr>
          <p:cNvSpPr txBox="1"/>
          <p:nvPr/>
        </p:nvSpPr>
        <p:spPr>
          <a:xfrm>
            <a:off x="795528" y="299923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7BE34D-898E-B5DB-78AC-EF8290D43247}"/>
              </a:ext>
            </a:extLst>
          </p:cNvPr>
          <p:cNvSpPr txBox="1"/>
          <p:nvPr/>
        </p:nvSpPr>
        <p:spPr>
          <a:xfrm>
            <a:off x="1325880" y="295351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Can I remove every dependency?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0F570823-E77D-864D-7058-8C2DDAC1F982}"/>
              </a:ext>
            </a:extLst>
          </p:cNvPr>
          <p:cNvSpPr/>
          <p:nvPr/>
        </p:nvSpPr>
        <p:spPr>
          <a:xfrm>
            <a:off x="6217920" y="2880360"/>
            <a:ext cx="5257800" cy="658368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8FE2CAB9-2525-5582-BC64-63C4AE7355F2}"/>
              </a:ext>
            </a:extLst>
          </p:cNvPr>
          <p:cNvSpPr/>
          <p:nvPr/>
        </p:nvSpPr>
        <p:spPr>
          <a:xfrm>
            <a:off x="6327648" y="2999232"/>
            <a:ext cx="402336" cy="402336"/>
          </a:xfrm>
          <a:prstGeom prst="roundRect">
            <a:avLst/>
          </a:prstGeom>
          <a:solidFill>
            <a:srgbClr val="FF8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4AD6A64-84ED-513F-D841-51AFFB3E14A6}"/>
              </a:ext>
            </a:extLst>
          </p:cNvPr>
          <p:cNvSpPr txBox="1"/>
          <p:nvPr/>
        </p:nvSpPr>
        <p:spPr>
          <a:xfrm>
            <a:off x="6327648" y="2999232"/>
            <a:ext cx="402336" cy="384048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B30"/>
                </a:solidFill>
                <a:latin typeface="Aptos"/>
              </a:rPr>
              <a:t>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E6F9F2-D59D-FD57-8BD7-BC4450494894}"/>
              </a:ext>
            </a:extLst>
          </p:cNvPr>
          <p:cNvSpPr txBox="1"/>
          <p:nvPr/>
        </p:nvSpPr>
        <p:spPr>
          <a:xfrm>
            <a:off x="6858000" y="2953512"/>
            <a:ext cx="4507992" cy="530352"/>
          </a:xfrm>
          <a:prstGeom prst="rect">
            <a:avLst/>
          </a:prstGeom>
          <a:noFill/>
        </p:spPr>
        <p:txBody>
          <a:bodyPr wrap="square" lIns="64008" tIns="36576" rIns="64008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Does the code contain a loop?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BF0F5B7A-6AE0-6CA5-9F20-F2A954FB9CD4}"/>
              </a:ext>
            </a:extLst>
          </p:cNvPr>
          <p:cNvSpPr/>
          <p:nvPr/>
        </p:nvSpPr>
        <p:spPr>
          <a:xfrm>
            <a:off x="685800" y="3977639"/>
            <a:ext cx="10835640" cy="1874519"/>
          </a:xfrm>
          <a:prstGeom prst="roundRect">
            <a:avLst/>
          </a:prstGeom>
          <a:solidFill>
            <a:srgbClr val="1F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6C87993-13EC-1897-6C54-A9FE7652CCD9}"/>
              </a:ext>
            </a:extLst>
          </p:cNvPr>
          <p:cNvSpPr txBox="1"/>
          <p:nvPr/>
        </p:nvSpPr>
        <p:spPr>
          <a:xfrm>
            <a:off x="914400" y="4187952"/>
            <a:ext cx="201168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6FE0A7"/>
                </a:solidFill>
                <a:latin typeface="Aptos"/>
              </a:rPr>
              <a:t>ANSWER  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F6CC21-6ADE-7670-D292-F146EE0E25E4}"/>
              </a:ext>
            </a:extLst>
          </p:cNvPr>
          <p:cNvSpPr txBox="1"/>
          <p:nvPr/>
        </p:nvSpPr>
        <p:spPr>
          <a:xfrm>
            <a:off x="914400" y="4617720"/>
            <a:ext cx="10241280" cy="9601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F9FC"/>
                </a:solidFill>
                <a:latin typeface="Aptos"/>
              </a:rPr>
              <a:t>Look for independent work, adequate task size, manageable dependencies, and realistic benefits after overhead.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3446C64-DCCB-63B8-C899-8683D83095E7}"/>
              </a:ext>
            </a:extLst>
          </p:cNvPr>
          <p:cNvSpPr txBox="1"/>
          <p:nvPr/>
        </p:nvSpPr>
        <p:spPr>
          <a:xfrm>
            <a:off x="685800" y="6263640"/>
            <a:ext cx="10789920" cy="22860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B1BED3"/>
                </a:solidFill>
                <a:latin typeface="Aptos"/>
              </a:rPr>
              <a:t>Ask students to justify their choice before discussing the answer.</a:t>
            </a:r>
          </a:p>
        </p:txBody>
      </p:sp>
    </p:spTree>
    <p:extLst>
      <p:ext uri="{BB962C8B-B14F-4D97-AF65-F5344CB8AC3E}">
        <p14:creationId xmlns:p14="http://schemas.microsoft.com/office/powerpoint/2010/main" val="3224507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2132</Words>
  <Application>Microsoft Office PowerPoint</Application>
  <PresentationFormat>Widescreen</PresentationFormat>
  <Paragraphs>424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Sajjanar, Ravi</cp:lastModifiedBy>
  <cp:revision>27</cp:revision>
  <dcterms:created xsi:type="dcterms:W3CDTF">2013-01-27T09:14:16Z</dcterms:created>
  <dcterms:modified xsi:type="dcterms:W3CDTF">2026-10-27T03:47:05Z</dcterms:modified>
  <cp:category/>
</cp:coreProperties>
</file>