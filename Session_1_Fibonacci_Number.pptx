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59D103-4152-47FA-AA9E-6EBBC2433FD8}" v="1" dt="2026-10-27T04:01:54.2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jjanar, Ravi" userId="e218e43c-0e9a-4523-8480-57be8becbd4b" providerId="ADAL" clId="{07847B74-BBF6-4DD1-83A2-1E98D3A6ADBB}"/>
    <pc:docChg chg="undo custSel modSld">
      <pc:chgData name="Sajjanar, Ravi" userId="e218e43c-0e9a-4523-8480-57be8becbd4b" providerId="ADAL" clId="{07847B74-BBF6-4DD1-83A2-1E98D3A6ADBB}" dt="2026-10-27T04:04:12.973" v="27" actId="478"/>
      <pc:docMkLst>
        <pc:docMk/>
      </pc:docMkLst>
      <pc:sldChg chg="addSp delSp modSp mod">
        <pc:chgData name="Sajjanar, Ravi" userId="e218e43c-0e9a-4523-8480-57be8becbd4b" providerId="ADAL" clId="{07847B74-BBF6-4DD1-83A2-1E98D3A6ADBB}" dt="2026-10-27T04:02:53.758" v="25" actId="1076"/>
        <pc:sldMkLst>
          <pc:docMk/>
          <pc:sldMk cId="0" sldId="267"/>
        </pc:sldMkLst>
        <pc:spChg chg="del">
          <ac:chgData name="Sajjanar, Ravi" userId="e218e43c-0e9a-4523-8480-57be8becbd4b" providerId="ADAL" clId="{07847B74-BBF6-4DD1-83A2-1E98D3A6ADBB}" dt="2026-10-27T04:02:24.292" v="19" actId="478"/>
          <ac:spMkLst>
            <pc:docMk/>
            <pc:sldMk cId="0" sldId="267"/>
            <ac:spMk id="6" creationId="{00000000-0000-0000-0000-000000000000}"/>
          </ac:spMkLst>
        </pc:spChg>
        <pc:spChg chg="del mod">
          <ac:chgData name="Sajjanar, Ravi" userId="e218e43c-0e9a-4523-8480-57be8becbd4b" providerId="ADAL" clId="{07847B74-BBF6-4DD1-83A2-1E98D3A6ADBB}" dt="2026-10-27T04:00:55.300" v="6" actId="478"/>
          <ac:spMkLst>
            <pc:docMk/>
            <pc:sldMk cId="0" sldId="267"/>
            <ac:spMk id="7" creationId="{00000000-0000-0000-0000-000000000000}"/>
          </ac:spMkLst>
        </pc:spChg>
        <pc:spChg chg="mod">
          <ac:chgData name="Sajjanar, Ravi" userId="e218e43c-0e9a-4523-8480-57be8becbd4b" providerId="ADAL" clId="{07847B74-BBF6-4DD1-83A2-1E98D3A6ADBB}" dt="2026-10-27T04:02:02.166" v="15" actId="1076"/>
          <ac:spMkLst>
            <pc:docMk/>
            <pc:sldMk cId="0" sldId="267"/>
            <ac:spMk id="8" creationId="{00000000-0000-0000-0000-000000000000}"/>
          </ac:spMkLst>
        </pc:spChg>
        <pc:spChg chg="mod">
          <ac:chgData name="Sajjanar, Ravi" userId="e218e43c-0e9a-4523-8480-57be8becbd4b" providerId="ADAL" clId="{07847B74-BBF6-4DD1-83A2-1E98D3A6ADBB}" dt="2026-10-27T04:02:11.069" v="16" actId="1076"/>
          <ac:spMkLst>
            <pc:docMk/>
            <pc:sldMk cId="0" sldId="267"/>
            <ac:spMk id="9" creationId="{00000000-0000-0000-0000-000000000000}"/>
          </ac:spMkLst>
        </pc:spChg>
        <pc:spChg chg="mod">
          <ac:chgData name="Sajjanar, Ravi" userId="e218e43c-0e9a-4523-8480-57be8becbd4b" providerId="ADAL" clId="{07847B74-BBF6-4DD1-83A2-1E98D3A6ADBB}" dt="2026-10-27T04:02:11.069" v="16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Sajjanar, Ravi" userId="e218e43c-0e9a-4523-8480-57be8becbd4b" providerId="ADAL" clId="{07847B74-BBF6-4DD1-83A2-1E98D3A6ADBB}" dt="2026-10-27T04:02:11.069" v="16" actId="1076"/>
          <ac:spMkLst>
            <pc:docMk/>
            <pc:sldMk cId="0" sldId="267"/>
            <ac:spMk id="11" creationId="{00000000-0000-0000-0000-000000000000}"/>
          </ac:spMkLst>
        </pc:spChg>
        <pc:spChg chg="add del mod">
          <ac:chgData name="Sajjanar, Ravi" userId="e218e43c-0e9a-4523-8480-57be8becbd4b" providerId="ADAL" clId="{07847B74-BBF6-4DD1-83A2-1E98D3A6ADBB}" dt="2026-10-27T04:01:55.660" v="14"/>
          <ac:spMkLst>
            <pc:docMk/>
            <pc:sldMk cId="0" sldId="267"/>
            <ac:spMk id="17" creationId="{8F1ED839-EC07-76E5-550E-7C0B4E8A0AAD}"/>
          </ac:spMkLst>
        </pc:spChg>
        <pc:picChg chg="add del mod">
          <ac:chgData name="Sajjanar, Ravi" userId="e218e43c-0e9a-4523-8480-57be8becbd4b" providerId="ADAL" clId="{07847B74-BBF6-4DD1-83A2-1E98D3A6ADBB}" dt="2026-10-27T04:02:16.638" v="17" actId="478"/>
          <ac:picMkLst>
            <pc:docMk/>
            <pc:sldMk cId="0" sldId="267"/>
            <ac:picMk id="14" creationId="{59D83E5D-39E7-C09A-8757-AB13AF61D75D}"/>
          </ac:picMkLst>
        </pc:picChg>
        <pc:picChg chg="add del mod">
          <ac:chgData name="Sajjanar, Ravi" userId="e218e43c-0e9a-4523-8480-57be8becbd4b" providerId="ADAL" clId="{07847B74-BBF6-4DD1-83A2-1E98D3A6ADBB}" dt="2026-10-27T04:02:17.918" v="18" actId="478"/>
          <ac:picMkLst>
            <pc:docMk/>
            <pc:sldMk cId="0" sldId="267"/>
            <ac:picMk id="16" creationId="{8D814787-B7A1-552A-2FDC-2EA736F079AA}"/>
          </ac:picMkLst>
        </pc:picChg>
        <pc:picChg chg="add mod modCrop">
          <ac:chgData name="Sajjanar, Ravi" userId="e218e43c-0e9a-4523-8480-57be8becbd4b" providerId="ADAL" clId="{07847B74-BBF6-4DD1-83A2-1E98D3A6ADBB}" dt="2026-10-27T04:02:53.758" v="25" actId="1076"/>
          <ac:picMkLst>
            <pc:docMk/>
            <pc:sldMk cId="0" sldId="267"/>
            <ac:picMk id="19" creationId="{CE39A687-8AA0-952F-6014-9099BEA96D85}"/>
          </ac:picMkLst>
        </pc:picChg>
      </pc:sldChg>
      <pc:sldChg chg="addSp delSp mod">
        <pc:chgData name="Sajjanar, Ravi" userId="e218e43c-0e9a-4523-8480-57be8becbd4b" providerId="ADAL" clId="{07847B74-BBF6-4DD1-83A2-1E98D3A6ADBB}" dt="2026-10-27T04:04:12.973" v="27" actId="478"/>
        <pc:sldMkLst>
          <pc:docMk/>
          <pc:sldMk cId="0" sldId="268"/>
        </pc:sldMkLst>
        <pc:spChg chg="add del">
          <ac:chgData name="Sajjanar, Ravi" userId="e218e43c-0e9a-4523-8480-57be8becbd4b" providerId="ADAL" clId="{07847B74-BBF6-4DD1-83A2-1E98D3A6ADBB}" dt="2026-10-27T04:04:12.973" v="27" actId="478"/>
          <ac:spMkLst>
            <pc:docMk/>
            <pc:sldMk cId="0" sldId="268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731520"/>
            <a:ext cx="914400" cy="914400"/>
          </a:xfrm>
          <a:prstGeom prst="ellipse">
            <a:avLst/>
          </a:prstGeom>
          <a:solidFill>
            <a:srgbClr val="37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1371600"/>
            <a:ext cx="502920" cy="502920"/>
          </a:xfrm>
          <a:prstGeom prst="ellipse">
            <a:avLst/>
          </a:prstGeom>
          <a:solidFill>
            <a:srgbClr val="F5B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509760" y="2011680"/>
            <a:ext cx="685800" cy="685800"/>
          </a:xfrm>
          <a:prstGeom prst="ellipse">
            <a:avLst/>
          </a:prstGeom>
          <a:solidFill>
            <a:srgbClr val="34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98480" y="2743200"/>
            <a:ext cx="365760" cy="365760"/>
          </a:xfrm>
          <a:prstGeom prst="ellipse">
            <a:avLst/>
          </a:prstGeom>
          <a:solidFill>
            <a:srgbClr val="37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0" y="3108960"/>
            <a:ext cx="457200" cy="457200"/>
          </a:xfrm>
          <a:prstGeom prst="ellipse">
            <a:avLst/>
          </a:prstGeom>
          <a:solidFill>
            <a:srgbClr val="F5B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7498079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FIBONACCI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768096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37BEC8"/>
                </a:solidFill>
                <a:latin typeface="Aptos"/>
              </a:defRPr>
            </a:pPr>
            <a:r>
              <a:t>One problem. Many algorithms.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651760"/>
            <a:ext cx="722376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D2DCEB"/>
                </a:solidFill>
                <a:latin typeface="Aptos"/>
              </a:defRPr>
            </a:pPr>
            <a:r>
              <a:t>From recursion and memoization to dynamic programming,</a:t>
            </a:r>
          </a:p>
          <a:p>
            <a:pPr>
              <a:spcAft>
                <a:spcPts val="600"/>
              </a:spcAft>
              <a:defRPr sz="1900" b="0">
                <a:solidFill>
                  <a:srgbClr val="D2DCEB"/>
                </a:solidFill>
                <a:latin typeface="Aptos"/>
              </a:defRPr>
            </a:pPr>
            <a:r>
              <a:t>fast doubling, and parallel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AEBFD7"/>
                </a:solidFill>
                <a:latin typeface="Aptos"/>
              </a:defRPr>
            </a:pPr>
            <a:r>
              <a:t>TEACHING SLIDES • PYTHON EXAMPLES • COMPLEXITY &amp; TRADE-OFFS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03A"/>
                </a:solidFill>
                <a:latin typeface="Aptos"/>
              </a:defRPr>
            </a:pPr>
            <a:r>
              <a:t>Learning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980"/>
                </a:solidFill>
                <a:latin typeface="Aptos"/>
              </a:defRPr>
            </a:pPr>
            <a:r>
              <a:rPr dirty="0"/>
              <a:t>By the end, students should explain not only how an algorithm works, but why one approach may be better.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B6980"/>
                </a:solidFill>
                <a:latin typeface="Aptos"/>
              </a:defRPr>
            </a:pPr>
            <a:r>
              <a:t>FIBONACCI • ALGORITHM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B698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332720" cy="42062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>
              <a:buChar char="•"/>
              <a:defRPr sz="2100">
                <a:solidFill>
                  <a:srgbClr val="1F2A3D"/>
                </a:solidFill>
                <a:latin typeface="Aptos"/>
              </a:defRPr>
            </a:pPr>
            <a:r>
              <a:t>Translate a mathematical recurrence into executable code</a:t>
            </a:r>
          </a:p>
          <a:p>
            <a:pPr>
              <a:buChar char="•"/>
              <a:defRPr sz="2100">
                <a:solidFill>
                  <a:srgbClr val="1F2A3D"/>
                </a:solidFill>
                <a:latin typeface="Aptos"/>
              </a:defRPr>
            </a:pPr>
            <a:r>
              <a:t>Recognize repeated work in a recursion tree</a:t>
            </a:r>
          </a:p>
          <a:p>
            <a:pPr>
              <a:buChar char="•"/>
              <a:defRPr sz="2100">
                <a:solidFill>
                  <a:srgbClr val="1F2A3D"/>
                </a:solidFill>
                <a:latin typeface="Aptos"/>
              </a:defRPr>
            </a:pPr>
            <a:r>
              <a:t>Compare recursion, memoization, and bottom-up dynamic programming</a:t>
            </a:r>
          </a:p>
          <a:p>
            <a:pPr>
              <a:buChar char="•"/>
              <a:defRPr sz="2100">
                <a:solidFill>
                  <a:srgbClr val="1F2A3D"/>
                </a:solidFill>
                <a:latin typeface="Aptos"/>
              </a:defRPr>
            </a:pPr>
            <a:r>
              <a:t>Reason about time complexity, space complexity, and trade-offs</a:t>
            </a:r>
          </a:p>
          <a:p>
            <a:pPr>
              <a:buChar char="•"/>
              <a:defRPr sz="2100">
                <a:solidFill>
                  <a:srgbClr val="1F2A3D"/>
                </a:solidFill>
                <a:latin typeface="Aptos"/>
              </a:defRPr>
            </a:pPr>
            <a:r>
              <a:t>Discover how divide and conquer can reduce the number of steps</a:t>
            </a:r>
          </a:p>
          <a:p>
            <a:pPr>
              <a:buChar char="•"/>
              <a:defRPr sz="2100">
                <a:solidFill>
                  <a:srgbClr val="1F2A3D"/>
                </a:solidFill>
                <a:latin typeface="Aptos"/>
              </a:defRPr>
            </a:pPr>
            <a:r>
              <a:t>Distinguish algorithmic efficiency from parallel execution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03A"/>
                </a:solidFill>
                <a:latin typeface="Aptos"/>
              </a:defRPr>
            </a:pPr>
            <a:r>
              <a:t>The problem: Fibonacci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980"/>
                </a:solidFill>
                <a:latin typeface="Aptos"/>
              </a:defRPr>
            </a:pPr>
            <a:r>
              <a:t>Each term is the sum of the two terms immediately before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B6980"/>
                </a:solidFill>
                <a:latin typeface="Aptos"/>
              </a:defRPr>
            </a:pPr>
            <a:r>
              <a:t>FIBONACCI • ALGORITHM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B698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9377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3468B4"/>
                </a:solidFill>
                <a:latin typeface="Aptos"/>
              </a:defRPr>
            </a:pPr>
            <a:r>
              <a:t>F(0) = 0      F(1) =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704088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4203A"/>
                </a:solidFill>
                <a:latin typeface="Aptos"/>
              </a:defRPr>
            </a:pPr>
            <a:r>
              <a:t>F(n) = F(n − 1) + F(n − 2), for n ≥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57600"/>
            <a:ext cx="1005840" cy="713232"/>
          </a:xfrm>
          <a:prstGeom prst="roundRect">
            <a:avLst/>
          </a:prstGeom>
          <a:solidFill>
            <a:srgbClr val="E1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14203A"/>
                </a:solidFill>
              </a:defRPr>
            </a:pPr>
            <a:r>
              <a:t>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76272" y="3657600"/>
            <a:ext cx="1005840" cy="713232"/>
          </a:xfrm>
          <a:prstGeom prst="roundRect">
            <a:avLst/>
          </a:prstGeom>
          <a:solidFill>
            <a:srgbClr val="E1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14203A"/>
                </a:solidFill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9584" y="3657600"/>
            <a:ext cx="1005840" cy="713232"/>
          </a:xfrm>
          <a:prstGeom prst="roundRect">
            <a:avLst/>
          </a:prstGeom>
          <a:solidFill>
            <a:srgbClr val="E1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14203A"/>
                </a:solidFill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82896" y="3657600"/>
            <a:ext cx="1005840" cy="713232"/>
          </a:xfrm>
          <a:prstGeom prst="roundRect">
            <a:avLst/>
          </a:prstGeom>
          <a:solidFill>
            <a:srgbClr val="E1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14203A"/>
                </a:solidFill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3657600"/>
            <a:ext cx="1005840" cy="713232"/>
          </a:xfrm>
          <a:prstGeom prst="roundRect">
            <a:avLst/>
          </a:prstGeom>
          <a:solidFill>
            <a:srgbClr val="E1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14203A"/>
                </a:solidFill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657600"/>
            <a:ext cx="1005840" cy="713232"/>
          </a:xfrm>
          <a:prstGeom prst="roundRect">
            <a:avLst/>
          </a:prstGeom>
          <a:solidFill>
            <a:srgbClr val="DE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14203A"/>
                </a:solidFill>
              </a:defRPr>
            </a:pPr>
            <a: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2832" y="3657600"/>
            <a:ext cx="1005840" cy="713232"/>
          </a:xfrm>
          <a:prstGeom prst="roundRect">
            <a:avLst/>
          </a:prstGeom>
          <a:solidFill>
            <a:srgbClr val="DE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14203A"/>
                </a:solidFill>
              </a:defRPr>
            </a:pPr>
            <a:r>
              <a:t>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96144" y="3657600"/>
            <a:ext cx="1005840" cy="713232"/>
          </a:xfrm>
          <a:prstGeom prst="roundRect">
            <a:avLst/>
          </a:prstGeom>
          <a:solidFill>
            <a:srgbClr val="DE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14203A"/>
                </a:solidFill>
              </a:defRPr>
            </a:pPr>
            <a: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00600"/>
            <a:ext cx="274320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2C9770"/>
                </a:solidFill>
                <a:latin typeface="Aptos"/>
              </a:defRPr>
            </a:pPr>
            <a:r>
              <a:t>F(5) =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846320"/>
            <a:ext cx="804672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5B6980"/>
                </a:solidFill>
                <a:latin typeface="Aptos"/>
              </a:defRPr>
            </a:pPr>
            <a:r>
              <a:t>Our challenge: compute the same answer using different strategies.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03A"/>
                </a:solidFill>
                <a:latin typeface="Aptos"/>
              </a:defRPr>
            </a:pPr>
            <a:r>
              <a:t>1. Iteration: start simple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980"/>
                </a:solidFill>
                <a:latin typeface="Aptos"/>
              </a:defRPr>
            </a:pPr>
            <a:r>
              <a:t>Advance two values at a time; no recursion and no array required.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B6980"/>
                </a:solidFill>
                <a:latin typeface="Aptos"/>
              </a:defRPr>
            </a:pPr>
            <a:r>
              <a:t>FIBONACCI • ALGORITHM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B698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760720" cy="4114800"/>
          </a:xfrm>
          <a:prstGeom prst="round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73152" rtlCol="0" anchor="ctr"/>
          <a:lstStyle/>
          <a:p>
            <a:pPr algn="ctr">
              <a:spcAft>
                <a:spcPts val="100"/>
              </a:spcAft>
              <a:defRPr sz="1800">
                <a:solidFill>
                  <a:srgbClr val="E0EBF9"/>
                </a:solidFill>
                <a:latin typeface="Cascadia Code"/>
              </a:defRPr>
            </a:pPr>
            <a:r>
              <a:t>def fib(n):</a:t>
            </a:r>
          </a:p>
          <a:p>
            <a:pPr>
              <a:spcAft>
                <a:spcPts val="100"/>
              </a:spcAft>
              <a:defRPr sz="1800">
                <a:solidFill>
                  <a:srgbClr val="E0EBF9"/>
                </a:solidFill>
                <a:latin typeface="Cascadia Code"/>
              </a:defRPr>
            </a:pPr>
            <a:r>
              <a:t>    a, b = 0, 1</a:t>
            </a:r>
          </a:p>
          <a:p>
            <a:pPr>
              <a:spcAft>
                <a:spcPts val="100"/>
              </a:spcAft>
              <a:defRPr sz="18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800">
                <a:solidFill>
                  <a:srgbClr val="E0EBF9"/>
                </a:solidFill>
                <a:latin typeface="Cascadia Code"/>
              </a:defRPr>
            </a:pPr>
            <a:r>
              <a:t>    for _ in range(n):</a:t>
            </a:r>
          </a:p>
          <a:p>
            <a:pPr>
              <a:spcAft>
                <a:spcPts val="100"/>
              </a:spcAft>
              <a:defRPr sz="1800">
                <a:solidFill>
                  <a:srgbClr val="E0EBF9"/>
                </a:solidFill>
                <a:latin typeface="Cascadia Code"/>
              </a:defRPr>
            </a:pPr>
            <a:r>
              <a:t>        a, b = b, a + b  # Move to the next pair</a:t>
            </a:r>
          </a:p>
          <a:p>
            <a:pPr>
              <a:spcAft>
                <a:spcPts val="100"/>
              </a:spcAft>
              <a:defRPr sz="18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800">
                <a:solidFill>
                  <a:srgbClr val="E0EBF9"/>
                </a:solidFill>
                <a:latin typeface="Cascadia Code"/>
              </a:defRPr>
            </a:pPr>
            <a:r>
              <a:t>    return a</a:t>
            </a:r>
          </a:p>
          <a:p>
            <a:pPr>
              <a:spcAft>
                <a:spcPts val="100"/>
              </a:spcAft>
              <a:defRPr sz="18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800">
                <a:solidFill>
                  <a:srgbClr val="E0EBF9"/>
                </a:solidFill>
                <a:latin typeface="Cascadia Code"/>
              </a:defRPr>
            </a:pPr>
            <a:r>
              <a:t>print(fib(5))  #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828800"/>
            <a:ext cx="402336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14031" y="1938528"/>
            <a:ext cx="3694176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468B4"/>
                </a:solidFill>
                <a:latin typeface="Aptos"/>
              </a:defRPr>
            </a:pPr>
            <a:r>
              <a:t>Complexity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4031" y="2286000"/>
            <a:ext cx="3694176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A3D"/>
                </a:solidFill>
                <a:latin typeface="Aptos"/>
              </a:defRPr>
            </a:pPr>
            <a:r>
              <a:t>Time: O(n)</a:t>
            </a:r>
          </a:p>
          <a:p>
            <a:pPr>
              <a:spcAft>
                <a:spcPts val="600"/>
              </a:spcAft>
              <a:defRPr sz="1500" b="0">
                <a:solidFill>
                  <a:srgbClr val="1F2A3D"/>
                </a:solidFill>
                <a:latin typeface="Aptos"/>
              </a:defRPr>
            </a:pPr>
            <a:r>
              <a:t>Extra space: O(1)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337560"/>
            <a:ext cx="40233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B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14031" y="3447288"/>
            <a:ext cx="3694176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5B742"/>
                </a:solidFill>
                <a:latin typeface="Aptos"/>
              </a:defRPr>
            </a:pPr>
            <a:r>
              <a:t>Teaching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1" y="3794760"/>
            <a:ext cx="3694176" cy="11155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A3D"/>
                </a:solidFill>
                <a:latin typeface="Aptos"/>
              </a:defRPr>
            </a:pPr>
            <a:r>
              <a:t>Do we need to store every Fibonacci number to calculate the next one?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03A"/>
                </a:solidFill>
                <a:latin typeface="Aptos"/>
              </a:defRPr>
            </a:pPr>
            <a:r>
              <a:t>2. Basic recursion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980"/>
                </a:solidFill>
                <a:latin typeface="Aptos"/>
              </a:defRPr>
            </a:pPr>
            <a:r>
              <a:t>Translate the mathematical definition almost word for word.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B6980"/>
                </a:solidFill>
                <a:latin typeface="Aptos"/>
              </a:defRPr>
            </a:pPr>
            <a:r>
              <a:t>FIBONACCI • ALGORITHM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B698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669280" cy="3474720"/>
          </a:xfrm>
          <a:prstGeom prst="round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73152" rtlCol="0" anchor="ctr"/>
          <a:lstStyle/>
          <a:p>
            <a:pPr algn="ctr">
              <a:spcAft>
                <a:spcPts val="100"/>
              </a:spcAft>
              <a:defRPr sz="1800">
                <a:solidFill>
                  <a:srgbClr val="E0EBF9"/>
                </a:solidFill>
                <a:latin typeface="Cascadia Code"/>
              </a:defRPr>
            </a:pPr>
            <a:r>
              <a:t>def fib(n):</a:t>
            </a:r>
          </a:p>
          <a:p>
            <a:pPr>
              <a:spcAft>
                <a:spcPts val="100"/>
              </a:spcAft>
              <a:defRPr sz="1800">
                <a:solidFill>
                  <a:srgbClr val="E0EBF9"/>
                </a:solidFill>
                <a:latin typeface="Cascadia Code"/>
              </a:defRPr>
            </a:pPr>
            <a:r>
              <a:t>    if n &lt;= 1:</a:t>
            </a:r>
          </a:p>
          <a:p>
            <a:pPr>
              <a:spcAft>
                <a:spcPts val="100"/>
              </a:spcAft>
              <a:defRPr sz="1800">
                <a:solidFill>
                  <a:srgbClr val="E0EBF9"/>
                </a:solidFill>
                <a:latin typeface="Cascadia Code"/>
              </a:defRPr>
            </a:pPr>
            <a:r>
              <a:t>        return n  # Base cases</a:t>
            </a:r>
          </a:p>
          <a:p>
            <a:pPr>
              <a:spcAft>
                <a:spcPts val="100"/>
              </a:spcAft>
              <a:defRPr sz="18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800">
                <a:solidFill>
                  <a:srgbClr val="E0EBF9"/>
                </a:solidFill>
                <a:latin typeface="Cascadia Code"/>
              </a:defRPr>
            </a:pPr>
            <a:r>
              <a:t>    return fib(n - 1) + fib(n - 2)</a:t>
            </a:r>
          </a:p>
          <a:p>
            <a:pPr>
              <a:spcAft>
                <a:spcPts val="100"/>
              </a:spcAft>
              <a:defRPr sz="18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800">
                <a:solidFill>
                  <a:srgbClr val="E0EBF9"/>
                </a:solidFill>
                <a:latin typeface="Cascadia Code"/>
              </a:defRPr>
            </a:pPr>
            <a:r>
              <a:t>print(fib(5))  #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828800"/>
            <a:ext cx="42062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76872" y="1938528"/>
            <a:ext cx="3877055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7BEC8"/>
                </a:solidFill>
                <a:latin typeface="Aptos"/>
              </a:defRPr>
            </a:pPr>
            <a:r>
              <a:t>Two essential parts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6872" y="2286000"/>
            <a:ext cx="3877055" cy="8869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A3D"/>
                </a:solidFill>
                <a:latin typeface="Aptos"/>
              </a:defRPr>
            </a:pPr>
            <a:r>
              <a:t>Base case: stops recursion.</a:t>
            </a:r>
          </a:p>
          <a:p>
            <a:pPr>
              <a:spcAft>
                <a:spcPts val="600"/>
              </a:spcAft>
              <a:defRPr sz="1500" b="0">
                <a:solidFill>
                  <a:srgbClr val="1F2A3D"/>
                </a:solidFill>
                <a:latin typeface="Aptos"/>
              </a:defRPr>
            </a:pPr>
            <a:r>
              <a:t>Recursive case: solves smaller inputs.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3657600"/>
            <a:ext cx="42062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76872" y="3767328"/>
            <a:ext cx="3877055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25757"/>
                </a:solidFill>
                <a:latin typeface="Aptos"/>
              </a:defRPr>
            </a:pPr>
            <a:r>
              <a:t>Complexity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6872" y="4114800"/>
            <a:ext cx="3877055" cy="7040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A3D"/>
                </a:solidFill>
                <a:latin typeface="Aptos"/>
              </a:defRPr>
            </a:pPr>
            <a:r>
              <a:t>Time: O(2ⁿ) upper bound</a:t>
            </a:r>
          </a:p>
          <a:p>
            <a:pPr>
              <a:spcAft>
                <a:spcPts val="600"/>
              </a:spcAft>
              <a:defRPr sz="1500" b="0">
                <a:solidFill>
                  <a:srgbClr val="1F2A3D"/>
                </a:solidFill>
                <a:latin typeface="Aptos"/>
              </a:defRPr>
            </a:pPr>
            <a:r>
              <a:t>Call stack: O(n)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03A"/>
                </a:solidFill>
                <a:latin typeface="Aptos"/>
              </a:defRPr>
            </a:pPr>
            <a:r>
              <a:t>3. The hidden cost: repeated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980"/>
                </a:solidFill>
                <a:latin typeface="Aptos"/>
              </a:defRPr>
            </a:pPr>
            <a:r>
              <a:t>The same subproblems appear in multiple branches.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B6980"/>
                </a:solidFill>
                <a:latin typeface="Aptos"/>
              </a:defRPr>
            </a:pPr>
            <a:r>
              <a:t>FIBONACCI • ALGORITHM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B698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645920"/>
            <a:ext cx="1417320" cy="475488"/>
          </a:xfrm>
          <a:prstGeom prst="roundRect">
            <a:avLst/>
          </a:prstGeom>
          <a:solidFill>
            <a:srgbClr val="E1EC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03A"/>
                </a:solidFill>
              </a:defRPr>
            </a:pPr>
            <a:r>
              <a:t>fib(5)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2606040"/>
            <a:ext cx="1325880" cy="475488"/>
          </a:xfrm>
          <a:prstGeom prst="roundRect">
            <a:avLst/>
          </a:prstGeom>
          <a:solidFill>
            <a:srgbClr val="E1EC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03A"/>
                </a:solidFill>
              </a:defRPr>
            </a:pPr>
            <a:r>
              <a:t>fib(4)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606040"/>
            <a:ext cx="1325880" cy="475488"/>
          </a:xfrm>
          <a:prstGeom prst="roundRect">
            <a:avLst/>
          </a:prstGeom>
          <a:solidFill>
            <a:srgbClr val="E1EC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03A"/>
                </a:solidFill>
              </a:defRPr>
            </a:pPr>
            <a:r>
              <a:t>fib(3)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3611880"/>
            <a:ext cx="1325880" cy="475488"/>
          </a:xfrm>
          <a:prstGeom prst="roundRect">
            <a:avLst/>
          </a:prstGeom>
          <a:solidFill>
            <a:srgbClr val="FFF4DA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03A"/>
                </a:solidFill>
              </a:defRPr>
            </a:pPr>
            <a:r>
              <a:t>fib(3)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3611880"/>
            <a:ext cx="1325880" cy="475488"/>
          </a:xfrm>
          <a:prstGeom prst="roundRect">
            <a:avLst/>
          </a:prstGeom>
          <a:solidFill>
            <a:srgbClr val="E1EC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03A"/>
                </a:solidFill>
              </a:defRPr>
            </a:pPr>
            <a:r>
              <a:t>fib(2)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611880"/>
            <a:ext cx="1325880" cy="475488"/>
          </a:xfrm>
          <a:prstGeom prst="roundRect">
            <a:avLst/>
          </a:prstGeom>
          <a:solidFill>
            <a:srgbClr val="FFF4DA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03A"/>
                </a:solidFill>
              </a:defRPr>
            </a:pPr>
            <a:r>
              <a:t>fib(2)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3611880"/>
            <a:ext cx="1325880" cy="475488"/>
          </a:xfrm>
          <a:prstGeom prst="roundRect">
            <a:avLst/>
          </a:prstGeom>
          <a:solidFill>
            <a:srgbClr val="E1EC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03A"/>
                </a:solidFill>
              </a:defRPr>
            </a:pPr>
            <a:r>
              <a:t>fib(1)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657600" y="2121408"/>
            <a:ext cx="1828800" cy="484632"/>
          </a:xfrm>
          <a:prstGeom prst="line">
            <a:avLst/>
          </a:prstGeom>
          <a:ln w="19050">
            <a:solidFill>
              <a:srgbClr val="5B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26480" y="2121408"/>
            <a:ext cx="1645920" cy="484632"/>
          </a:xfrm>
          <a:prstGeom prst="line">
            <a:avLst/>
          </a:prstGeom>
          <a:ln w="19050">
            <a:solidFill>
              <a:srgbClr val="5B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103120" y="3081528"/>
            <a:ext cx="1280160" cy="530352"/>
          </a:xfrm>
          <a:prstGeom prst="line">
            <a:avLst/>
          </a:prstGeom>
          <a:ln w="19050">
            <a:solidFill>
              <a:srgbClr val="5B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749039" y="3081528"/>
            <a:ext cx="45721" cy="530352"/>
          </a:xfrm>
          <a:prstGeom prst="line">
            <a:avLst/>
          </a:prstGeom>
          <a:ln w="19050">
            <a:solidFill>
              <a:srgbClr val="5B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858000" y="3081528"/>
            <a:ext cx="548640" cy="530352"/>
          </a:xfrm>
          <a:prstGeom prst="line">
            <a:avLst/>
          </a:prstGeom>
          <a:ln w="19050">
            <a:solidFill>
              <a:srgbClr val="5B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138160" y="3081528"/>
            <a:ext cx="365760" cy="530352"/>
          </a:xfrm>
          <a:prstGeom prst="line">
            <a:avLst/>
          </a:prstGeom>
          <a:ln w="19050">
            <a:solidFill>
              <a:srgbClr val="5B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97280" y="4709160"/>
            <a:ext cx="978408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D25757"/>
                </a:solidFill>
                <a:latin typeface="Aptos"/>
              </a:defRPr>
            </a:pPr>
            <a:r>
              <a:t>Notice fib(3) and fib(2) appear more than once.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303520"/>
            <a:ext cx="987552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5B6980"/>
                </a:solidFill>
                <a:latin typeface="Aptos"/>
              </a:defRPr>
            </a:pPr>
            <a:r>
              <a:t>There are only n + 1 distinct inputs from 0 through n, but naive recursion revisits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03A"/>
                </a:solidFill>
                <a:latin typeface="Aptos"/>
              </a:defRPr>
            </a:pPr>
            <a:r>
              <a:t>4. Memoization: remember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980"/>
                </a:solidFill>
                <a:latin typeface="Aptos"/>
              </a:defRPr>
            </a:pPr>
            <a:r>
              <a:t>Top-down dynamic programming = recursion + a cache.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B6980"/>
                </a:solidFill>
                <a:latin typeface="Aptos"/>
              </a:defRPr>
            </a:pPr>
            <a:r>
              <a:t>FIBONACCI • ALGORITHM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B698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6583680" cy="4480560"/>
          </a:xfrm>
          <a:prstGeom prst="round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73152" rtlCol="0" anchor="ctr"/>
          <a:lstStyle/>
          <a:p>
            <a:pPr algn="ctr"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def fib(n, memo=None):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    if memo is None: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        memo = {}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    if n &lt;= 1: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        return n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    if n in memo: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        return memo[n]  # Reuse cached result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    memo[n] = fib(n - 1, memo) + fib(n - 2, memo)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    return memo[n]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print(fib(5))  #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828800"/>
            <a:ext cx="347472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9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08392" y="1938528"/>
            <a:ext cx="3145536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C9770"/>
                </a:solidFill>
                <a:latin typeface="Aptos"/>
              </a:defRPr>
            </a:pPr>
            <a:r>
              <a:t>Complexity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392" y="2286000"/>
            <a:ext cx="3145536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A3D"/>
                </a:solidFill>
                <a:latin typeface="Aptos"/>
              </a:defRPr>
            </a:pPr>
            <a:r>
              <a:t>Time: O(n)</a:t>
            </a:r>
          </a:p>
          <a:p>
            <a:pPr>
              <a:spcAft>
                <a:spcPts val="600"/>
              </a:spcAft>
              <a:defRPr sz="1500" b="0">
                <a:solidFill>
                  <a:srgbClr val="1F2A3D"/>
                </a:solidFill>
                <a:latin typeface="Aptos"/>
              </a:defRPr>
            </a:pPr>
            <a:r>
              <a:t>Extra space: O(n)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3383280"/>
            <a:ext cx="347472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08392" y="3493008"/>
            <a:ext cx="3145536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7BEC8"/>
                </a:solidFill>
                <a:latin typeface="Aptos"/>
              </a:defRPr>
            </a:pPr>
            <a:r>
              <a:t>Key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3840480"/>
            <a:ext cx="3145536" cy="11612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A3D"/>
                </a:solidFill>
                <a:latin typeface="Aptos"/>
              </a:defRPr>
            </a:pPr>
            <a:r>
              <a:t>Calculate each distinct input once; return stored results on later requests.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03A"/>
                </a:solidFill>
                <a:latin typeface="Aptos"/>
              </a:defRPr>
            </a:pPr>
            <a:r>
              <a:t>5. Bottom-up DP: tabulation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980"/>
                </a:solidFill>
                <a:latin typeface="Aptos"/>
              </a:defRPr>
            </a:pPr>
            <a:r>
              <a:t>Solve the smallest problems first, then build toward the requested answer.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B6980"/>
                </a:solidFill>
                <a:latin typeface="Aptos"/>
              </a:defRPr>
            </a:pPr>
            <a:r>
              <a:t>FIBONACCI • ALGORITHM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B698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852160" cy="4206240"/>
          </a:xfrm>
          <a:prstGeom prst="round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73152" rtlCol="0" anchor="ctr"/>
          <a:lstStyle/>
          <a:p>
            <a:pPr algn="ctr">
              <a:spcAft>
                <a:spcPts val="100"/>
              </a:spcAft>
              <a:defRPr sz="1600">
                <a:solidFill>
                  <a:srgbClr val="E0EBF9"/>
                </a:solidFill>
                <a:latin typeface="Cascadia Code"/>
              </a:defRPr>
            </a:pPr>
            <a:r>
              <a:t>def fib(n):</a:t>
            </a:r>
          </a:p>
          <a:p>
            <a:pPr>
              <a:spcAft>
                <a:spcPts val="100"/>
              </a:spcAft>
              <a:defRPr sz="1600">
                <a:solidFill>
                  <a:srgbClr val="E0EBF9"/>
                </a:solidFill>
                <a:latin typeface="Cascadia Code"/>
              </a:defRPr>
            </a:pPr>
            <a:r>
              <a:t>    if n &lt;= 1:</a:t>
            </a:r>
          </a:p>
          <a:p>
            <a:pPr>
              <a:spcAft>
                <a:spcPts val="100"/>
              </a:spcAft>
              <a:defRPr sz="1600">
                <a:solidFill>
                  <a:srgbClr val="E0EBF9"/>
                </a:solidFill>
                <a:latin typeface="Cascadia Code"/>
              </a:defRPr>
            </a:pPr>
            <a:r>
              <a:t>        return n</a:t>
            </a:r>
          </a:p>
          <a:p>
            <a:pPr>
              <a:spcAft>
                <a:spcPts val="100"/>
              </a:spcAft>
              <a:defRPr sz="16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600">
                <a:solidFill>
                  <a:srgbClr val="E0EBF9"/>
                </a:solidFill>
                <a:latin typeface="Cascadia Code"/>
              </a:defRPr>
            </a:pPr>
            <a:r>
              <a:t>    dp = [0] * (n + 1)</a:t>
            </a:r>
          </a:p>
          <a:p>
            <a:pPr>
              <a:spcAft>
                <a:spcPts val="100"/>
              </a:spcAft>
              <a:defRPr sz="1600">
                <a:solidFill>
                  <a:srgbClr val="E0EBF9"/>
                </a:solidFill>
                <a:latin typeface="Cascadia Code"/>
              </a:defRPr>
            </a:pPr>
            <a:r>
              <a:t>    dp[1] = 1</a:t>
            </a:r>
          </a:p>
          <a:p>
            <a:pPr>
              <a:spcAft>
                <a:spcPts val="100"/>
              </a:spcAft>
              <a:defRPr sz="16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600">
                <a:solidFill>
                  <a:srgbClr val="E0EBF9"/>
                </a:solidFill>
                <a:latin typeface="Cascadia Code"/>
              </a:defRPr>
            </a:pPr>
            <a:r>
              <a:t>    for i in range(2, n + 1):</a:t>
            </a:r>
          </a:p>
          <a:p>
            <a:pPr>
              <a:spcAft>
                <a:spcPts val="100"/>
              </a:spcAft>
              <a:defRPr sz="1600">
                <a:solidFill>
                  <a:srgbClr val="E0EBF9"/>
                </a:solidFill>
                <a:latin typeface="Cascadia Code"/>
              </a:defRPr>
            </a:pPr>
            <a:r>
              <a:t>        dp[i] = dp[i - 1] + dp[i - 2]</a:t>
            </a:r>
          </a:p>
          <a:p>
            <a:pPr>
              <a:spcAft>
                <a:spcPts val="100"/>
              </a:spcAft>
              <a:defRPr sz="16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600">
                <a:solidFill>
                  <a:srgbClr val="E0EBF9"/>
                </a:solidFill>
                <a:latin typeface="Cascadia Code"/>
              </a:defRPr>
            </a:pPr>
            <a:r>
              <a:t>    return dp[n]</a:t>
            </a:r>
          </a:p>
          <a:p>
            <a:pPr>
              <a:spcAft>
                <a:spcPts val="100"/>
              </a:spcAft>
              <a:defRPr sz="16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600">
                <a:solidFill>
                  <a:srgbClr val="E0EBF9"/>
                </a:solidFill>
                <a:latin typeface="Cascadia Code"/>
              </a:defRPr>
            </a:pPr>
            <a:r>
              <a:t>print(fib(5))  #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828800"/>
            <a:ext cx="429768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5B6980"/>
                </a:solidFill>
                <a:latin typeface="Aptos"/>
              </a:defRPr>
            </a:pPr>
            <a:r>
              <a:t>dp array as values are filled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2468880"/>
            <a:ext cx="585216" cy="685800"/>
          </a:xfrm>
          <a:prstGeom prst="roundRect">
            <a:avLst/>
          </a:prstGeom>
          <a:solidFill>
            <a:srgbClr val="E1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203A"/>
                </a:solidFill>
              </a:defRPr>
            </a:pPr>
            <a: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85432" y="3246120"/>
            <a:ext cx="6400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5B6980"/>
                </a:solidFill>
                <a:latin typeface="Aptos"/>
              </a:defRPr>
            </a:pPr>
            <a:r>
              <a:t>dp[0]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6952" y="2468880"/>
            <a:ext cx="585216" cy="685800"/>
          </a:xfrm>
          <a:prstGeom prst="roundRect">
            <a:avLst/>
          </a:prstGeom>
          <a:solidFill>
            <a:srgbClr val="E1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203A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98664" y="3246120"/>
            <a:ext cx="6400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5B6980"/>
                </a:solidFill>
                <a:latin typeface="Aptos"/>
              </a:defRPr>
            </a:pPr>
            <a:r>
              <a:t>dp[1]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0183" y="2468880"/>
            <a:ext cx="585216" cy="685800"/>
          </a:xfrm>
          <a:prstGeom prst="roundRect">
            <a:avLst/>
          </a:prstGeom>
          <a:solidFill>
            <a:srgbClr val="E1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203A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3246120"/>
            <a:ext cx="6400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5B6980"/>
                </a:solidFill>
                <a:latin typeface="Aptos"/>
              </a:defRPr>
            </a:pPr>
            <a:r>
              <a:t>dp[2]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43416" y="2468880"/>
            <a:ext cx="585216" cy="685800"/>
          </a:xfrm>
          <a:prstGeom prst="roundRect">
            <a:avLst/>
          </a:prstGeom>
          <a:solidFill>
            <a:srgbClr val="E1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203A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5128" y="3246120"/>
            <a:ext cx="6400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5B6980"/>
                </a:solidFill>
                <a:latin typeface="Aptos"/>
              </a:defRPr>
            </a:pPr>
            <a:r>
              <a:t>dp[3]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56648" y="2468880"/>
            <a:ext cx="585216" cy="685800"/>
          </a:xfrm>
          <a:prstGeom prst="roundRect">
            <a:avLst/>
          </a:prstGeom>
          <a:solidFill>
            <a:srgbClr val="E1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203A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8360" y="3246120"/>
            <a:ext cx="6400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5B6980"/>
                </a:solidFill>
                <a:latin typeface="Aptos"/>
              </a:defRPr>
            </a:pPr>
            <a:r>
              <a:t>dp[4]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69880" y="2468880"/>
            <a:ext cx="585216" cy="685800"/>
          </a:xfrm>
          <a:prstGeom prst="roundRect">
            <a:avLst/>
          </a:prstGeom>
          <a:solidFill>
            <a:srgbClr val="DE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203A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51592" y="3246120"/>
            <a:ext cx="6400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5B6980"/>
                </a:solidFill>
                <a:latin typeface="Aptos"/>
              </a:defRPr>
            </a:pPr>
            <a:r>
              <a:t>dp[5]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3931920"/>
            <a:ext cx="42062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14031" y="4041648"/>
            <a:ext cx="3877055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468B4"/>
                </a:solidFill>
                <a:latin typeface="Aptos"/>
              </a:defRPr>
            </a:pPr>
            <a:r>
              <a:t>Complexity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1" y="4389120"/>
            <a:ext cx="3877055" cy="6126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A3D"/>
                </a:solidFill>
                <a:latin typeface="Aptos"/>
              </a:defRPr>
            </a:pPr>
            <a:r>
              <a:t>Time: O(n)</a:t>
            </a:r>
          </a:p>
          <a:p>
            <a:pPr>
              <a:spcAft>
                <a:spcPts val="600"/>
              </a:spcAft>
              <a:defRPr sz="1500" b="0">
                <a:solidFill>
                  <a:srgbClr val="1F2A3D"/>
                </a:solidFill>
                <a:latin typeface="Aptos"/>
              </a:defRPr>
            </a:pPr>
            <a:r>
              <a:t>Extra space: O(n)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5349240"/>
            <a:ext cx="429768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F2A3D"/>
                </a:solidFill>
                <a:latin typeface="Aptos"/>
              </a:defRPr>
            </a:pPr>
            <a:r>
              <a:t>Memoization computes on demand; tabulation fills in a deliberate order.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03A"/>
                </a:solidFill>
                <a:latin typeface="Aptos"/>
              </a:defRPr>
            </a:pPr>
            <a:r>
              <a:t>6. Space-optimized DP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980"/>
                </a:solidFill>
                <a:latin typeface="Aptos"/>
              </a:defRPr>
            </a:pPr>
            <a:r>
              <a:t>Keep only the two values that the next step needs.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B6980"/>
                </a:solidFill>
                <a:latin typeface="Aptos"/>
              </a:defRPr>
            </a:pPr>
            <a:r>
              <a:t>FIBONACCI • ALGORITHM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B698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6400800" cy="4297680"/>
          </a:xfrm>
          <a:prstGeom prst="round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73152" rtlCol="0" anchor="ctr"/>
          <a:lstStyle/>
          <a:p>
            <a:pPr algn="ctr">
              <a:spcAft>
                <a:spcPts val="100"/>
              </a:spcAft>
              <a:defRPr sz="1700">
                <a:solidFill>
                  <a:srgbClr val="E0EBF9"/>
                </a:solidFill>
                <a:latin typeface="Cascadia Code"/>
              </a:defRPr>
            </a:pPr>
            <a:r>
              <a:t>def fib(n):</a:t>
            </a:r>
          </a:p>
          <a:p>
            <a:pPr>
              <a:spcAft>
                <a:spcPts val="100"/>
              </a:spcAft>
              <a:defRPr sz="1700">
                <a:solidFill>
                  <a:srgbClr val="E0EBF9"/>
                </a:solidFill>
                <a:latin typeface="Cascadia Code"/>
              </a:defRPr>
            </a:pPr>
            <a:r>
              <a:t>    if n &lt;= 1:</a:t>
            </a:r>
          </a:p>
          <a:p>
            <a:pPr>
              <a:spcAft>
                <a:spcPts val="100"/>
              </a:spcAft>
              <a:defRPr sz="1700">
                <a:solidFill>
                  <a:srgbClr val="E0EBF9"/>
                </a:solidFill>
                <a:latin typeface="Cascadia Code"/>
              </a:defRPr>
            </a:pPr>
            <a:r>
              <a:t>        return n</a:t>
            </a:r>
          </a:p>
          <a:p>
            <a:pPr>
              <a:spcAft>
                <a:spcPts val="100"/>
              </a:spcAft>
              <a:defRPr sz="17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700">
                <a:solidFill>
                  <a:srgbClr val="E0EBF9"/>
                </a:solidFill>
                <a:latin typeface="Cascadia Code"/>
              </a:defRPr>
            </a:pPr>
            <a:r>
              <a:t>    prev2, prev1 = 0, 1</a:t>
            </a:r>
          </a:p>
          <a:p>
            <a:pPr>
              <a:spcAft>
                <a:spcPts val="100"/>
              </a:spcAft>
              <a:defRPr sz="17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700">
                <a:solidFill>
                  <a:srgbClr val="E0EBF9"/>
                </a:solidFill>
                <a:latin typeface="Cascadia Code"/>
              </a:defRPr>
            </a:pPr>
            <a:r>
              <a:t>    for _ in range(2, n + 1):</a:t>
            </a:r>
          </a:p>
          <a:p>
            <a:pPr>
              <a:spcAft>
                <a:spcPts val="100"/>
              </a:spcAft>
              <a:defRPr sz="1700">
                <a:solidFill>
                  <a:srgbClr val="E0EBF9"/>
                </a:solidFill>
                <a:latin typeface="Cascadia Code"/>
              </a:defRPr>
            </a:pPr>
            <a:r>
              <a:t>        current = prev1 + prev2</a:t>
            </a:r>
          </a:p>
          <a:p>
            <a:pPr>
              <a:spcAft>
                <a:spcPts val="100"/>
              </a:spcAft>
              <a:defRPr sz="1700">
                <a:solidFill>
                  <a:srgbClr val="E0EBF9"/>
                </a:solidFill>
                <a:latin typeface="Cascadia Code"/>
              </a:defRPr>
            </a:pPr>
            <a:r>
              <a:t>        prev2, prev1 = prev1, current</a:t>
            </a:r>
          </a:p>
          <a:p>
            <a:pPr>
              <a:spcAft>
                <a:spcPts val="100"/>
              </a:spcAft>
              <a:defRPr sz="17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700">
                <a:solidFill>
                  <a:srgbClr val="E0EBF9"/>
                </a:solidFill>
                <a:latin typeface="Cascadia Code"/>
              </a:defRPr>
            </a:pPr>
            <a:r>
              <a:t>    return prev1</a:t>
            </a:r>
          </a:p>
          <a:p>
            <a:pPr>
              <a:spcAft>
                <a:spcPts val="100"/>
              </a:spcAft>
              <a:defRPr sz="17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700">
                <a:solidFill>
                  <a:srgbClr val="E0EBF9"/>
                </a:solidFill>
                <a:latin typeface="Cascadia Code"/>
              </a:defRPr>
            </a:pPr>
            <a:r>
              <a:t>print(fib(5))  #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965960"/>
            <a:ext cx="34747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9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62671" y="2075688"/>
            <a:ext cx="3145536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C9770"/>
                </a:solidFill>
                <a:latin typeface="Aptos"/>
              </a:defRPr>
            </a:pPr>
            <a:r>
              <a:t>The improvement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62671" y="2423160"/>
            <a:ext cx="3145536" cy="9326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A3D"/>
                </a:solidFill>
                <a:latin typeface="Aptos"/>
              </a:defRPr>
            </a:pPr>
            <a:r>
              <a:t>Time remains O(n).</a:t>
            </a:r>
          </a:p>
          <a:p>
            <a:pPr>
              <a:spcAft>
                <a:spcPts val="600"/>
              </a:spcAft>
              <a:defRPr sz="1500" b="0">
                <a:solidFill>
                  <a:srgbClr val="1F2A3D"/>
                </a:solidFill>
                <a:latin typeface="Aptos"/>
              </a:defRPr>
            </a:pPr>
            <a:r>
              <a:t>Extra space drops from O(n) to O(1).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3794760"/>
            <a:ext cx="34747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62671" y="3904488"/>
            <a:ext cx="3145536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7BEC8"/>
                </a:solidFill>
                <a:latin typeface="Aptos"/>
              </a:defRPr>
            </a:pPr>
            <a:r>
              <a:t>Design principle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1" y="4251960"/>
            <a:ext cx="3145536" cy="97840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A3D"/>
                </a:solidFill>
                <a:latin typeface="Aptos"/>
              </a:defRPr>
            </a:pPr>
            <a:r>
              <a:t>Keep only the information needed for the next computation.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03A"/>
                </a:solidFill>
                <a:latin typeface="Aptos"/>
              </a:defRPr>
            </a:pPr>
            <a:r>
              <a:t>7–8. Tail recursion and generators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980"/>
                </a:solidFill>
                <a:latin typeface="Aptos"/>
              </a:defRPr>
            </a:pPr>
            <a:r>
              <a:t>Two ways to change how values are carried or produced.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B6980"/>
                </a:solidFill>
                <a:latin typeface="Aptos"/>
              </a:defRPr>
            </a:pPr>
            <a:r>
              <a:t>FIBONACCI • ALGORITHM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B69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93776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3468B4"/>
                </a:solidFill>
                <a:latin typeface="Aptos"/>
              </a:defRPr>
            </a:pPr>
            <a:r>
              <a:t>Tail recursion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5303520" cy="2423160"/>
          </a:xfrm>
          <a:prstGeom prst="round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73152" rtlCol="0" anchor="ctr"/>
          <a:lstStyle/>
          <a:p>
            <a:pPr algn="ctr"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def fib(n, a=0, b=1):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    if n == 0: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        return a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    return fib(n - 1, b, a + b)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print(fib(5))  #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50292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2C9770"/>
                </a:solidFill>
                <a:latin typeface="Aptos"/>
              </a:defRPr>
            </a:pPr>
            <a:r>
              <a:t>Generator (lazy sequence)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48840"/>
            <a:ext cx="5303520" cy="2423160"/>
          </a:xfrm>
          <a:prstGeom prst="round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73152" rtlCol="0" anchor="ctr"/>
          <a:lstStyle/>
          <a:p>
            <a:pPr algn="ctr"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def fibonacci():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    a, b = 0, 1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    while True: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        yield a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        a, b = b, a +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92040"/>
            <a:ext cx="521208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B6980"/>
                </a:solidFill>
                <a:latin typeface="Aptos"/>
              </a:defRPr>
            </a:pPr>
            <a:r>
              <a:t>Tail recursion carries results forward, but Python still uses stack space.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892040"/>
            <a:ext cx="502920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B6980"/>
                </a:solidFill>
                <a:latin typeface="Aptos"/>
              </a:defRPr>
            </a:pPr>
            <a:r>
              <a:t>A generator pauses at yield and computes the next value only when requested.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03A"/>
                </a:solidFill>
                <a:latin typeface="Aptos"/>
              </a:defRPr>
            </a:pPr>
            <a:r>
              <a:t>9. Explicit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980"/>
                </a:solidFill>
                <a:latin typeface="Aptos"/>
              </a:defRPr>
            </a:pPr>
            <a:r>
              <a:t>Recursion can be simulated by managing a stack ourselves.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B6980"/>
                </a:solidFill>
                <a:latin typeface="Aptos"/>
              </a:defRPr>
            </a:pPr>
            <a:r>
              <a:t>FIBONACCI • ALGORITHM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B69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7406640" cy="4572000"/>
          </a:xfrm>
          <a:prstGeom prst="round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73152" rtlCol="0" anchor="ctr"/>
          <a:lstStyle/>
          <a:p>
            <a:pPr algn="ctr"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def fib(n):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    stack = [(n, False)]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    memo = {}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    while stack: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        k, ready = stack.pop()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        if k &lt;= 1: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            memo[k] = k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        elif k in memo: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            continue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        elif ready: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            memo[k] = memo[k - 1] + memo[k - 2]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        else: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            stack.append((k, True))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            if k - 2 not in memo: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                stack.append((k - 2, False))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            if k - 1 not in memo: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                stack.append((k - 1, False))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    return memo[n]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1965960"/>
            <a:ext cx="2834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B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31352" y="2075688"/>
            <a:ext cx="2505456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5B742"/>
                </a:solidFill>
                <a:latin typeface="Aptos"/>
              </a:defRPr>
            </a:pPr>
            <a:r>
              <a:t>Why learn this?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1352" y="2423160"/>
            <a:ext cx="2505456" cy="1527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A3D"/>
                </a:solidFill>
                <a:latin typeface="Aptos"/>
              </a:defRPr>
            </a:pPr>
            <a:r>
              <a:t>It reveals what a call stack does and helps with iterative DFS, parsing, and tree traversal.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03A"/>
                </a:solidFill>
                <a:latin typeface="Aptos"/>
              </a:defRPr>
            </a:pPr>
            <a:r>
              <a:t>10. Matrix exponentiation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980"/>
                </a:solidFill>
                <a:latin typeface="Aptos"/>
              </a:defRPr>
            </a:pPr>
            <a:r>
              <a:t>Use algebra to skip many intermediate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B6980"/>
                </a:solidFill>
                <a:latin typeface="Aptos"/>
              </a:defRPr>
            </a:pPr>
            <a:r>
              <a:t>FIBONACCI • ALGORITHM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B69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38242"/>
            <a:ext cx="6583680" cy="1828800"/>
          </a:xfrm>
          <a:prstGeom prst="round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73152" rtlCol="0" anchor="ctr"/>
          <a:lstStyle/>
          <a:p>
            <a:pPr algn="ctr">
              <a:spcAft>
                <a:spcPts val="100"/>
              </a:spcAft>
              <a:defRPr sz="1400">
                <a:solidFill>
                  <a:srgbClr val="E0EBF9"/>
                </a:solidFill>
                <a:latin typeface="Cascadia Code"/>
              </a:defRPr>
            </a:pPr>
            <a:r>
              <a:rPr dirty="0"/>
              <a:t>def power(M, p):</a:t>
            </a:r>
          </a:p>
          <a:p>
            <a:pPr>
              <a:spcAft>
                <a:spcPts val="100"/>
              </a:spcAft>
              <a:defRPr sz="1400">
                <a:solidFill>
                  <a:srgbClr val="E0EBF9"/>
                </a:solidFill>
                <a:latin typeface="Cascadia Code"/>
              </a:defRPr>
            </a:pPr>
            <a:r>
              <a:rPr dirty="0"/>
              <a:t>    result = [[1, 0], [0, 1]]  # Identity matrix</a:t>
            </a:r>
          </a:p>
          <a:p>
            <a:pPr>
              <a:spcAft>
                <a:spcPts val="100"/>
              </a:spcAft>
              <a:defRPr sz="1400">
                <a:solidFill>
                  <a:srgbClr val="E0EBF9"/>
                </a:solidFill>
                <a:latin typeface="Cascadia Code"/>
              </a:defRPr>
            </a:pPr>
            <a:r>
              <a:rPr dirty="0"/>
              <a:t>    while p:</a:t>
            </a:r>
          </a:p>
          <a:p>
            <a:pPr>
              <a:spcAft>
                <a:spcPts val="100"/>
              </a:spcAft>
              <a:defRPr sz="1400">
                <a:solidFill>
                  <a:srgbClr val="E0EBF9"/>
                </a:solidFill>
                <a:latin typeface="Cascadia Code"/>
              </a:defRPr>
            </a:pPr>
            <a:r>
              <a:rPr dirty="0"/>
              <a:t>        if p % 2:</a:t>
            </a:r>
          </a:p>
          <a:p>
            <a:pPr>
              <a:spcAft>
                <a:spcPts val="100"/>
              </a:spcAft>
              <a:defRPr sz="1400">
                <a:solidFill>
                  <a:srgbClr val="E0EBF9"/>
                </a:solidFill>
                <a:latin typeface="Cascadia Code"/>
              </a:defRPr>
            </a:pPr>
            <a:r>
              <a:rPr dirty="0"/>
              <a:t>            result = multiply(result, M)</a:t>
            </a:r>
          </a:p>
          <a:p>
            <a:pPr>
              <a:spcAft>
                <a:spcPts val="100"/>
              </a:spcAft>
              <a:defRPr sz="1400">
                <a:solidFill>
                  <a:srgbClr val="E0EBF9"/>
                </a:solidFill>
                <a:latin typeface="Cascadia Code"/>
              </a:defRPr>
            </a:pPr>
            <a:r>
              <a:rPr dirty="0"/>
              <a:t>        M = multiply(M, M)      # Square the matrix</a:t>
            </a:r>
          </a:p>
          <a:p>
            <a:pPr>
              <a:spcAft>
                <a:spcPts val="100"/>
              </a:spcAft>
              <a:defRPr sz="1400">
                <a:solidFill>
                  <a:srgbClr val="E0EBF9"/>
                </a:solidFill>
                <a:latin typeface="Cascadia Code"/>
              </a:defRPr>
            </a:pPr>
            <a:r>
              <a:rPr dirty="0"/>
              <a:t>        p //= 2</a:t>
            </a:r>
          </a:p>
          <a:p>
            <a:pPr>
              <a:spcAft>
                <a:spcPts val="100"/>
              </a:spcAft>
              <a:defRPr sz="1400">
                <a:solidFill>
                  <a:srgbClr val="E0EBF9"/>
                </a:solidFill>
                <a:latin typeface="Cascadia Code"/>
              </a:defRPr>
            </a:pPr>
            <a:r>
              <a:rPr dirty="0"/>
              <a:t>    return result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59" y="4041648"/>
            <a:ext cx="34290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45551" y="4151376"/>
            <a:ext cx="3099816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7BEC8"/>
                </a:solidFill>
                <a:latin typeface="Aptos"/>
              </a:defRPr>
            </a:pPr>
            <a:r>
              <a:t>Complexity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1" y="4498848"/>
            <a:ext cx="3099816" cy="8869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A3D"/>
                </a:solidFill>
                <a:latin typeface="Aptos"/>
              </a:defRPr>
            </a:pPr>
            <a:r>
              <a:t>O(log n) matrix multiplications.</a:t>
            </a:r>
          </a:p>
          <a:p>
            <a:pPr>
              <a:spcAft>
                <a:spcPts val="600"/>
              </a:spcAft>
              <a:defRPr sz="1500" b="0">
                <a:solidFill>
                  <a:srgbClr val="1F2A3D"/>
                </a:solidFill>
                <a:latin typeface="Aptos"/>
              </a:defRPr>
            </a:pPr>
            <a:r>
              <a:t>The matrices are fixed size, so auxiliary space is O(1).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5486400"/>
            <a:ext cx="33832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B6980"/>
                </a:solidFill>
                <a:latin typeface="Aptos"/>
              </a:defRPr>
            </a:pPr>
            <a:r>
              <a:t>The full implementation needs a 2×2 matrix-multiplication helper.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E39A687-8AA0-952F-6014-9099BEA96D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528" b="18864"/>
          <a:stretch>
            <a:fillRect/>
          </a:stretch>
        </p:blipFill>
        <p:spPr>
          <a:xfrm>
            <a:off x="367973" y="1340180"/>
            <a:ext cx="10924867" cy="24677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03A"/>
                </a:solidFill>
                <a:latin typeface="Aptos"/>
              </a:defRPr>
            </a:pPr>
            <a:r>
              <a:t>11. Fast doubling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980"/>
                </a:solidFill>
                <a:latin typeface="Aptos"/>
              </a:defRPr>
            </a:pPr>
            <a:r>
              <a:t>Compute F(2k) and F(2k+1) from F(k) and F(k+1).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B6980"/>
                </a:solidFill>
                <a:latin typeface="Aptos"/>
              </a:defRPr>
            </a:pPr>
            <a:r>
              <a:t>FIBONACCI • ALGORITHM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B69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4241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3468B4"/>
                </a:solidFill>
                <a:latin typeface="Aptos"/>
              </a:defRPr>
            </a:pPr>
            <a:r>
              <a:t>F(2k) = F(k) × [2F(k+1) − F(k)]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104241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3468B4"/>
                </a:solidFill>
                <a:latin typeface="Aptos"/>
              </a:defRPr>
            </a:pPr>
            <a:r>
              <a:rPr dirty="0"/>
              <a:t>F(2k+1) = F(k)² + F(k+1)²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6675120" cy="2606040"/>
          </a:xfrm>
          <a:prstGeom prst="round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73152" rtlCol="0" anchor="ctr"/>
          <a:lstStyle/>
          <a:p>
            <a:pPr algn="ctr"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def fib(n):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    if n == 0: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        return 0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    a = fib(n // 2)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    b = fib(n // 2 + 1)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    c = a * (2 * b - a)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    d = a * a + b * b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    return c if n % 2 == 0 else 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3657600"/>
            <a:ext cx="333756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9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82712" y="3767328"/>
            <a:ext cx="3008376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C9770"/>
                </a:solidFill>
                <a:latin typeface="Aptos"/>
              </a:defRPr>
            </a:pPr>
            <a:r>
              <a:t>Why it's powerful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2" y="4114800"/>
            <a:ext cx="3008376" cy="97840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A3D"/>
                </a:solidFill>
                <a:latin typeface="Aptos"/>
              </a:defRPr>
            </a:pPr>
            <a:r>
              <a:t>Each level halves n.</a:t>
            </a:r>
          </a:p>
          <a:p>
            <a:pPr>
              <a:spcAft>
                <a:spcPts val="600"/>
              </a:spcAft>
              <a:defRPr sz="1500" b="0">
                <a:solidFill>
                  <a:srgbClr val="1F2A3D"/>
                </a:solidFill>
                <a:latin typeface="Aptos"/>
              </a:defRPr>
            </a:pPr>
            <a:r>
              <a:t>Time: O(log n) arithmetic operations.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5440680"/>
            <a:ext cx="329184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B6980"/>
                </a:solidFill>
                <a:latin typeface="Aptos"/>
              </a:defRPr>
            </a:pPr>
            <a:r>
              <a:t>Great choice for a single Fibonacci number when n is large.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03A"/>
                </a:solidFill>
                <a:latin typeface="Aptos"/>
              </a:defRPr>
            </a:pPr>
            <a:r>
              <a:t>12. Binet's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980"/>
                </a:solidFill>
                <a:latin typeface="Aptos"/>
              </a:defRPr>
            </a:pPr>
            <a:r>
              <a:t>A closed-form expression connects Fibonacci to the golden ratio.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B6980"/>
                </a:solidFill>
                <a:latin typeface="Aptos"/>
              </a:defRPr>
            </a:pPr>
            <a:r>
              <a:t>FIBONACCI • ALGORITHM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B698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3468B4"/>
                </a:solidFill>
                <a:latin typeface="Aptos"/>
              </a:defRPr>
            </a:pPr>
            <a:r>
              <a:t>φ = (1 + √5) / 2       ψ = (1 − √5) /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7955279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4203A"/>
                </a:solidFill>
                <a:latin typeface="Aptos"/>
              </a:defRPr>
            </a:pPr>
            <a:r>
              <a:t>F(n) = (φⁿ − ψⁿ) / √5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5760720" cy="2057400"/>
          </a:xfrm>
          <a:prstGeom prst="round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73152" rtlCol="0" anchor="ctr"/>
          <a:lstStyle/>
          <a:p>
            <a:pPr algn="ctr"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from math import sqrt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def fib(n):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    phi = (1 + sqrt(5)) / 2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    psi = (1 - sqrt(5)) / 2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    return round((phi**n - psi**n) / sqrt(5))</a:t>
            </a:r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500">
                <a:solidFill>
                  <a:srgbClr val="E0EBF9"/>
                </a:solidFill>
                <a:latin typeface="Cascadia Code"/>
              </a:defRPr>
            </a:pPr>
            <a:r>
              <a:t>print(fib(5))  #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3794760"/>
            <a:ext cx="420624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68312" y="3904488"/>
            <a:ext cx="3877055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25757"/>
                </a:solidFill>
                <a:latin typeface="Aptos"/>
              </a:defRPr>
            </a:pPr>
            <a:r>
              <a:t>Caution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8312" y="4251960"/>
            <a:ext cx="3877055" cy="10698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A3D"/>
                </a:solidFill>
                <a:latin typeface="Aptos"/>
              </a:defRPr>
            </a:pPr>
            <a:r>
              <a:t>Floating-point rounding makes this unreliable for sufficiently large n. Prefer exact integer algorithms when correctness matters.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03A"/>
                </a:solidFill>
                <a:latin typeface="Aptos"/>
              </a:defRPr>
            </a:pPr>
            <a:r>
              <a:t>13. Modular Fibonacci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980"/>
                </a:solidFill>
                <a:latin typeface="Aptos"/>
              </a:defRPr>
            </a:pPr>
            <a:r>
              <a:t>Sometimes the remainder is all we need.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B6980"/>
                </a:solidFill>
                <a:latin typeface="Aptos"/>
              </a:defRPr>
            </a:pPr>
            <a:r>
              <a:t>FIBONACCI • ALGORITHM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B69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24128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3468B4"/>
                </a:solidFill>
                <a:latin typeface="Aptos"/>
              </a:defRPr>
            </a:pPr>
            <a:r>
              <a:t>F(5) = 5, so F(5) mod 3 =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6126480" cy="3108960"/>
          </a:xfrm>
          <a:prstGeom prst="round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73152" rtlCol="0" anchor="ctr"/>
          <a:lstStyle/>
          <a:p>
            <a:pPr algn="ctr">
              <a:spcAft>
                <a:spcPts val="100"/>
              </a:spcAft>
              <a:defRPr sz="1600">
                <a:solidFill>
                  <a:srgbClr val="E0EBF9"/>
                </a:solidFill>
                <a:latin typeface="Cascadia Code"/>
              </a:defRPr>
            </a:pPr>
            <a:r>
              <a:t>def fib_mod(n, mod):</a:t>
            </a:r>
          </a:p>
          <a:p>
            <a:pPr>
              <a:spcAft>
                <a:spcPts val="100"/>
              </a:spcAft>
              <a:defRPr sz="1600">
                <a:solidFill>
                  <a:srgbClr val="E0EBF9"/>
                </a:solidFill>
                <a:latin typeface="Cascadia Code"/>
              </a:defRPr>
            </a:pPr>
            <a:r>
              <a:t>    a, b = 0, 1</a:t>
            </a:r>
          </a:p>
          <a:p>
            <a:pPr>
              <a:spcAft>
                <a:spcPts val="100"/>
              </a:spcAft>
              <a:defRPr sz="16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600">
                <a:solidFill>
                  <a:srgbClr val="E0EBF9"/>
                </a:solidFill>
                <a:latin typeface="Cascadia Code"/>
              </a:defRPr>
            </a:pPr>
            <a:r>
              <a:t>    for _ in range(n):</a:t>
            </a:r>
          </a:p>
          <a:p>
            <a:pPr>
              <a:spcAft>
                <a:spcPts val="100"/>
              </a:spcAft>
              <a:defRPr sz="1600">
                <a:solidFill>
                  <a:srgbClr val="E0EBF9"/>
                </a:solidFill>
                <a:latin typeface="Cascadia Code"/>
              </a:defRPr>
            </a:pPr>
            <a:r>
              <a:t>        # Keep numbers bounded by the modulus</a:t>
            </a:r>
          </a:p>
          <a:p>
            <a:pPr>
              <a:spcAft>
                <a:spcPts val="100"/>
              </a:spcAft>
              <a:defRPr sz="1600">
                <a:solidFill>
                  <a:srgbClr val="E0EBF9"/>
                </a:solidFill>
                <a:latin typeface="Cascadia Code"/>
              </a:defRPr>
            </a:pPr>
            <a:r>
              <a:t>        a, b = b % mod, (a + b) % mod</a:t>
            </a:r>
          </a:p>
          <a:p>
            <a:pPr>
              <a:spcAft>
                <a:spcPts val="100"/>
              </a:spcAft>
              <a:defRPr sz="16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600">
                <a:solidFill>
                  <a:srgbClr val="E0EBF9"/>
                </a:solidFill>
                <a:latin typeface="Cascadia Code"/>
              </a:defRPr>
            </a:pPr>
            <a:r>
              <a:t>    return a</a:t>
            </a:r>
          </a:p>
          <a:p>
            <a:pPr>
              <a:spcAft>
                <a:spcPts val="100"/>
              </a:spcAft>
              <a:defRPr sz="16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600">
                <a:solidFill>
                  <a:srgbClr val="E0EBF9"/>
                </a:solidFill>
                <a:latin typeface="Cascadia Code"/>
              </a:defRPr>
            </a:pPr>
            <a:r>
              <a:t>print(fib_mod(5, 3))  #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3108960"/>
            <a:ext cx="36576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B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79792" y="3218688"/>
            <a:ext cx="3328416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5B742"/>
                </a:solidFill>
                <a:latin typeface="Aptos"/>
              </a:defRPr>
            </a:pPr>
            <a:r>
              <a:t>Where it appears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9792" y="3566160"/>
            <a:ext cx="3328416" cy="11155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A3D"/>
                </a:solidFill>
                <a:latin typeface="Aptos"/>
              </a:defRPr>
            </a:pPr>
            <a:r>
              <a:t>Competitive programming, number theory, and problems where exact huge integers are unnecessary.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5074920"/>
            <a:ext cx="365760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B6980"/>
                </a:solidFill>
                <a:latin typeface="Aptos"/>
              </a:defRPr>
            </a:pPr>
            <a:r>
              <a:t>Fibonacci modulo m is periodic: this is called the Pisano period.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03A"/>
                </a:solidFill>
                <a:latin typeface="Aptos"/>
              </a:defRPr>
            </a:pPr>
            <a:r>
              <a:t>14. Parallel recursion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980"/>
                </a:solidFill>
                <a:latin typeface="Aptos"/>
              </a:defRPr>
            </a:pPr>
            <a:r>
              <a:t>Independent branches can run concurrently, but parallelism is not automatically faster.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B6980"/>
                </a:solidFill>
                <a:latin typeface="Aptos"/>
              </a:defRPr>
            </a:pPr>
            <a:r>
              <a:t>FIBONACCI • ALGORITHM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B698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7772400" cy="4434840"/>
          </a:xfrm>
          <a:prstGeom prst="round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73152" rtlCol="0" anchor="ctr"/>
          <a:lstStyle/>
          <a:p>
            <a:pPr algn="ctr"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from concurrent.futures import ProcessPoolExecutor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def fib_seq(n):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    if n &lt;= 1: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        return n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    return fib_seq(n - 1) + fib_seq(n - 2)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def fib_parallel(n):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    if n &lt;= 1: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        return n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    if n &lt; 20: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        return fib_seq(n)  # Avoid process overhead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    with ProcessPoolExecutor(max_workers=2) as pool: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        left = pool.submit(fib_seq, n - 1)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        right = pool.submit(fib_seq, n - 2)</a:t>
            </a:r>
          </a:p>
          <a:p>
            <a:pPr>
              <a:spcAft>
                <a:spcPts val="100"/>
              </a:spcAft>
              <a:defRPr sz="1300">
                <a:solidFill>
                  <a:srgbClr val="E0EBF9"/>
                </a:solidFill>
                <a:latin typeface="Cascadia Code"/>
              </a:defRPr>
            </a:pPr>
            <a:r>
              <a:t>        return left.result() + right.result()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2057400"/>
            <a:ext cx="24688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51392" y="2167128"/>
            <a:ext cx="2139696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25757"/>
                </a:solidFill>
                <a:latin typeface="Aptos"/>
              </a:defRPr>
            </a:pPr>
            <a:r>
              <a:t>Key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1392" y="2514600"/>
            <a:ext cx="2139696" cy="17556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A3D"/>
                </a:solidFill>
                <a:latin typeface="Aptos"/>
              </a:defRPr>
            </a:pPr>
            <a:r>
              <a:t>Parallelism changes execution, not the amount of duplicated work.</a:t>
            </a:r>
          </a:p>
          <a:p>
            <a:pPr>
              <a:spcAft>
                <a:spcPts val="600"/>
              </a:spcAft>
              <a:defRPr sz="1500" b="0">
                <a:solidFill>
                  <a:srgbClr val="1F2A3D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500" b="0">
                <a:solidFill>
                  <a:srgbClr val="1F2A3D"/>
                </a:solidFill>
                <a:latin typeface="Aptos"/>
              </a:defRPr>
            </a:pPr>
            <a:r>
              <a:t>Optimize the algorithm first.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03A"/>
                </a:solidFill>
                <a:latin typeface="Aptos"/>
              </a:defRPr>
            </a:pPr>
            <a:r>
              <a:t>Compare the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980"/>
                </a:solidFill>
                <a:latin typeface="Aptos"/>
              </a:defRPr>
            </a:pPr>
            <a:r>
              <a:t>Complexity is a guide—not the whole 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B6980"/>
                </a:solidFill>
                <a:latin typeface="Aptos"/>
              </a:defRPr>
            </a:pPr>
            <a:r>
              <a:t>FIBONACCI • ALGORITHM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B6980"/>
                </a:solidFill>
                <a:latin typeface="Aptos"/>
              </a:defRPr>
            </a:pPr>
            <a: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91640"/>
          <a:ext cx="107899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065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Auxiliary space</a:t>
                      </a:r>
                    </a:p>
                  </a:txBody>
                  <a:tcPr>
                    <a:solidFill>
                      <a:srgbClr val="142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A3D"/>
                          </a:solidFill>
                        </a:defRPr>
                      </a:pPr>
                      <a:r>
                        <a:t>Naive recursion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A3D"/>
                          </a:solidFill>
                        </a:defRPr>
                      </a:pPr>
                      <a:r>
                        <a:t>O(2ⁿ) upper bound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A3D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A3D"/>
                          </a:solidFill>
                        </a:defRPr>
                      </a:pPr>
                      <a:r>
                        <a:t>Memoization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A3D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A3D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A3D"/>
                          </a:solidFill>
                        </a:defRPr>
                      </a:pPr>
                      <a:r>
                        <a:t>Bottom-up 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A3D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A3D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A3D"/>
                          </a:solidFill>
                        </a:defRPr>
                      </a:pPr>
                      <a:r>
                        <a:t>Space-optimized DP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A3D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A3D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A3D"/>
                          </a:solidFill>
                        </a:defRPr>
                      </a:pPr>
                      <a:r>
                        <a:t>Matrix exponentiation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A3D"/>
                          </a:solidFill>
                        </a:defRPr>
                      </a:pPr>
                      <a:r>
                        <a:t>O(log n) 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A3D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A3D"/>
                          </a:solidFill>
                        </a:defRPr>
                      </a:pPr>
                      <a:r>
                        <a:t>Fast doubling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A3D"/>
                          </a:solidFill>
                        </a:defRPr>
                      </a:pPr>
                      <a:r>
                        <a:t>O(log n) ops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A3D"/>
                          </a:solidFill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A3D"/>
                          </a:solidFill>
                        </a:defRPr>
                      </a:pPr>
                      <a:r>
                        <a:t>Binet (floating point)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A3D"/>
                          </a:solidFill>
                        </a:defRPr>
                      </a:pPr>
                      <a:r>
                        <a:t>Constant formula count*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A3D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943600"/>
            <a:ext cx="106070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B6980"/>
                </a:solidFill>
                <a:latin typeface="Aptos"/>
              </a:defRPr>
            </a:pPr>
            <a:r>
              <a:t>*A constant number of formula operations does not imply exact constant-time computation for arbitrary-size integers.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03A"/>
                </a:solidFill>
                <a:latin typeface="Aptos"/>
              </a:defRPr>
            </a:pPr>
            <a:r>
              <a:t>Facts that amaze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980"/>
                </a:solidFill>
                <a:latin typeface="Aptos"/>
              </a:defRPr>
            </a:pPr>
            <a:r>
              <a:t>Use these as discussion prompts or end-of-class takeaways.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B6980"/>
                </a:solidFill>
                <a:latin typeface="Aptos"/>
              </a:defRPr>
            </a:pPr>
            <a:r>
              <a:t>FIBONACCI • ALGORITHM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B6980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4805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>
              <a:buChar char="•"/>
              <a:defRPr sz="1800">
                <a:solidFill>
                  <a:srgbClr val="1F2A3D"/>
                </a:solidFill>
                <a:latin typeface="Aptos"/>
              </a:defRPr>
            </a:pPr>
            <a:r>
              <a:t>F(40) takes roughly 331 million calls with naive recursion—despite only 41 distinct input values.</a:t>
            </a:r>
          </a:p>
          <a:p>
            <a:pPr>
              <a:buChar char="•"/>
              <a:defRPr sz="1800">
                <a:solidFill>
                  <a:srgbClr val="1F2A3D"/>
                </a:solidFill>
                <a:latin typeface="Aptos"/>
              </a:defRPr>
            </a:pPr>
            <a:r>
              <a:t>Memoization and tabulation are both dynamic programming; they differ mainly in direction and evaluation order.</a:t>
            </a:r>
          </a:p>
          <a:p>
            <a:pPr>
              <a:buChar char="•"/>
              <a:defRPr sz="1800">
                <a:solidFill>
                  <a:srgbClr val="1F2A3D"/>
                </a:solidFill>
                <a:latin typeface="Aptos"/>
              </a:defRPr>
            </a:pPr>
            <a:r>
              <a:t>Fast doubling reduces the number of arithmetic steps from linear to logarithmic.</a:t>
            </a:r>
          </a:p>
          <a:p>
            <a:pPr>
              <a:buChar char="•"/>
              <a:defRPr sz="1800">
                <a:solidFill>
                  <a:srgbClr val="1F2A3D"/>
                </a:solidFill>
                <a:latin typeface="Aptos"/>
              </a:defRPr>
            </a:pPr>
            <a:r>
              <a:t>Fibonacci numbers are connected to the golden ratio, φ ≈ 1.618.</a:t>
            </a:r>
          </a:p>
          <a:p>
            <a:pPr>
              <a:buChar char="•"/>
              <a:defRPr sz="1800">
                <a:solidFill>
                  <a:srgbClr val="1F2A3D"/>
                </a:solidFill>
                <a:latin typeface="Aptos"/>
              </a:defRPr>
            </a:pPr>
            <a:r>
              <a:t>Fibonacci modulo m repeats in a cycle called the Pisano period.</a:t>
            </a:r>
          </a:p>
          <a:p>
            <a:pPr>
              <a:buChar char="•"/>
              <a:defRPr sz="1800">
                <a:solidFill>
                  <a:srgbClr val="1F2A3D"/>
                </a:solidFill>
                <a:latin typeface="Aptos"/>
              </a:defRPr>
            </a:pPr>
            <a:r>
              <a:t>Parallel execution can make a poor algorithm run concurrently without removing its redundant work.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03A"/>
                </a:solidFill>
                <a:latin typeface="Aptos"/>
              </a:defRPr>
            </a:pPr>
            <a:r>
              <a:t>Check for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980"/>
                </a:solidFill>
                <a:latin typeface="Aptos"/>
              </a:defRPr>
            </a:pPr>
            <a:r>
              <a:t>Ask students to discuss before revealing the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5B6980"/>
                </a:solidFill>
                <a:latin typeface="Aptos"/>
              </a:defRPr>
            </a:pPr>
            <a:r>
              <a:t>FIBONACCI • ALGORITHM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5B6980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2976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>
              <a:buChar char="•"/>
              <a:defRPr sz="2000">
                <a:solidFill>
                  <a:srgbClr val="1F2A3D"/>
                </a:solidFill>
                <a:latin typeface="Aptos"/>
              </a:defRPr>
            </a:pPr>
            <a:r>
              <a:t>1. Why does naive recursion repeat calculations?</a:t>
            </a:r>
          </a:p>
          <a:p>
            <a:pPr>
              <a:buChar char="•"/>
              <a:defRPr sz="2000">
                <a:solidFill>
                  <a:srgbClr val="1F2A3D"/>
                </a:solidFill>
                <a:latin typeface="Aptos"/>
              </a:defRPr>
            </a:pPr>
            <a:r>
              <a:t>2. What does the memo dictionary store?</a:t>
            </a:r>
          </a:p>
          <a:p>
            <a:pPr>
              <a:buChar char="•"/>
              <a:defRPr sz="2000">
                <a:solidFill>
                  <a:srgbClr val="1F2A3D"/>
                </a:solidFill>
                <a:latin typeface="Aptos"/>
              </a:defRPr>
            </a:pPr>
            <a:r>
              <a:t>3. What is the key difference between memoization and tabulation?</a:t>
            </a:r>
          </a:p>
          <a:p>
            <a:pPr>
              <a:buChar char="•"/>
              <a:defRPr sz="2000">
                <a:solidFill>
                  <a:srgbClr val="1F2A3D"/>
                </a:solidFill>
                <a:latin typeface="Aptos"/>
              </a:defRPr>
            </a:pPr>
            <a:r>
              <a:t>4. Why can space-optimized DP use O(1) extra space?</a:t>
            </a:r>
          </a:p>
          <a:p>
            <a:pPr>
              <a:buChar char="•"/>
              <a:defRPr sz="2000">
                <a:solidFill>
                  <a:srgbClr val="1F2A3D"/>
                </a:solidFill>
                <a:latin typeface="Aptos"/>
              </a:defRPr>
            </a:pPr>
            <a:r>
              <a:t>5. Does parallelism remove duplicated work?</a:t>
            </a:r>
          </a:p>
          <a:p>
            <a:pPr>
              <a:buChar char="•"/>
              <a:defRPr sz="2000">
                <a:solidFill>
                  <a:srgbClr val="1F2A3D"/>
                </a:solidFill>
                <a:latin typeface="Aptos"/>
              </a:defRPr>
            </a:pPr>
            <a:r>
              <a:t>6. Which method would you choose for a huge n, and why?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51560"/>
            <a:ext cx="6858000" cy="1645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One problem.</a:t>
            </a:r>
          </a:p>
          <a:p>
            <a:pPr>
              <a:spcAft>
                <a:spcPts val="6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Many solutions.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978408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CFDCEE"/>
                </a:solidFill>
                <a:latin typeface="Aptos"/>
              </a:defRPr>
            </a:pPr>
            <a:r>
              <a:t>The algorithm designer's job is not merely to make code work.</a:t>
            </a:r>
          </a:p>
          <a:p>
            <a:pPr>
              <a:spcAft>
                <a:spcPts val="600"/>
              </a:spcAft>
              <a:defRPr sz="2200" b="0">
                <a:solidFill>
                  <a:srgbClr val="CFDCEE"/>
                </a:solidFill>
                <a:latin typeface="Aptos"/>
              </a:defRPr>
            </a:pPr>
            <a:r>
              <a:t>It is to understand the trade-offs and choose wisely.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937760"/>
            <a:ext cx="978408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7BEC8"/>
                </a:solidFill>
                <a:latin typeface="Aptos"/>
              </a:defRPr>
            </a:pPr>
            <a:r>
              <a:t>Correctness • Time • Memory • Simplicity •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0"/>
            <a:ext cx="54864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AEBFD7"/>
                </a:solidFill>
                <a:latin typeface="Aptos"/>
              </a:defRPr>
            </a:pPr>
            <a:r>
              <a:t>FIBONACCI • ALGORITHM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2231</Words>
  <Application>Microsoft Office PowerPoint</Application>
  <PresentationFormat>Widescreen</PresentationFormat>
  <Paragraphs>355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Sajjanar, Ravi</cp:lastModifiedBy>
  <cp:revision>1</cp:revision>
  <dcterms:created xsi:type="dcterms:W3CDTF">2013-01-27T09:14:16Z</dcterms:created>
  <dcterms:modified xsi:type="dcterms:W3CDTF">2026-10-27T04:04:21Z</dcterms:modified>
  <cp:category/>
</cp:coreProperties>
</file>