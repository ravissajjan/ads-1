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0" y="640080"/>
            <a:ext cx="118872" cy="5303520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96528" y="914400"/>
            <a:ext cx="118872" cy="4892040"/>
          </a:xfrm>
          <a:prstGeom prst="rect">
            <a:avLst/>
          </a:prstGeom>
          <a:solidFill>
            <a:srgbClr val="31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63456" y="1188719"/>
            <a:ext cx="118872" cy="4480559"/>
          </a:xfrm>
          <a:prstGeom prst="rect">
            <a:avLst/>
          </a:prstGeom>
          <a:solidFill>
            <a:srgbClr val="F1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930384" y="1463039"/>
            <a:ext cx="118872" cy="4069079"/>
          </a:xfrm>
          <a:prstGeom prst="rect">
            <a:avLst/>
          </a:prstGeom>
          <a:solidFill>
            <a:srgbClr val="E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6858000" cy="26468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lang="en-IN" sz="1300" b="1" i="0" dirty="0">
                <a:solidFill>
                  <a:srgbClr val="1C9791"/>
                </a:solidFill>
                <a:latin typeface="Aptos"/>
              </a:rPr>
              <a:t>ADVANCED </a:t>
            </a:r>
            <a:r>
              <a:rPr sz="1300" b="1" i="0" dirty="0">
                <a:solidFill>
                  <a:srgbClr val="1C9791"/>
                </a:solidFill>
                <a:latin typeface="Aptos"/>
              </a:rPr>
              <a:t>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7132320" cy="1325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"/>
              </a:rPr>
              <a:t>Multithreading
Made Understandable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86100"/>
            <a:ext cx="68580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1" i="0" dirty="0">
                <a:solidFill>
                  <a:srgbClr val="B4D7DC"/>
                </a:solidFill>
                <a:latin typeface="Aptos"/>
              </a:rPr>
              <a:t>THREADS     •     SPAWN + SYNC     •     PARALLEL LOOPS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B4BEC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Today’s learning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73152" cy="1508760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563624"/>
            <a:ext cx="315468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1. Understand threads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154680" cy="8503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What is a thread, and how is it different from a process?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73152" cy="1508760"/>
          </a:xfrm>
          <a:prstGeom prst="rect">
            <a:avLst/>
          </a:prstGeom>
          <a:solidFill>
            <a:srgbClr val="31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563624"/>
            <a:ext cx="315468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2. Express parallel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84248"/>
            <a:ext cx="3154680" cy="8503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Use spawn, sync and parallel loops.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73152" cy="1508760"/>
          </a:xfrm>
          <a:prstGeom prst="rect">
            <a:avLst/>
          </a:prstGeom>
          <a:solidFill>
            <a:srgbClr val="E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563624"/>
            <a:ext cx="315468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3. Keep it correct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84248"/>
            <a:ext cx="3154680" cy="8503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Understand dependencies, work/span and race conditions.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03320"/>
            <a:ext cx="10652760" cy="132588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FF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977639"/>
            <a:ext cx="10058400" cy="7109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lang="en-IN" sz="2100" b="1" i="0" dirty="0">
                <a:solidFill>
                  <a:srgbClr val="162542"/>
                </a:solidFill>
                <a:latin typeface="Aptos"/>
              </a:rPr>
              <a:t>THINK</a:t>
            </a:r>
            <a:r>
              <a:rPr sz="2100" b="1" i="0" dirty="0">
                <a:solidFill>
                  <a:srgbClr val="162542"/>
                </a:solidFill>
                <a:latin typeface="Aptos"/>
              </a:rPr>
              <a:t>: If two tasks can run at the same time, what must be true for the result to remain correct?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 dirty="0">
                <a:solidFill>
                  <a:srgbClr val="162542"/>
                </a:solidFill>
                <a:latin typeface="Aptos"/>
              </a:rPr>
              <a:t>Start with a familiar situation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Two independent tasks: how could we organise the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49377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600" b="1" i="0">
                <a:solidFill>
                  <a:srgbClr val="162542"/>
                </a:solidFill>
                <a:latin typeface="Aptos"/>
              </a:rPr>
              <a:t>SERIAL: one after the other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1828800" cy="68580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500" b="1">
                <a:solidFill>
                  <a:srgbClr val="162542"/>
                </a:solidFill>
                <a:latin typeface="Aptos"/>
              </a:rPr>
              <a:t>Task 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2212848"/>
            <a:ext cx="502920" cy="0"/>
          </a:xfrm>
          <a:prstGeom prst="line">
            <a:avLst/>
          </a:prstGeom>
          <a:ln w="2540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46120" y="1874519"/>
            <a:ext cx="1828800" cy="68580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500" b="1">
                <a:solidFill>
                  <a:srgbClr val="162542"/>
                </a:solidFill>
                <a:latin typeface="Aptos"/>
              </a:rPr>
              <a:t>Task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438912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657182"/>
                </a:solidFill>
                <a:latin typeface="Aptos"/>
              </a:rPr>
              <a:t>A finishes, then B starts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49377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600" b="1" i="0">
                <a:solidFill>
                  <a:srgbClr val="162542"/>
                </a:solidFill>
                <a:latin typeface="Aptos"/>
              </a:rPr>
              <a:t>PARALLEL: independent tasks overlap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74519"/>
            <a:ext cx="1828800" cy="68580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500" b="1">
                <a:solidFill>
                  <a:srgbClr val="162542"/>
                </a:solidFill>
                <a:latin typeface="Aptos"/>
              </a:rPr>
              <a:t>Task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971800"/>
            <a:ext cx="1828800" cy="68580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1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500" b="1">
                <a:solidFill>
                  <a:srgbClr val="162542"/>
                </a:solidFill>
                <a:latin typeface="Aptos"/>
              </a:rPr>
              <a:t>Task 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1040" y="2212848"/>
            <a:ext cx="822960" cy="0"/>
          </a:xfrm>
          <a:prstGeom prst="line">
            <a:avLst/>
          </a:prstGeom>
          <a:ln w="25400">
            <a:solidFill>
              <a:srgbClr val="1C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21040" y="3310128"/>
            <a:ext cx="822960" cy="0"/>
          </a:xfrm>
          <a:prstGeom prst="line">
            <a:avLst/>
          </a:prstGeom>
          <a:ln w="25400">
            <a:solidFill>
              <a:srgbClr val="F1B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89720" y="1874519"/>
            <a:ext cx="2011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2194560"/>
            <a:ext cx="1645920" cy="10058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500" b="1" i="0">
                <a:solidFill>
                  <a:srgbClr val="162542"/>
                </a:solidFill>
                <a:latin typeface="Aptos"/>
              </a:rPr>
              <a:t>Combine results after both finish.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900" b="1" i="0">
                <a:solidFill>
                  <a:srgbClr val="1C9791"/>
                </a:solidFill>
                <a:latin typeface="Aptos"/>
              </a:rPr>
              <a:t>Parallelism helps when tasks can safely make progress independently.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What is a thread?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A thread is a sequence of execution that can be scheduled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THREADS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1965960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563624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Think of a thread as a 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84248"/>
            <a:ext cx="4800600" cy="1307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It follows instructions and makes progress through a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73152" cy="1965960"/>
          </a:xfrm>
          <a:prstGeom prst="rect">
            <a:avLst/>
          </a:prstGeom>
          <a:solidFill>
            <a:srgbClr val="31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563624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Threads belong to a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984248"/>
            <a:ext cx="4800600" cy="1307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Threads in one process commonly share memory and other resources.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86200"/>
            <a:ext cx="10332720" cy="114300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E2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160520"/>
            <a:ext cx="9692640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2000" b="1" i="0">
                <a:solidFill>
                  <a:srgbClr val="162542"/>
                </a:solidFill>
                <a:latin typeface="Aptos"/>
              </a:rPr>
              <a:t>A program can contain multiple threads that run concurrently—or appear to through scheduling.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480131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 dirty="0">
                <a:solidFill>
                  <a:srgbClr val="162542"/>
                </a:solidFill>
                <a:latin typeface="Aptos"/>
              </a:rPr>
              <a:t>Process vs. </a:t>
            </a:r>
            <a:r>
              <a:rPr lang="en-IN" sz="2700" b="1" dirty="0">
                <a:solidFill>
                  <a:srgbClr val="162542"/>
                </a:solidFill>
                <a:latin typeface="Aptos"/>
              </a:rPr>
              <a:t>T</a:t>
            </a:r>
            <a:r>
              <a:rPr sz="2700" b="1" i="0" dirty="0" err="1">
                <a:solidFill>
                  <a:srgbClr val="162542"/>
                </a:solidFill>
                <a:latin typeface="Aptos"/>
              </a:rPr>
              <a:t>hreads</a:t>
            </a:r>
            <a:endParaRPr sz="2700" b="1" i="0" dirty="0">
              <a:solidFill>
                <a:srgbClr val="162542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A useful mental model: one workspace, several workers.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THREADS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466344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900" b="1" i="0">
                <a:solidFill>
                  <a:srgbClr val="162542"/>
                </a:solidFill>
                <a:latin typeface="Aptos"/>
              </a:rPr>
              <a:t>ONE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148840"/>
            <a:ext cx="4389120" cy="233172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331720"/>
            <a:ext cx="393192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400" b="1" i="0">
                <a:solidFill>
                  <a:srgbClr val="3167B4"/>
                </a:solidFill>
                <a:latin typeface="Aptos"/>
              </a:rPr>
              <a:t>Shared process memory/resources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2971800"/>
            <a:ext cx="10972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200" b="1">
                <a:solidFill>
                  <a:srgbClr val="162542"/>
                </a:solidFill>
                <a:latin typeface="Aptos"/>
              </a:rPr>
              <a:t>Thread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971800"/>
            <a:ext cx="10972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200" b="1">
                <a:solidFill>
                  <a:srgbClr val="162542"/>
                </a:solidFill>
                <a:latin typeface="Aptos"/>
              </a:rPr>
              <a:t>Thread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971800"/>
            <a:ext cx="10972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200" b="1">
                <a:solidFill>
                  <a:srgbClr val="162542"/>
                </a:solidFill>
                <a:latin typeface="Aptos"/>
              </a:rPr>
              <a:t>Thread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00200"/>
            <a:ext cx="466344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900" b="1" i="0">
                <a:solidFill>
                  <a:srgbClr val="162542"/>
                </a:solidFill>
                <a:latin typeface="Aptos"/>
              </a:rPr>
              <a:t>SEPARATE PROCESSES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560320"/>
            <a:ext cx="1417320" cy="91440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1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200" b="1">
                <a:solidFill>
                  <a:srgbClr val="162542"/>
                </a:solidFill>
                <a:latin typeface="Aptos"/>
              </a:rPr>
              <a:t>Process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611880"/>
            <a:ext cx="1371600" cy="6400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100" b="0" i="0">
                <a:solidFill>
                  <a:srgbClr val="657182"/>
                </a:solidFill>
                <a:latin typeface="Aptos"/>
              </a:rPr>
              <a:t>Separate
address space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560320"/>
            <a:ext cx="1417320" cy="91440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1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200" b="1">
                <a:solidFill>
                  <a:srgbClr val="162542"/>
                </a:solidFill>
                <a:latin typeface="Aptos"/>
              </a:rPr>
              <a:t>Process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3611880"/>
            <a:ext cx="1371600" cy="6400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100" b="0" i="0">
                <a:solidFill>
                  <a:srgbClr val="657182"/>
                </a:solidFill>
                <a:latin typeface="Aptos"/>
              </a:rPr>
              <a:t>Separate
address space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560320"/>
            <a:ext cx="1417320" cy="91440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1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200" b="1">
                <a:solidFill>
                  <a:srgbClr val="162542"/>
                </a:solidFill>
                <a:latin typeface="Aptos"/>
              </a:rPr>
              <a:t>Process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928" y="3611880"/>
            <a:ext cx="1371600" cy="6400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100" b="0" i="0">
                <a:solidFill>
                  <a:srgbClr val="657182"/>
                </a:solidFill>
                <a:latin typeface="Aptos"/>
              </a:rPr>
              <a:t>Separate
address 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49240"/>
            <a:ext cx="10424160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700" b="1" i="0">
                <a:solidFill>
                  <a:srgbClr val="E06052"/>
                </a:solidFill>
                <a:latin typeface="Aptos"/>
              </a:rPr>
              <a:t>Threads can share data—so coordination and bugs matter.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480131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 dirty="0">
                <a:solidFill>
                  <a:srgbClr val="162542"/>
                </a:solidFill>
                <a:latin typeface="Aptos"/>
              </a:rPr>
              <a:t>Concurrency is not the same as </a:t>
            </a:r>
            <a:r>
              <a:rPr lang="en-IN" sz="2700" b="1" i="0" dirty="0">
                <a:solidFill>
                  <a:srgbClr val="162542"/>
                </a:solidFill>
                <a:latin typeface="Aptos"/>
              </a:rPr>
              <a:t>P</a:t>
            </a:r>
            <a:r>
              <a:rPr sz="2700" b="1" i="0" dirty="0" err="1">
                <a:solidFill>
                  <a:srgbClr val="162542"/>
                </a:solidFill>
                <a:latin typeface="Aptos"/>
              </a:rPr>
              <a:t>arallelism</a:t>
            </a:r>
            <a:endParaRPr sz="2700" b="1" i="0" dirty="0">
              <a:solidFill>
                <a:srgbClr val="162542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They answer different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THREADS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2468880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563624"/>
            <a:ext cx="484632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CONCURRENCY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84248"/>
            <a:ext cx="4846320" cy="18105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Can multiple tasks make progress during overlapping periods?
They may take turns on one CPU.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73152" cy="2468880"/>
          </a:xfrm>
          <a:prstGeom prst="rect">
            <a:avLst/>
          </a:prstGeom>
          <a:solidFill>
            <a:srgbClr val="31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563624"/>
            <a:ext cx="484632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PARALLELISM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984248"/>
            <a:ext cx="4846320" cy="18105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Are multiple tasks executing at the same instant?
This can happen on multiple cores.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343400"/>
            <a:ext cx="9966960" cy="91440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FF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4553712"/>
            <a:ext cx="941832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700" b="1" i="0">
                <a:solidFill>
                  <a:srgbClr val="162542"/>
                </a:solidFill>
                <a:latin typeface="Aptos"/>
              </a:rPr>
              <a:t>Concurrency = managing multiple tasks.  |  Parallelism = simultaneous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480131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 dirty="0">
                <a:solidFill>
                  <a:srgbClr val="162542"/>
                </a:solidFill>
                <a:latin typeface="Aptos"/>
              </a:rPr>
              <a:t>Two threading </a:t>
            </a:r>
            <a:r>
              <a:rPr sz="2700" b="1" i="0" dirty="0" err="1">
                <a:solidFill>
                  <a:srgbClr val="162542"/>
                </a:solidFill>
                <a:latin typeface="Aptos"/>
              </a:rPr>
              <a:t>approache</a:t>
            </a:r>
            <a:r>
              <a:rPr lang="en-IN" sz="2700" b="1" i="0" dirty="0">
                <a:solidFill>
                  <a:srgbClr val="162542"/>
                </a:solidFill>
                <a:latin typeface="Aptos"/>
              </a:rPr>
              <a:t>s</a:t>
            </a:r>
            <a:endParaRPr sz="2700" b="1" i="0" dirty="0">
              <a:solidFill>
                <a:srgbClr val="162542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THREADS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50292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508760"/>
            <a:ext cx="73152" cy="2240280"/>
          </a:xfrm>
          <a:prstGeom prst="rect">
            <a:avLst/>
          </a:prstGeom>
          <a:solidFill>
            <a:srgbClr val="31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1655063"/>
            <a:ext cx="466344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Static threading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075688"/>
            <a:ext cx="4663440" cy="4955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 dirty="0">
                <a:solidFill>
                  <a:srgbClr val="2A3443"/>
                </a:solidFill>
                <a:latin typeface="Aptos"/>
              </a:rPr>
              <a:t>The system/compiler arrangement determines how work is threaded.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50292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73152" cy="2240280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655063"/>
            <a:ext cx="466344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Dynamic multithreading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075688"/>
            <a:ext cx="4663440" cy="1581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 dirty="0">
                <a:solidFill>
                  <a:srgbClr val="2A3443"/>
                </a:solidFill>
                <a:latin typeface="Aptos"/>
              </a:rPr>
              <a:t>The program explicitly identifies opportunities for parallel work; tasks can be created as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Dynamic multithreading: the big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We mark what may run concurrently; a scheduler decides what actually 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SPAWN +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2057400" cy="91440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500" b="1">
                <a:solidFill>
                  <a:srgbClr val="162542"/>
                </a:solidFill>
                <a:latin typeface="Aptos"/>
              </a:rPr>
              <a:t>Program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331720"/>
            <a:ext cx="777240" cy="0"/>
          </a:xfrm>
          <a:prstGeom prst="line">
            <a:avLst/>
          </a:prstGeom>
          <a:ln w="25400">
            <a:solidFill>
              <a:srgbClr val="31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49039" y="1874519"/>
            <a:ext cx="2148840" cy="91440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500" b="1">
                <a:solidFill>
                  <a:srgbClr val="162542"/>
                </a:solidFill>
                <a:latin typeface="Aptos"/>
              </a:rPr>
              <a:t>Concurrency
instructions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331720"/>
            <a:ext cx="777240" cy="0"/>
          </a:xfrm>
          <a:prstGeom prst="line">
            <a:avLst/>
          </a:prstGeom>
          <a:ln w="25400">
            <a:solidFill>
              <a:srgbClr val="1C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66560" y="1874519"/>
            <a:ext cx="1828800" cy="91440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1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700" b="1">
                <a:solidFill>
                  <a:srgbClr val="162542"/>
                </a:solidFill>
                <a:latin typeface="Aptos"/>
              </a:rPr>
              <a:t>Scheduler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1080" y="2331720"/>
            <a:ext cx="640080" cy="0"/>
          </a:xfrm>
          <a:prstGeom prst="line">
            <a:avLst/>
          </a:prstGeom>
          <a:ln w="25400">
            <a:solidFill>
              <a:srgbClr val="F1B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26880" y="1874519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600" b="1">
                <a:solidFill>
                  <a:srgbClr val="162542"/>
                </a:solidFill>
                <a:latin typeface="Aptos"/>
              </a:rPr>
              <a:t>Processors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10149840" cy="7315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900" b="1" i="0" dirty="0">
                <a:solidFill>
                  <a:srgbClr val="E06052"/>
                </a:solidFill>
                <a:latin typeface="Aptos"/>
              </a:rPr>
              <a:t>Declaring that work may run in parallel does not guarantee simultaneous execution.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92040"/>
            <a:ext cx="9875520" cy="4572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600" b="0" i="0">
                <a:solidFill>
                  <a:srgbClr val="657182"/>
                </a:solidFill>
                <a:latin typeface="Aptos"/>
              </a:rPr>
              <a:t>The scheduler assigns ready work to available processors at runtime.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Three keywords to remember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They describe the structure of parallel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SPAWN +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611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2423160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563624"/>
            <a:ext cx="324612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spawn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84248"/>
            <a:ext cx="3246120" cy="17647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Start a child computation that may run alongside the parent.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417320"/>
            <a:ext cx="3611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1417320"/>
            <a:ext cx="73152" cy="2423160"/>
          </a:xfrm>
          <a:prstGeom prst="rect">
            <a:avLst/>
          </a:prstGeom>
          <a:solidFill>
            <a:srgbClr val="E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1563624"/>
            <a:ext cx="324612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1984248"/>
            <a:ext cx="3246120" cy="17647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Wait until spawned children have completed before continuing.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417320"/>
            <a:ext cx="31546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66760" y="1417320"/>
            <a:ext cx="73152" cy="2423160"/>
          </a:xfrm>
          <a:prstGeom prst="rect">
            <a:avLst/>
          </a:prstGeom>
          <a:solidFill>
            <a:srgbClr val="31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67928" y="1563624"/>
            <a:ext cx="278892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parallel 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1984248"/>
            <a:ext cx="2788920" cy="17647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Mark loop iterations as eligible to run concurrently.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What does spawn mean?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The parent does not have to wait immediately for the child.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SPAWN +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1920240" cy="77724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500" b="1">
                <a:solidFill>
                  <a:srgbClr val="162542"/>
                </a:solidFill>
                <a:latin typeface="Aptos"/>
              </a:rPr>
              <a:t>Parent task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2304288"/>
            <a:ext cx="914400" cy="0"/>
          </a:xfrm>
          <a:prstGeom prst="line">
            <a:avLst/>
          </a:prstGeom>
          <a:ln w="25400">
            <a:solidFill>
              <a:srgbClr val="31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49039" y="1920240"/>
            <a:ext cx="1920240" cy="77724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600" b="1">
                <a:solidFill>
                  <a:srgbClr val="162542"/>
                </a:solidFill>
                <a:latin typeface="Aptos"/>
              </a:rPr>
              <a:t>spawn Child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715000" y="1600200"/>
            <a:ext cx="822960" cy="548640"/>
          </a:xfrm>
          <a:prstGeom prst="line">
            <a:avLst/>
          </a:prstGeom>
          <a:ln w="25400">
            <a:solidFill>
              <a:srgbClr val="1C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15000" y="2468880"/>
            <a:ext cx="822960" cy="502920"/>
          </a:xfrm>
          <a:prstGeom prst="line">
            <a:avLst/>
          </a:prstGeom>
          <a:ln w="25400">
            <a:solidFill>
              <a:srgbClr val="31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0" y="1234440"/>
            <a:ext cx="2057400" cy="73152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600" b="1">
                <a:solidFill>
                  <a:srgbClr val="162542"/>
                </a:solidFill>
                <a:latin typeface="Aptos"/>
              </a:rPr>
              <a:t>Child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651760"/>
            <a:ext cx="2057400" cy="73152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400" b="1">
                <a:solidFill>
                  <a:srgbClr val="162542"/>
                </a:solidFill>
                <a:latin typeface="Aptos"/>
              </a:rPr>
              <a:t>Parent continues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508760"/>
            <a:ext cx="2148840" cy="1554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600" b="1" i="0">
                <a:solidFill>
                  <a:srgbClr val="162542"/>
                </a:solidFill>
                <a:latin typeface="Aptos"/>
              </a:rPr>
              <a:t>“May run concurrently”
Not “must run concurrently.”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251960"/>
            <a:ext cx="10241280" cy="82296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FF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462272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700" b="1" i="0">
                <a:solidFill>
                  <a:srgbClr val="162542"/>
                </a:solidFill>
                <a:latin typeface="Aptos"/>
              </a:rPr>
              <a:t>Spawn creates an opportunity for overlap; the scheduler chooses how to run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What does sync mean?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 dirty="0">
                <a:solidFill>
                  <a:srgbClr val="657182"/>
                </a:solidFill>
                <a:latin typeface="Aptos"/>
              </a:rPr>
              <a:t>Do not use a child’s result before it is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SPAWN +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41932"/>
            <a:ext cx="2011680" cy="68580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600" b="1">
                <a:solidFill>
                  <a:srgbClr val="162542"/>
                </a:solidFill>
                <a:latin typeface="Aptos"/>
              </a:rPr>
              <a:t>Start child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06040"/>
            <a:ext cx="2011680" cy="68580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600" b="1" dirty="0">
                <a:solidFill>
                  <a:srgbClr val="162542"/>
                </a:solidFill>
                <a:latin typeface="Aptos"/>
              </a:rPr>
              <a:t>Parent work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331720"/>
            <a:ext cx="868680" cy="0"/>
          </a:xfrm>
          <a:prstGeom prst="line">
            <a:avLst/>
          </a:prstGeom>
          <a:ln w="25400">
            <a:solidFill>
              <a:srgbClr val="1C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17520" y="2907792"/>
            <a:ext cx="868680" cy="0"/>
          </a:xfrm>
          <a:prstGeom prst="line">
            <a:avLst/>
          </a:prstGeom>
          <a:ln w="25400">
            <a:solidFill>
              <a:srgbClr val="31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86200" y="2093976"/>
            <a:ext cx="1722121" cy="969264"/>
          </a:xfrm>
          <a:prstGeom prst="roundRect">
            <a:avLst/>
          </a:prstGeom>
          <a:solidFill>
            <a:srgbClr val="FDE7E3"/>
          </a:solidFill>
          <a:ln w="12700">
            <a:solidFill>
              <a:srgbClr val="E06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800" b="1" dirty="0">
                <a:solidFill>
                  <a:srgbClr val="162542"/>
                </a:solidFill>
                <a:latin typeface="Aptos"/>
              </a:rPr>
              <a:t>sync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23560" y="2578608"/>
            <a:ext cx="914400" cy="0"/>
          </a:xfrm>
          <a:prstGeom prst="line">
            <a:avLst/>
          </a:prstGeom>
          <a:ln w="25400">
            <a:solidFill>
              <a:srgbClr val="E06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37960" y="2194560"/>
            <a:ext cx="2011680" cy="77724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1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500" b="1">
                <a:solidFill>
                  <a:srgbClr val="162542"/>
                </a:solidFill>
                <a:latin typeface="Aptos"/>
              </a:rPr>
              <a:t>Combine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920240"/>
            <a:ext cx="2240280" cy="1417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600" b="1" i="0">
                <a:solidFill>
                  <a:srgbClr val="162542"/>
                </a:solidFill>
                <a:latin typeface="Aptos"/>
              </a:rPr>
              <a:t>Wait here until required child work is complete.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What does parallel for mean?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Use it when loop iterations are independent.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SPAWN +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466344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700" b="1" i="0">
                <a:solidFill>
                  <a:srgbClr val="162542"/>
                </a:solidFill>
                <a:latin typeface="Aptos"/>
              </a:rPr>
              <a:t>Ordinary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914400" cy="68580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300" b="1">
                <a:solidFill>
                  <a:srgbClr val="162542"/>
                </a:solidFill>
                <a:latin typeface="Aptos"/>
              </a:rPr>
              <a:t>i = 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47088" y="2350008"/>
            <a:ext cx="146304" cy="0"/>
          </a:xfrm>
          <a:prstGeom prst="line">
            <a:avLst/>
          </a:prstGeom>
          <a:ln w="25400">
            <a:solidFill>
              <a:srgbClr val="31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11680" y="2011680"/>
            <a:ext cx="914400" cy="68580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300" b="1">
                <a:solidFill>
                  <a:srgbClr val="162542"/>
                </a:solidFill>
                <a:latin typeface="Aptos"/>
              </a:rPr>
              <a:t>i = 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44368" y="2350008"/>
            <a:ext cx="146304" cy="0"/>
          </a:xfrm>
          <a:prstGeom prst="line">
            <a:avLst/>
          </a:prstGeom>
          <a:ln w="25400">
            <a:solidFill>
              <a:srgbClr val="31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08960" y="2011680"/>
            <a:ext cx="914400" cy="68580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300" b="1">
                <a:solidFill>
                  <a:srgbClr val="162542"/>
                </a:solidFill>
                <a:latin typeface="Aptos"/>
              </a:rPr>
              <a:t>i = 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41648" y="2350008"/>
            <a:ext cx="146304" cy="0"/>
          </a:xfrm>
          <a:prstGeom prst="line">
            <a:avLst/>
          </a:prstGeom>
          <a:ln w="25400">
            <a:solidFill>
              <a:srgbClr val="31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06240" y="2011680"/>
            <a:ext cx="914400" cy="68580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300" b="1">
                <a:solidFill>
                  <a:srgbClr val="162542"/>
                </a:solidFill>
                <a:latin typeface="Aptos"/>
              </a:rPr>
              <a:t>i =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26080"/>
            <a:ext cx="46634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400" b="0" i="0">
                <a:solidFill>
                  <a:srgbClr val="657182"/>
                </a:solidFill>
                <a:latin typeface="Aptos"/>
              </a:rPr>
              <a:t>Iterations run in 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17320"/>
            <a:ext cx="466344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700" b="1" i="0">
                <a:solidFill>
                  <a:srgbClr val="162542"/>
                </a:solidFill>
                <a:latin typeface="Aptos"/>
              </a:rPr>
              <a:t>Parallel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011680"/>
            <a:ext cx="914400" cy="68580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300" b="1">
                <a:solidFill>
                  <a:srgbClr val="162542"/>
                </a:solidFill>
                <a:latin typeface="Aptos"/>
              </a:rPr>
              <a:t>i =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19" y="2011680"/>
            <a:ext cx="914400" cy="68580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300" b="1">
                <a:solidFill>
                  <a:srgbClr val="162542"/>
                </a:solidFill>
                <a:latin typeface="Aptos"/>
              </a:rPr>
              <a:t>i =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011680"/>
            <a:ext cx="914400" cy="68580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300" b="1">
                <a:solidFill>
                  <a:srgbClr val="162542"/>
                </a:solidFill>
                <a:latin typeface="Aptos"/>
              </a:rPr>
              <a:t>i =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2011680"/>
            <a:ext cx="914400" cy="68580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300" b="1">
                <a:solidFill>
                  <a:srgbClr val="162542"/>
                </a:solidFill>
                <a:latin typeface="Aptos"/>
              </a:rPr>
              <a:t>i =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26080"/>
            <a:ext cx="46634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400" b="1" i="0">
                <a:solidFill>
                  <a:srgbClr val="1C9791"/>
                </a:solidFill>
                <a:latin typeface="Aptos"/>
              </a:rPr>
              <a:t>Iterations may overlap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160520"/>
            <a:ext cx="10058400" cy="82296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FF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80160" y="4370832"/>
            <a:ext cx="950976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700" b="1" i="0">
                <a:solidFill>
                  <a:srgbClr val="162542"/>
                </a:solidFill>
                <a:latin typeface="Aptos"/>
              </a:rPr>
              <a:t>Ask first: does one iteration modify data another iteration needs?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Bridge from Fibonacci recursion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You already know the two recursive calls are independent.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FIBONACCI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920240"/>
            <a:ext cx="3017520" cy="68580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800" b="1">
                <a:solidFill>
                  <a:srgbClr val="162542"/>
                </a:solidFill>
                <a:latin typeface="Aptos"/>
              </a:rPr>
              <a:t>Fibonacci(n)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057400" y="2651760"/>
            <a:ext cx="685800" cy="548640"/>
          </a:xfrm>
          <a:prstGeom prst="line">
            <a:avLst/>
          </a:prstGeom>
          <a:ln w="25400">
            <a:solidFill>
              <a:srgbClr val="31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86200" y="2651760"/>
            <a:ext cx="685800" cy="548640"/>
          </a:xfrm>
          <a:prstGeom prst="line">
            <a:avLst/>
          </a:prstGeom>
          <a:ln w="25400">
            <a:solidFill>
              <a:srgbClr val="31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05840" y="324612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300" b="1">
                <a:solidFill>
                  <a:srgbClr val="162542"/>
                </a:solidFill>
                <a:latin typeface="Aptos"/>
              </a:rPr>
              <a:t>Fibonacci(n−1)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324612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300" b="1">
                <a:solidFill>
                  <a:srgbClr val="162542"/>
                </a:solidFill>
                <a:latin typeface="Aptos"/>
              </a:rPr>
              <a:t>Fibonacci(n−2)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4389120" cy="4572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800" b="1" i="0">
                <a:solidFill>
                  <a:srgbClr val="1C9791"/>
                </a:solidFill>
                <a:latin typeface="Aptos"/>
              </a:rPr>
              <a:t>Why can they overlap?</a:t>
            </a:r>
          </a:p>
        </p:txBody>
      </p:sp>
      <p:sp>
        <p:nvSpPr>
          <p:cNvPr id="14" name="Oval 13"/>
          <p:cNvSpPr/>
          <p:nvPr/>
        </p:nvSpPr>
        <p:spPr>
          <a:xfrm>
            <a:off x="6675120" y="2240280"/>
            <a:ext cx="109728" cy="109728"/>
          </a:xfrm>
          <a:prstGeom prst="ellipse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94576" y="2148840"/>
            <a:ext cx="4169663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500" b="0" i="0">
                <a:solidFill>
                  <a:srgbClr val="2A3443"/>
                </a:solidFill>
                <a:latin typeface="Aptos"/>
              </a:rPr>
              <a:t>Neither call needs the other’s result to start.</a:t>
            </a:r>
          </a:p>
        </p:txBody>
      </p:sp>
      <p:sp>
        <p:nvSpPr>
          <p:cNvPr id="16" name="Oval 15"/>
          <p:cNvSpPr/>
          <p:nvPr/>
        </p:nvSpPr>
        <p:spPr>
          <a:xfrm>
            <a:off x="6675120" y="2926080"/>
            <a:ext cx="109728" cy="109728"/>
          </a:xfrm>
          <a:prstGeom prst="ellipse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94576" y="2834640"/>
            <a:ext cx="4169663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500" b="0" i="0">
                <a:solidFill>
                  <a:srgbClr val="2A3443"/>
                </a:solidFill>
                <a:latin typeface="Aptos"/>
              </a:rPr>
              <a:t>Each computes its own value.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3611880"/>
            <a:ext cx="109728" cy="109728"/>
          </a:xfrm>
          <a:prstGeom prst="ellipse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94576" y="3520440"/>
            <a:ext cx="4169663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500" b="0" i="0">
                <a:solidFill>
                  <a:srgbClr val="2A3443"/>
                </a:solidFill>
                <a:latin typeface="Aptos"/>
              </a:rPr>
              <a:t>Combine results only after both finish.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Parallel Fibonacci: read it line by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Focus on the meaning of each keyword.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FIBONACCI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25880"/>
            <a:ext cx="6629400" cy="420624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1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1600200"/>
            <a:ext cx="594360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800" b="0" i="0">
                <a:solidFill>
                  <a:srgbClr val="EBF0F8"/>
                </a:solidFill>
                <a:latin typeface="Consolas"/>
              </a:rPr>
              <a:t>Parallel-Fib(n):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67128"/>
            <a:ext cx="594360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800" b="0" i="0">
                <a:solidFill>
                  <a:srgbClr val="EBF0F8"/>
                </a:solidFill>
                <a:latin typeface="Consolas"/>
              </a:rPr>
              <a:t>    if n ≤ 1: return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34056"/>
            <a:ext cx="594360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800" b="1" i="0">
                <a:solidFill>
                  <a:srgbClr val="74E0CC"/>
                </a:solidFill>
                <a:latin typeface="Consolas"/>
              </a:rPr>
              <a:t>    x = spawn Parallel-Fib(n − 1)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00984"/>
            <a:ext cx="594360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800" b="0" i="0">
                <a:solidFill>
                  <a:srgbClr val="EBF0F8"/>
                </a:solidFill>
                <a:latin typeface="Consolas"/>
              </a:rPr>
              <a:t>    y =       Parallel-Fib(n − 2)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867912"/>
            <a:ext cx="594360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800" b="1" i="0">
                <a:solidFill>
                  <a:srgbClr val="FFBE6C"/>
                </a:solidFill>
                <a:latin typeface="Consolas"/>
              </a:rPr>
              <a:t>    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34840"/>
            <a:ext cx="594360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800" b="0" i="0">
                <a:solidFill>
                  <a:srgbClr val="EBF0F8"/>
                </a:solidFill>
                <a:latin typeface="Consolas"/>
              </a:rPr>
              <a:t>    return x + 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50876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09560" y="1508760"/>
            <a:ext cx="73152" cy="1143000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0728" y="1655063"/>
            <a:ext cx="306324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spawn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2075688"/>
            <a:ext cx="3063240" cy="4846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n−1 work may overlap with parent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83464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09560" y="2834640"/>
            <a:ext cx="73152" cy="1143000"/>
          </a:xfrm>
          <a:prstGeom prst="rect">
            <a:avLst/>
          </a:prstGeom>
          <a:solidFill>
            <a:srgbClr val="E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0728" y="2980944"/>
            <a:ext cx="306324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3401568"/>
            <a:ext cx="3063240" cy="4846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Wait before using x and 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434840"/>
            <a:ext cx="3200400" cy="5943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500" b="1" i="0">
                <a:solidFill>
                  <a:srgbClr val="162542"/>
                </a:solidFill>
                <a:latin typeface="Aptos"/>
              </a:rPr>
              <a:t>Same answer; different execution opportunities.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A useful idea: serialization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Remove the parallel keywords and you get the serial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FIBONACCI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49377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600200"/>
            <a:ext cx="73152" cy="2057400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1746504"/>
            <a:ext cx="457200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Multithreaded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167128"/>
            <a:ext cx="4572000" cy="1399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spawn Fibonacci(n − 1)
Fibonacci(n − 2)
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00200"/>
            <a:ext cx="49377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600200"/>
            <a:ext cx="73152" cy="2057400"/>
          </a:xfrm>
          <a:prstGeom prst="rect">
            <a:avLst/>
          </a:prstGeom>
          <a:solidFill>
            <a:srgbClr val="31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1968" y="1746504"/>
            <a:ext cx="457200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Serialized 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167128"/>
            <a:ext cx="4572000" cy="1399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Fibonacci(n − 1)
Fibonacci(n − 2)
return after both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60"/>
            <a:ext cx="1014984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800" b="1" i="0">
                <a:solidFill>
                  <a:srgbClr val="162542"/>
                </a:solidFill>
                <a:latin typeface="Aptos"/>
              </a:rPr>
              <a:t>The goal is to change when independent work can happen—not the answer.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How do we picture parallel execution?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A computation DAG shows work and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325880"/>
            <a:ext cx="1828800" cy="59436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500" b="1">
                <a:solidFill>
                  <a:srgbClr val="162542"/>
                </a:solidFill>
                <a:latin typeface="Aptos"/>
              </a:rPr>
              <a:t>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514600"/>
            <a:ext cx="1828800" cy="64008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600" b="1">
                <a:solidFill>
                  <a:srgbClr val="162542"/>
                </a:solidFill>
                <a:latin typeface="Aptos"/>
              </a:rPr>
              <a:t>Task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514600"/>
            <a:ext cx="1828800" cy="64008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600" b="1">
                <a:solidFill>
                  <a:srgbClr val="162542"/>
                </a:solidFill>
                <a:latin typeface="Aptos"/>
              </a:rPr>
              <a:t>Task B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154680" y="1920240"/>
            <a:ext cx="2103120" cy="548640"/>
          </a:xfrm>
          <a:prstGeom prst="line">
            <a:avLst/>
          </a:prstGeom>
          <a:ln w="25400">
            <a:solidFill>
              <a:srgbClr val="31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29400" y="1920240"/>
            <a:ext cx="2286000" cy="548640"/>
          </a:xfrm>
          <a:prstGeom prst="line">
            <a:avLst/>
          </a:prstGeom>
          <a:ln w="25400">
            <a:solidFill>
              <a:srgbClr val="31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0" y="3749039"/>
            <a:ext cx="1828800" cy="64008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1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600" b="1">
                <a:solidFill>
                  <a:srgbClr val="162542"/>
                </a:solidFill>
                <a:latin typeface="Aptos"/>
              </a:rPr>
              <a:t>Combine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71800" y="3200400"/>
            <a:ext cx="2286000" cy="502920"/>
          </a:xfrm>
          <a:prstGeom prst="line">
            <a:avLst/>
          </a:prstGeom>
          <a:ln w="25400">
            <a:solidFill>
              <a:srgbClr val="1C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629400" y="3200400"/>
            <a:ext cx="2286000" cy="502920"/>
          </a:xfrm>
          <a:prstGeom prst="line">
            <a:avLst/>
          </a:prstGeom>
          <a:ln w="25400">
            <a:solidFill>
              <a:srgbClr val="1C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4892040"/>
            <a:ext cx="51206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500" b="1" i="0">
                <a:solidFill>
                  <a:srgbClr val="1C9791"/>
                </a:solidFill>
                <a:latin typeface="Aptos"/>
              </a:rPr>
              <a:t>No dependency between A and B → may run in parallel.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892040"/>
            <a:ext cx="51206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500" b="1" i="0">
                <a:solidFill>
                  <a:srgbClr val="E06052"/>
                </a:solidFill>
                <a:latin typeface="Aptos"/>
              </a:rPr>
              <a:t>Both must finish before Combine.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Work vs. span: two different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These measures help us reason about potential speedup.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73152" cy="2057400"/>
          </a:xfrm>
          <a:prstGeom prst="rect">
            <a:avLst/>
          </a:prstGeom>
          <a:solidFill>
            <a:srgbClr val="31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1563624"/>
            <a:ext cx="4754879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WORK  (T₁)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984248"/>
            <a:ext cx="4754879" cy="1399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How much total work is there?
Imagine running all work on one processor.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73152" cy="2057400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563624"/>
            <a:ext cx="4754879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SPAN  (T∞)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984248"/>
            <a:ext cx="4754879" cy="1399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How long is the critical path?
The longest chain of dependent work, even with many processors.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069080"/>
            <a:ext cx="10058400" cy="96012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FF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4297680"/>
            <a:ext cx="9509760" cy="4572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900" b="1" i="0">
                <a:solidFill>
                  <a:srgbClr val="162542"/>
                </a:solidFill>
                <a:latin typeface="Aptos"/>
              </a:rPr>
              <a:t>Work counts everything. Span follows the longest dependency chain.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A tiny example: work and span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Assume each box takes one time unit.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1371600" cy="73152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500" b="1">
                <a:solidFill>
                  <a:srgbClr val="162542"/>
                </a:solidFill>
                <a:latin typeface="Aptos"/>
              </a:rPr>
              <a:t>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0280" y="2331720"/>
            <a:ext cx="502920" cy="0"/>
          </a:xfrm>
          <a:prstGeom prst="line">
            <a:avLst/>
          </a:prstGeom>
          <a:ln w="25400">
            <a:solidFill>
              <a:srgbClr val="31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965960"/>
            <a:ext cx="1371600" cy="73152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500" b="1">
                <a:solidFill>
                  <a:srgbClr val="162542"/>
                </a:solidFill>
                <a:latin typeface="Aptos"/>
              </a:rPr>
              <a:t>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6240" y="2331720"/>
            <a:ext cx="502920" cy="0"/>
          </a:xfrm>
          <a:prstGeom prst="line">
            <a:avLst/>
          </a:prstGeom>
          <a:ln w="25400">
            <a:solidFill>
              <a:srgbClr val="31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54880" y="1965960"/>
            <a:ext cx="1371600" cy="73152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500" b="1">
                <a:solidFill>
                  <a:srgbClr val="162542"/>
                </a:solidFill>
                <a:latin typeface="Aptos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51206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500" b="1" i="0">
                <a:solidFill>
                  <a:srgbClr val="657182"/>
                </a:solidFill>
                <a:latin typeface="Aptos"/>
              </a:rPr>
              <a:t>Serial: work = 3, span =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600200"/>
            <a:ext cx="1371600" cy="73152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800" b="1">
                <a:solidFill>
                  <a:srgbClr val="162542"/>
                </a:solidFill>
                <a:latin typeface="Aptos"/>
              </a:rPr>
              <a:t>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743200"/>
            <a:ext cx="1371600" cy="73152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800" b="1">
                <a:solidFill>
                  <a:srgbClr val="162542"/>
                </a:solidFill>
                <a:latin typeface="Aptos"/>
              </a:rPr>
              <a:t>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38160" y="1965960"/>
            <a:ext cx="731520" cy="365760"/>
          </a:xfrm>
          <a:prstGeom prst="line">
            <a:avLst/>
          </a:prstGeom>
          <a:ln w="25400">
            <a:solidFill>
              <a:srgbClr val="1C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138160" y="2606040"/>
            <a:ext cx="731520" cy="502920"/>
          </a:xfrm>
          <a:prstGeom prst="line">
            <a:avLst/>
          </a:prstGeom>
          <a:ln w="25400">
            <a:solidFill>
              <a:srgbClr val="1C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15400" y="2103120"/>
            <a:ext cx="1554480" cy="73152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1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800" b="1">
                <a:solidFill>
                  <a:srgbClr val="162542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475488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500" b="1" i="0">
                <a:solidFill>
                  <a:srgbClr val="657182"/>
                </a:solidFill>
                <a:latin typeface="Aptos"/>
              </a:rPr>
              <a:t>A and B parallel, then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46634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700" b="1" i="0">
                <a:solidFill>
                  <a:srgbClr val="1C9791"/>
                </a:solidFill>
                <a:latin typeface="Aptos"/>
              </a:rPr>
              <a:t>Work = 3, span =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101498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900" b="1" i="0">
                <a:solidFill>
                  <a:srgbClr val="162542"/>
                </a:solidFill>
                <a:latin typeface="Aptos"/>
              </a:rPr>
              <a:t>Parallelism = Work ÷ Span. Here: 3 ÷ 2 = 1.5.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Speedup: how much faster did we get?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Compare one-processor time with time on P processors.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508760"/>
            <a:ext cx="10241280" cy="105156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E2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1737360"/>
            <a:ext cx="9601200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2700" b="1" i="0">
                <a:solidFill>
                  <a:srgbClr val="3167B4"/>
                </a:solidFill>
                <a:latin typeface="Aptos"/>
              </a:rPr>
              <a:t>Speedup = T₁ / Tₚ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4800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2971800"/>
            <a:ext cx="73152" cy="1417320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3118104"/>
            <a:ext cx="443484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538728"/>
            <a:ext cx="4434840" cy="75895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Serial time = 12 s; parallel time = 4 s → speedup = 3×.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971800"/>
            <a:ext cx="4800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971800"/>
            <a:ext cx="73152" cy="1417320"/>
          </a:xfrm>
          <a:prstGeom prst="rect">
            <a:avLst/>
          </a:prstGeom>
          <a:solidFill>
            <a:srgbClr val="E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3118104"/>
            <a:ext cx="443484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Reality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538728"/>
            <a:ext cx="4434840" cy="75895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Dependencies, processor count and scheduling limit speedup.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83480"/>
            <a:ext cx="1005840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900" b="1" i="0">
                <a:solidFill>
                  <a:srgbClr val="162542"/>
                </a:solidFill>
                <a:latin typeface="Aptos"/>
              </a:rPr>
              <a:t>More cores do not automatically mean proportionally less time.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Who decides which task runs next?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The scheduler maps ready work onto available processors.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457200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700" b="1" i="0">
                <a:solidFill>
                  <a:srgbClr val="162542"/>
                </a:solidFill>
                <a:latin typeface="Aptos"/>
              </a:rPr>
              <a:t>Ready 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920240"/>
            <a:ext cx="731520" cy="59436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700" b="1">
                <a:solidFill>
                  <a:srgbClr val="162542"/>
                </a:solidFill>
                <a:latin typeface="Aptos"/>
              </a:rPr>
              <a:t>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1920240"/>
            <a:ext cx="731520" cy="59436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700" b="1">
                <a:solidFill>
                  <a:srgbClr val="162542"/>
                </a:solidFill>
                <a:latin typeface="Aptos"/>
              </a:rPr>
              <a:t>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920240"/>
            <a:ext cx="731520" cy="59436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700" b="1">
                <a:solidFill>
                  <a:srgbClr val="162542"/>
                </a:solidFill>
                <a:latin typeface="Aptos"/>
              </a:rPr>
              <a:t>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920240"/>
            <a:ext cx="731520" cy="59436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700" b="1">
                <a:solidFill>
                  <a:srgbClr val="162542"/>
                </a:solidFill>
                <a:latin typeface="Aptos"/>
              </a:rPr>
              <a:t>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0" y="2240280"/>
            <a:ext cx="868680" cy="0"/>
          </a:xfrm>
          <a:prstGeom prst="line">
            <a:avLst/>
          </a:prstGeom>
          <a:ln w="25400">
            <a:solidFill>
              <a:srgbClr val="31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0" y="1828800"/>
            <a:ext cx="1645920" cy="82296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1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700" b="1">
                <a:solidFill>
                  <a:srgbClr val="162542"/>
                </a:solidFill>
                <a:latin typeface="Aptos"/>
              </a:rPr>
              <a:t>Scheduler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2240280"/>
            <a:ext cx="685800" cy="0"/>
          </a:xfrm>
          <a:prstGeom prst="line">
            <a:avLst/>
          </a:prstGeom>
          <a:ln w="25400">
            <a:solidFill>
              <a:srgbClr val="31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0" y="1600200"/>
            <a:ext cx="1234440" cy="68580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500" b="1">
                <a:solidFill>
                  <a:srgbClr val="162542"/>
                </a:solidFill>
                <a:latin typeface="Aptos"/>
              </a:rPr>
              <a:t>CPU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2560320"/>
            <a:ext cx="1234440" cy="68580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500" b="1">
                <a:solidFill>
                  <a:srgbClr val="162542"/>
                </a:solidFill>
                <a:latin typeface="Aptos"/>
              </a:rPr>
              <a:t>CPU 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52560" y="2331720"/>
            <a:ext cx="960120" cy="228600"/>
          </a:xfrm>
          <a:prstGeom prst="line">
            <a:avLst/>
          </a:prstGeom>
          <a:ln w="25400">
            <a:solidFill>
              <a:srgbClr val="1C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3931920"/>
            <a:ext cx="1014984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800" b="1" i="0">
                <a:solidFill>
                  <a:srgbClr val="162542"/>
                </a:solidFill>
                <a:latin typeface="Aptos"/>
              </a:rPr>
              <a:t>The program expresses dependencies and opportunities; the scheduler decides which ready tasks overlap.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Parallel loops: a practical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The PDF uses matrix–vector multiplication as an example.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PARALLEL LOOPS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84632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700" b="1" i="0">
                <a:solidFill>
                  <a:srgbClr val="162542"/>
                </a:solidFill>
                <a:latin typeface="Aptos"/>
              </a:rPr>
              <a:t>For each row i, compute one output yᵢ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62179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1">
                <a:solidFill>
                  <a:srgbClr val="162542"/>
                </a:solidFill>
                <a:latin typeface="Aptos"/>
              </a:rPr>
              <a:t>a11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1965960"/>
            <a:ext cx="62179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1">
                <a:solidFill>
                  <a:srgbClr val="162542"/>
                </a:solidFill>
                <a:latin typeface="Aptos"/>
              </a:rPr>
              <a:t>a12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1965960"/>
            <a:ext cx="62179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1">
                <a:solidFill>
                  <a:srgbClr val="162542"/>
                </a:solidFill>
                <a:latin typeface="Aptos"/>
              </a:rPr>
              <a:t>a13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560320"/>
            <a:ext cx="62179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1">
                <a:solidFill>
                  <a:srgbClr val="162542"/>
                </a:solidFill>
                <a:latin typeface="Aptos"/>
              </a:rPr>
              <a:t>a21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40" y="2560320"/>
            <a:ext cx="62179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1">
                <a:solidFill>
                  <a:srgbClr val="162542"/>
                </a:solidFill>
                <a:latin typeface="Aptos"/>
              </a:rPr>
              <a:t>a22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560320"/>
            <a:ext cx="62179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1">
                <a:solidFill>
                  <a:srgbClr val="162542"/>
                </a:solidFill>
                <a:latin typeface="Aptos"/>
              </a:rPr>
              <a:t>a23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154680"/>
            <a:ext cx="62179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1">
                <a:solidFill>
                  <a:srgbClr val="162542"/>
                </a:solidFill>
                <a:latin typeface="Aptos"/>
              </a:rPr>
              <a:t>a31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1640" y="3154680"/>
            <a:ext cx="62179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1">
                <a:solidFill>
                  <a:srgbClr val="162542"/>
                </a:solidFill>
                <a:latin typeface="Aptos"/>
              </a:rPr>
              <a:t>a32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3154680"/>
            <a:ext cx="62179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1">
                <a:solidFill>
                  <a:srgbClr val="162542"/>
                </a:solidFill>
                <a:latin typeface="Aptos"/>
              </a:rPr>
              <a:t>a33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1965960"/>
            <a:ext cx="658368" cy="438912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1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100" b="1">
                <a:solidFill>
                  <a:srgbClr val="162542"/>
                </a:solidFill>
                <a:latin typeface="Aptos"/>
              </a:rPr>
              <a:t>x1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2560320"/>
            <a:ext cx="658368" cy="438912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1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100" b="1">
                <a:solidFill>
                  <a:srgbClr val="162542"/>
                </a:solidFill>
                <a:latin typeface="Aptos"/>
              </a:rPr>
              <a:t>x2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3154680"/>
            <a:ext cx="658368" cy="438912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1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100" b="1">
                <a:solidFill>
                  <a:srgbClr val="162542"/>
                </a:solidFill>
                <a:latin typeface="Aptos"/>
              </a:rPr>
              <a:t>x3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2743200"/>
            <a:ext cx="731520" cy="0"/>
          </a:xfrm>
          <a:prstGeom prst="line">
            <a:avLst/>
          </a:prstGeom>
          <a:ln w="25400">
            <a:solidFill>
              <a:srgbClr val="1C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0" y="1965960"/>
            <a:ext cx="1097280" cy="438912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200" b="1">
                <a:solidFill>
                  <a:srgbClr val="162542"/>
                </a:solidFill>
                <a:latin typeface="Aptos"/>
              </a:rPr>
              <a:t>y1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2560320"/>
            <a:ext cx="1097280" cy="438912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200" b="1">
                <a:solidFill>
                  <a:srgbClr val="162542"/>
                </a:solidFill>
                <a:latin typeface="Aptos"/>
              </a:rPr>
              <a:t>y2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3154680"/>
            <a:ext cx="1097280" cy="438912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200" b="1">
                <a:solidFill>
                  <a:srgbClr val="162542"/>
                </a:solidFill>
                <a:latin typeface="Aptos"/>
              </a:rPr>
              <a:t>y3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1828800"/>
            <a:ext cx="3657600" cy="20116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600" b="0" i="0">
                <a:solidFill>
                  <a:srgbClr val="2A3443"/>
                </a:solidFill>
                <a:latin typeface="Aptos"/>
              </a:rPr>
              <a:t>Each yᵢ depends on row i and vector x.
If each iteration writes a different yᵢ, the rows can be computed independently.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480560"/>
            <a:ext cx="10241280" cy="77724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FF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8720" y="4681728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700" b="1" i="0">
                <a:solidFill>
                  <a:srgbClr val="162542"/>
                </a:solidFill>
                <a:latin typeface="Aptos"/>
              </a:rPr>
              <a:t>Parallelise independent outputs—not arbitrary shared updates.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Race condition: the classic trap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Two tasks access the same memory location, and at least one writes.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RACE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417320"/>
            <a:ext cx="2743200" cy="96012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664208"/>
            <a:ext cx="2377440" cy="4572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800" b="1" i="0">
                <a:solidFill>
                  <a:srgbClr val="162542"/>
                </a:solidFill>
                <a:latin typeface="Aptos"/>
              </a:rPr>
              <a:t>Shared variable x = 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01952"/>
            <a:ext cx="594360" cy="0"/>
          </a:xfrm>
          <a:prstGeom prst="line">
            <a:avLst/>
          </a:prstGeom>
          <a:ln w="25400">
            <a:solidFill>
              <a:srgbClr val="31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97680" y="1417320"/>
            <a:ext cx="2377440" cy="77724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500" b="1">
                <a:solidFill>
                  <a:srgbClr val="162542"/>
                </a:solidFill>
                <a:latin typeface="Aptos"/>
              </a:rPr>
              <a:t>Thread A: x +=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560320"/>
            <a:ext cx="2377440" cy="77724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1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500" b="1">
                <a:solidFill>
                  <a:srgbClr val="162542"/>
                </a:solidFill>
                <a:latin typeface="Aptos"/>
              </a:rPr>
              <a:t>Thread B: x += 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66560" y="1810512"/>
            <a:ext cx="640080" cy="338328"/>
          </a:xfrm>
          <a:prstGeom prst="line">
            <a:avLst/>
          </a:prstGeom>
          <a:ln w="25400">
            <a:solidFill>
              <a:srgbClr val="1C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766560" y="2423160"/>
            <a:ext cx="640080" cy="502920"/>
          </a:xfrm>
          <a:prstGeom prst="line">
            <a:avLst/>
          </a:prstGeom>
          <a:ln w="25400">
            <a:solidFill>
              <a:srgbClr val="F1B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52360" y="1783080"/>
            <a:ext cx="3108960" cy="1097280"/>
          </a:xfrm>
          <a:prstGeom prst="roundRect">
            <a:avLst/>
          </a:prstGeom>
          <a:solidFill>
            <a:srgbClr val="FDE7E3"/>
          </a:solidFill>
          <a:ln w="12700">
            <a:solidFill>
              <a:srgbClr val="E06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0" y="2029968"/>
            <a:ext cx="2651760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800" b="1" i="0">
                <a:solidFill>
                  <a:srgbClr val="E06052"/>
                </a:solidFill>
                <a:latin typeface="Aptos"/>
              </a:rPr>
              <a:t>Expected: x =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1014984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900" b="1" i="0">
                <a:solidFill>
                  <a:srgbClr val="162542"/>
                </a:solidFill>
                <a:latin typeface="Aptos"/>
              </a:rPr>
              <a:t>Both may read 0, each calculate 1, and both write 1 → one update is lost.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100584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500" b="0" i="1">
                <a:solidFill>
                  <a:srgbClr val="657182"/>
                </a:solidFill>
                <a:latin typeface="Aptos"/>
              </a:rPr>
              <a:t>The final result can depend on how instructions interleave.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Why can x += 1 lose an update?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An increment is usually a sequence—not one indivisible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RACE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560320" cy="1920240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31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45720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100" b="1" i="0">
                <a:solidFill>
                  <a:srgbClr val="3167B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938528"/>
            <a:ext cx="16459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1" i="0">
                <a:solidFill>
                  <a:srgbClr val="162542"/>
                </a:solidFill>
                <a:latin typeface="Aptos"/>
              </a:rP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219456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500" b="0" i="0">
                <a:solidFill>
                  <a:srgbClr val="2A3443"/>
                </a:solidFill>
                <a:latin typeface="Aptos"/>
              </a:rPr>
              <a:t>Thread A reads x = 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2697480"/>
            <a:ext cx="237744" cy="0"/>
          </a:xfrm>
          <a:prstGeom prst="line">
            <a:avLst/>
          </a:prstGeom>
          <a:ln w="2540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11880" y="1737360"/>
            <a:ext cx="2560320" cy="192024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1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76472" y="1920240"/>
            <a:ext cx="45720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100" b="1" i="0">
                <a:solidFill>
                  <a:srgbClr val="F1B543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938528"/>
            <a:ext cx="16459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1" i="0">
                <a:solidFill>
                  <a:srgbClr val="162542"/>
                </a:solidFill>
                <a:latin typeface="Aptos"/>
              </a:rPr>
              <a:t>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606040"/>
            <a:ext cx="219456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500" b="0" i="0">
                <a:solidFill>
                  <a:srgbClr val="2A3443"/>
                </a:solidFill>
                <a:latin typeface="Aptos"/>
              </a:rPr>
              <a:t>Thread B reads x = 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90488" y="2697480"/>
            <a:ext cx="237744" cy="0"/>
          </a:xfrm>
          <a:prstGeom prst="line">
            <a:avLst/>
          </a:prstGeom>
          <a:ln w="2540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92240" y="1737360"/>
            <a:ext cx="2560320" cy="192024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1C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56831" y="1920240"/>
            <a:ext cx="45720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100" b="1" i="0">
                <a:solidFill>
                  <a:srgbClr val="1C9791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7" y="1938528"/>
            <a:ext cx="16459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1" i="0">
                <a:solidFill>
                  <a:srgbClr val="162542"/>
                </a:solidFill>
                <a:latin typeface="Aptos"/>
              </a:rPr>
              <a:t>CALCULATE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606040"/>
            <a:ext cx="219456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500" b="0" i="0">
                <a:solidFill>
                  <a:srgbClr val="2A3443"/>
                </a:solidFill>
                <a:latin typeface="Aptos"/>
              </a:rPr>
              <a:t>Both compute 0 + 1 = 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70848" y="2697480"/>
            <a:ext cx="237744" cy="0"/>
          </a:xfrm>
          <a:prstGeom prst="line">
            <a:avLst/>
          </a:prstGeom>
          <a:ln w="2540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72600" y="1737360"/>
            <a:ext cx="2560320" cy="1920240"/>
          </a:xfrm>
          <a:prstGeom prst="roundRect">
            <a:avLst/>
          </a:prstGeom>
          <a:solidFill>
            <a:srgbClr val="FDE7E3"/>
          </a:solidFill>
          <a:ln w="12700">
            <a:solidFill>
              <a:srgbClr val="E06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37192" y="1920240"/>
            <a:ext cx="45720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100" b="1" i="0">
                <a:solidFill>
                  <a:srgbClr val="E06052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1938528"/>
            <a:ext cx="16459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1" i="0">
                <a:solidFill>
                  <a:srgbClr val="162542"/>
                </a:solidFill>
                <a:latin typeface="Aptos"/>
              </a:rPr>
              <a:t>WRITE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606040"/>
            <a:ext cx="219456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500" b="0" i="0">
                <a:solidFill>
                  <a:srgbClr val="2A3443"/>
                </a:solidFill>
                <a:latin typeface="Aptos"/>
              </a:rPr>
              <a:t>Both write 1 → final x may be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43400"/>
            <a:ext cx="1024128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800" b="1" i="0">
                <a:solidFill>
                  <a:srgbClr val="E06052"/>
                </a:solidFill>
                <a:latin typeface="Aptos"/>
              </a:rPr>
              <a:t>A different ordering may produce 2. That unpredictability makes races hard to test.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How do we avoid races?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The PDF’s rule of thumb: keep parallel strands independent.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RACE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51206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73152" cy="1965960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1609344"/>
            <a:ext cx="4754879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Safer parallel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029968"/>
            <a:ext cx="4754879" cy="1307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Each iteration reads what it needs and writes to its own result location.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1206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63040"/>
            <a:ext cx="73152" cy="1965960"/>
          </a:xfrm>
          <a:prstGeom prst="rect">
            <a:avLst/>
          </a:prstGeom>
          <a:solidFill>
            <a:srgbClr val="E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609344"/>
            <a:ext cx="4754879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700" b="1" i="0">
                <a:solidFill>
                  <a:srgbClr val="162542"/>
                </a:solidFill>
                <a:latin typeface="Aptos"/>
              </a:rPr>
              <a:t>Risky parallel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029968"/>
            <a:ext cx="4754879" cy="1307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400" b="0" i="0">
                <a:solidFill>
                  <a:srgbClr val="2A3443"/>
                </a:solidFill>
                <a:latin typeface="Aptos"/>
              </a:rPr>
              <a:t>Multiple iterations update the same shared variable without coordination.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069080"/>
            <a:ext cx="10241280" cy="100584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FF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297680"/>
            <a:ext cx="9692640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900" b="1" i="0">
                <a:solidFill>
                  <a:srgbClr val="162542"/>
                </a:solidFill>
                <a:latin typeface="Aptos"/>
              </a:rPr>
              <a:t>Deterministic: same input → same result, regardless of scheduling.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394960"/>
            <a:ext cx="996696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/>
            <a:r>
              <a:rPr sz="1300" b="0" i="1">
                <a:solidFill>
                  <a:srgbClr val="657182"/>
                </a:solidFill>
                <a:latin typeface="Aptos"/>
              </a:rPr>
              <a:t>Locks and synchronization can coordinate shared updates; here we focus on independence.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Five ideas to take 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13816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>
                <a:solidFill>
                  <a:srgbClr val="657182"/>
                </a:solidFill>
                <a:latin typeface="Aptos"/>
              </a:rPr>
              <a:t>If students can explain these, the foundations are in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25880"/>
            <a:ext cx="10378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463039"/>
            <a:ext cx="19659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600" b="1" i="0">
                <a:solidFill>
                  <a:srgbClr val="1C9791"/>
                </a:solidFill>
                <a:latin typeface="Aptos"/>
              </a:rPr>
              <a:t>Thread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463039"/>
            <a:ext cx="786384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500" b="0" i="0">
                <a:solidFill>
                  <a:srgbClr val="2A3443"/>
                </a:solidFill>
                <a:latin typeface="Aptos"/>
              </a:rPr>
              <a:t>An independently schedulable sequence of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167128"/>
            <a:ext cx="10378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304288"/>
            <a:ext cx="19659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600" b="1" i="0">
                <a:solidFill>
                  <a:srgbClr val="1C9791"/>
                </a:solidFill>
                <a:latin typeface="Aptos"/>
              </a:rPr>
              <a:t>spawn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304288"/>
            <a:ext cx="786384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500" b="0" i="0">
                <a:solidFill>
                  <a:srgbClr val="2A3443"/>
                </a:solidFill>
                <a:latin typeface="Aptos"/>
              </a:rPr>
              <a:t>A child task may run alongside the parent.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008376"/>
            <a:ext cx="10378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145536"/>
            <a:ext cx="19659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600" b="1" i="0">
                <a:solidFill>
                  <a:srgbClr val="1C9791"/>
                </a:solidFill>
                <a:latin typeface="Aptos"/>
              </a:rPr>
              <a:t>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145536"/>
            <a:ext cx="786384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500" b="0" i="0">
                <a:solidFill>
                  <a:srgbClr val="2A3443"/>
                </a:solidFill>
                <a:latin typeface="Aptos"/>
              </a:rPr>
              <a:t>Wait for spawned work before using its result.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849624"/>
            <a:ext cx="10378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986784"/>
            <a:ext cx="19659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600" b="1" i="0">
                <a:solidFill>
                  <a:srgbClr val="3167B4"/>
                </a:solidFill>
                <a:latin typeface="Aptos"/>
              </a:rPr>
              <a:t>Work / span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986784"/>
            <a:ext cx="786384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500" b="0" i="0">
                <a:solidFill>
                  <a:srgbClr val="2A3443"/>
                </a:solidFill>
                <a:latin typeface="Aptos"/>
              </a:rPr>
              <a:t>Total work versus the longest dependency chain.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90872"/>
            <a:ext cx="10378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828032"/>
            <a:ext cx="19659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600" b="1" i="0">
                <a:solidFill>
                  <a:srgbClr val="E06052"/>
                </a:solidFill>
                <a:latin typeface="Aptos"/>
              </a:rPr>
              <a:t>Race condition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828032"/>
            <a:ext cx="7863840" cy="34747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500" b="0" i="0">
                <a:solidFill>
                  <a:srgbClr val="2A3443"/>
                </a:solidFill>
                <a:latin typeface="Aptos"/>
              </a:rPr>
              <a:t>Shared-memory access can make results schedule-dependent.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789920" cy="5120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2700" b="1" i="0">
                <a:solidFill>
                  <a:srgbClr val="162542"/>
                </a:solidFill>
                <a:latin typeface="Aptos"/>
              </a:rPr>
              <a:t>Exit ticket: discuss with a partner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14400"/>
            <a:ext cx="731520" cy="5029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04672"/>
            <a:ext cx="9966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000" b="0" i="0" dirty="0">
                <a:solidFill>
                  <a:srgbClr val="657182"/>
                </a:solidFill>
                <a:latin typeface="Aptos"/>
              </a:rPr>
              <a:t>Give students 2–3 minutes before ending class.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92608"/>
            <a:ext cx="214884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1" i="0">
                <a:solidFill>
                  <a:srgbClr val="3167B4"/>
                </a:solidFill>
                <a:latin typeface="Aptos"/>
              </a:rPr>
              <a:t>CHECK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/>
            <a:r>
              <a:rPr sz="900" b="0" i="0">
                <a:solidFill>
                  <a:srgbClr val="657182"/>
                </a:solidFill>
                <a:latin typeface="Aptos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25880"/>
            <a:ext cx="10332720" cy="621792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481328"/>
            <a:ext cx="98755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600" b="1" i="0">
                <a:solidFill>
                  <a:srgbClr val="162542"/>
                </a:solidFill>
                <a:latin typeface="Aptos"/>
              </a:rPr>
              <a:t>1. Can tasks be concurrent without executing at the same instant?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67128"/>
            <a:ext cx="103327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98755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600" b="1" i="0">
                <a:solidFill>
                  <a:srgbClr val="162542"/>
                </a:solidFill>
                <a:latin typeface="Aptos"/>
              </a:rPr>
              <a:t>2. Why does parallel Fibonacci need sync before returning x + 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008376"/>
            <a:ext cx="10332720" cy="621792"/>
          </a:xfrm>
          <a:prstGeom prst="roundRect">
            <a:avLst/>
          </a:prstGeom>
          <a:solidFill>
            <a:srgbClr val="E2EDFA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163824"/>
            <a:ext cx="98755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600" b="1" i="0">
                <a:solidFill>
                  <a:srgbClr val="162542"/>
                </a:solidFill>
                <a:latin typeface="Aptos"/>
              </a:rPr>
              <a:t>3. If two loop iterations write to the same variable, what could go wrong?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49624"/>
            <a:ext cx="103327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005072"/>
            <a:ext cx="98755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/>
            <a:r>
              <a:rPr sz="1600" b="1" i="0">
                <a:solidFill>
                  <a:srgbClr val="162542"/>
                </a:solidFill>
                <a:latin typeface="Aptos"/>
              </a:rPr>
              <a:t>4. What is the difference between work and span?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1586</Words>
  <Application>Microsoft Office PowerPoint</Application>
  <PresentationFormat>Widescreen</PresentationFormat>
  <Paragraphs>296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Sajjanar, Ravi</cp:lastModifiedBy>
  <cp:revision>13</cp:revision>
  <dcterms:created xsi:type="dcterms:W3CDTF">2013-01-27T09:14:16Z</dcterms:created>
  <dcterms:modified xsi:type="dcterms:W3CDTF">2026-10-27T03:56:41Z</dcterms:modified>
  <cp:category/>
</cp:coreProperties>
</file>