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8F06A0-6A68-FFD3-907C-E9FF59AE6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80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143000"/>
            <a:ext cx="7406640" cy="1417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F5F8FF"/>
                </a:solidFill>
                <a:latin typeface="Aptos"/>
              </a:rPr>
              <a:t>Can a computer do
multiple things at once?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88920"/>
            <a:ext cx="6949440" cy="41148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C75C"/>
                </a:solidFill>
                <a:latin typeface="Aptos"/>
              </a:rPr>
              <a:t>What determines whether it actually does?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914400"/>
            <a:ext cx="2880360" cy="393192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49640" y="1170432"/>
            <a:ext cx="2240280" cy="274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5F8FF"/>
                </a:solidFill>
                <a:latin typeface="Aptos"/>
              </a:rPr>
              <a:t>YOUR LAPTOP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783080"/>
            <a:ext cx="2240280" cy="658368"/>
          </a:xfrm>
          <a:prstGeom prst="round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05088" y="1901952"/>
            <a:ext cx="393192" cy="393192"/>
          </a:xfrm>
          <a:prstGeom prst="roundRect">
            <a:avLst/>
          </a:prstGeom>
          <a:solidFill>
            <a:srgbClr val="44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05088" y="1938528"/>
            <a:ext cx="393192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C1426"/>
                </a:solidFill>
                <a:latin typeface="Aptos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38528"/>
            <a:ext cx="1417320" cy="292608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F8FF"/>
                </a:solidFill>
                <a:latin typeface="Aptos"/>
              </a:rPr>
              <a:t>DOWNLOAD A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697480"/>
            <a:ext cx="2240280" cy="658368"/>
          </a:xfrm>
          <a:prstGeom prst="round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05088" y="2816352"/>
            <a:ext cx="393192" cy="393192"/>
          </a:xfrm>
          <a:prstGeom prst="round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05088" y="2852928"/>
            <a:ext cx="393192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C1426"/>
                </a:solidFill>
                <a:latin typeface="Aptos"/>
              </a:rPr>
              <a:t>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2852928"/>
            <a:ext cx="1417320" cy="292608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F8FF"/>
                </a:solidFill>
                <a:latin typeface="Aptos"/>
              </a:rPr>
              <a:t>PLAY MUSIC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3611880"/>
            <a:ext cx="2240280" cy="658368"/>
          </a:xfrm>
          <a:prstGeom prst="round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705088" y="3730752"/>
            <a:ext cx="393192" cy="393192"/>
          </a:xfrm>
          <a:prstGeom prst="roundRect">
            <a:avLst/>
          </a:prstGeom>
          <a:solidFill>
            <a:srgbClr val="71E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05088" y="3767328"/>
            <a:ext cx="393192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C1426"/>
                </a:solidFill>
                <a:latin typeface="Aptos"/>
              </a:rPr>
              <a:t>{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3767328"/>
            <a:ext cx="1417320" cy="292608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F8FF"/>
                </a:solidFill>
                <a:latin typeface="Aptos"/>
              </a:rPr>
              <a:t>RUN PYTHON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32020"/>
            <a:ext cx="2011680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100" b="1" dirty="0">
                <a:solidFill>
                  <a:srgbClr val="44DCE7"/>
                </a:solidFill>
                <a:latin typeface="Aptos"/>
              </a:rPr>
              <a:t>THINK ??</a:t>
            </a:r>
            <a:endParaRPr sz="1100" b="1" dirty="0">
              <a:solidFill>
                <a:srgbClr val="44DCE7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5102352"/>
            <a:ext cx="10515600" cy="6858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dirty="0">
                <a:solidFill>
                  <a:srgbClr val="F5F8FF"/>
                </a:solidFill>
                <a:latin typeface="Aptos"/>
              </a:rPr>
              <a:t>Are they taking turns, running simultaneously, or both depending on the situation?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86968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4DCE7"/>
                </a:solidFill>
                <a:latin typeface="Aptos"/>
              </a:rPr>
              <a:t>CONNECT THE EXAMPLE TO THE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256032"/>
            <a:ext cx="100584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EBDD6"/>
                </a:solidFill>
                <a:latin typeface="Aptos"/>
              </a:rPr>
              <a:t>02  / 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1018520" cy="228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10972800" cy="57607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5F8FF"/>
                </a:solidFill>
                <a:latin typeface="Aptos"/>
              </a:rPr>
              <a:t>What makes multiple activities possible?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2606040" cy="242316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2240280"/>
            <a:ext cx="91440" cy="384048"/>
          </a:xfrm>
          <a:prstGeom prst="roundRect">
            <a:avLst/>
          </a:prstGeom>
          <a:solidFill>
            <a:srgbClr val="44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221992"/>
            <a:ext cx="207568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CPU CORES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60904"/>
            <a:ext cx="2039112" cy="172821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DD6"/>
                </a:solidFill>
                <a:latin typeface="Aptos"/>
              </a:rPr>
              <a:t>Execute instructions. Multiple cores can execute instructions at the same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057400"/>
            <a:ext cx="2606040" cy="242316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85032" y="2240280"/>
            <a:ext cx="91440" cy="384048"/>
          </a:xfrm>
          <a:prstGeom prst="round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04488" y="2221992"/>
            <a:ext cx="207568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4488" y="2660904"/>
            <a:ext cx="2039112" cy="172821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DD6"/>
                </a:solidFill>
                <a:latin typeface="Aptos"/>
              </a:rPr>
              <a:t>Represent running programs, with their own address spaces and resources.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57400"/>
            <a:ext cx="2606040" cy="242316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73952" y="2240280"/>
            <a:ext cx="91440" cy="384048"/>
          </a:xfrm>
          <a:prstGeom prst="roundRect">
            <a:avLst/>
          </a:prstGeom>
          <a:solidFill>
            <a:srgbClr val="71E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93408" y="2221992"/>
            <a:ext cx="207568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THREADS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660904"/>
            <a:ext cx="2039112" cy="172821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DD6"/>
                </a:solidFill>
                <a:latin typeface="Aptos"/>
              </a:rPr>
              <a:t>Paths of execution inside a process. Threads in one process typically share memory.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057400"/>
            <a:ext cx="2331720" cy="242316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262872" y="2240280"/>
            <a:ext cx="91440" cy="384048"/>
          </a:xfrm>
          <a:prstGeom prst="roundRect">
            <a:avLst/>
          </a:prstGeom>
          <a:solidFill>
            <a:srgbClr val="FF8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82328" y="2221992"/>
            <a:ext cx="1801367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OS SCHEDULER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660904"/>
            <a:ext cx="1764791" cy="172821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DD6"/>
                </a:solidFill>
                <a:latin typeface="Aptos"/>
              </a:rPr>
              <a:t>Chooses which runnable threads get CPU time and when.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983480"/>
            <a:ext cx="10607040" cy="731520"/>
          </a:xfrm>
          <a:prstGeom prst="round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5148072"/>
            <a:ext cx="10149840" cy="5786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700" b="1" dirty="0">
                <a:solidFill>
                  <a:srgbClr val="F5F8FF"/>
                </a:solidFill>
                <a:latin typeface="Aptos"/>
              </a:rPr>
              <a:t>Note</a:t>
            </a:r>
            <a:r>
              <a:rPr sz="1700" b="1" dirty="0">
                <a:solidFill>
                  <a:srgbClr val="F5F8FF"/>
                </a:solidFill>
                <a:latin typeface="Aptos"/>
              </a:rPr>
              <a:t>: “Apps provide the work; processes and threads organize execution; CPU cores execute instructions.”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607040" cy="274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EBDD6"/>
                </a:solidFill>
                <a:latin typeface="Aptos"/>
              </a:rPr>
              <a:t>Important: multiple cores make parallel execution possible; they don’t guarantee every task runs in parallel.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86968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4DCE7"/>
                </a:solidFill>
                <a:latin typeface="Aptos"/>
              </a:rPr>
              <a:t>CORE CONCEPT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256032"/>
            <a:ext cx="100584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EBDD6"/>
                </a:solidFill>
                <a:latin typeface="Aptos"/>
              </a:rPr>
              <a:t>03  / 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1018520" cy="228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10972800" cy="57607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5F8FF"/>
                </a:solidFill>
                <a:latin typeface="Aptos"/>
              </a:rPr>
              <a:t>Concurrency: tasks make progress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517904"/>
            <a:ext cx="10789920" cy="43891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DD6"/>
                </a:solidFill>
                <a:latin typeface="Aptos"/>
              </a:rPr>
              <a:t>A single core can switch between runnable tasks. They don’t have to execute at the same instant.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029200" cy="105156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1832" y="2148840"/>
            <a:ext cx="91440" cy="384048"/>
          </a:xfrm>
          <a:prstGeom prst="roundRect">
            <a:avLst/>
          </a:prstGeom>
          <a:solidFill>
            <a:srgbClr val="44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130552"/>
            <a:ext cx="449884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ONE CPU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569464"/>
            <a:ext cx="4462272" cy="356615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DD6"/>
                </a:solidFill>
                <a:latin typeface="Aptos"/>
              </a:rPr>
              <a:t>The core executes one instruction stream at a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1005840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EBDD6"/>
                </a:solidFill>
                <a:latin typeface="Aptos"/>
              </a:rPr>
              <a:t>TIME 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49039"/>
            <a:ext cx="566928" cy="530352"/>
          </a:xfrm>
          <a:prstGeom prst="roundRect">
            <a:avLst/>
          </a:prstGeom>
          <a:solidFill>
            <a:srgbClr val="44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566928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C1426"/>
                </a:solidFill>
                <a:latin typeface="Aptos"/>
              </a:rPr>
              <a:t>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81912" y="3749039"/>
            <a:ext cx="566928" cy="530352"/>
          </a:xfrm>
          <a:prstGeom prst="round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81912" y="3858768"/>
            <a:ext cx="566928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C1426"/>
                </a:solidFill>
                <a:latin typeface="Aptos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9424" y="3749039"/>
            <a:ext cx="566928" cy="530352"/>
          </a:xfrm>
          <a:prstGeom prst="roundRect">
            <a:avLst/>
          </a:prstGeom>
          <a:solidFill>
            <a:srgbClr val="44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49424" y="3858768"/>
            <a:ext cx="566928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C1426"/>
                </a:solidFill>
                <a:latin typeface="Aptos"/>
              </a:rPr>
              <a:t>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16936" y="3749039"/>
            <a:ext cx="566928" cy="530352"/>
          </a:xfrm>
          <a:prstGeom prst="round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16936" y="3858768"/>
            <a:ext cx="566928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C1426"/>
                </a:solidFill>
                <a:latin typeface="Aptos"/>
              </a:rPr>
              <a:t>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84448" y="3749039"/>
            <a:ext cx="566928" cy="530352"/>
          </a:xfrm>
          <a:prstGeom prst="roundRect">
            <a:avLst/>
          </a:prstGeom>
          <a:solidFill>
            <a:srgbClr val="44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84448" y="3858768"/>
            <a:ext cx="566928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C1426"/>
                </a:solidFill>
                <a:latin typeface="Aptos"/>
              </a:rPr>
              <a:t>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49039"/>
            <a:ext cx="566928" cy="530352"/>
          </a:xfrm>
          <a:prstGeom prst="round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51960" y="3858768"/>
            <a:ext cx="566928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C1426"/>
                </a:solidFill>
                <a:latin typeface="Aptos"/>
              </a:rPr>
              <a:t>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19472" y="3749039"/>
            <a:ext cx="566928" cy="530352"/>
          </a:xfrm>
          <a:prstGeom prst="roundRect">
            <a:avLst/>
          </a:prstGeom>
          <a:solidFill>
            <a:srgbClr val="44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19472" y="3858768"/>
            <a:ext cx="566928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C1426"/>
                </a:solidFill>
                <a:latin typeface="Aptos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965960"/>
            <a:ext cx="5120640" cy="256032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82512" y="2148840"/>
            <a:ext cx="91440" cy="384048"/>
          </a:xfrm>
          <a:prstGeom prst="round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01968" y="2130552"/>
            <a:ext cx="459028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700" b="1" dirty="0">
                <a:solidFill>
                  <a:srgbClr val="F5F8FF"/>
                </a:solidFill>
                <a:latin typeface="Aptos"/>
              </a:rPr>
              <a:t>ACTIONS</a:t>
            </a:r>
            <a:endParaRPr sz="1700" b="1" dirty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01968" y="2569464"/>
            <a:ext cx="4553712" cy="186537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EBDD6"/>
                </a:solidFill>
                <a:latin typeface="Aptos"/>
              </a:rPr>
              <a:t>“The download, music and program may all make progress. On one core, the operating system can switch between their threads.”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074920"/>
            <a:ext cx="10515600" cy="4572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5F8FF"/>
                </a:solidFill>
                <a:latin typeface="Aptos"/>
              </a:rPr>
              <a:t>CONCURRENCY = overlapping progress; execution may take turns.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806440"/>
            <a:ext cx="10515600" cy="301621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600" b="0" dirty="0">
                <a:solidFill>
                  <a:srgbClr val="AEBDD6"/>
                </a:solidFill>
                <a:latin typeface="Aptos"/>
              </a:rPr>
              <a:t>THINK</a:t>
            </a:r>
            <a:r>
              <a:rPr sz="1600" b="0" dirty="0">
                <a:solidFill>
                  <a:srgbClr val="AEBDD6"/>
                </a:solidFill>
                <a:latin typeface="Aptos"/>
              </a:rPr>
              <a:t>: “Can a single-core computer appear to do many things at once?”.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86968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4DCE7"/>
                </a:solidFill>
                <a:latin typeface="Aptos"/>
              </a:rPr>
              <a:t>CORE CONCEPT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256032"/>
            <a:ext cx="100584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EBDD6"/>
                </a:solidFill>
                <a:latin typeface="Aptos"/>
              </a:rPr>
              <a:t>04  / 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1018520" cy="228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10972800" cy="57607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5F8FF"/>
                </a:solidFill>
                <a:latin typeface="Aptos"/>
              </a:rPr>
              <a:t>Parallelism: work executes simultaneously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517904"/>
            <a:ext cx="10789920" cy="43891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DD6"/>
                </a:solidFill>
                <a:latin typeface="Aptos"/>
              </a:rPr>
              <a:t>With multiple available cores, separate runnable threads may execute at the same instant.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029200" cy="96012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1832" y="2148840"/>
            <a:ext cx="91440" cy="384048"/>
          </a:xfrm>
          <a:prstGeom prst="roundRect">
            <a:avLst/>
          </a:prstGeom>
          <a:solidFill>
            <a:srgbClr val="71E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130552"/>
            <a:ext cx="449884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TWO CPU CORES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569464"/>
            <a:ext cx="4462272" cy="26517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EBDD6"/>
                </a:solidFill>
                <a:latin typeface="Aptos"/>
              </a:rPr>
              <a:t>Each core can execute its own instruction stream.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246120"/>
            <a:ext cx="4389120" cy="566928"/>
          </a:xfrm>
          <a:prstGeom prst="round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15568" y="3355848"/>
            <a:ext cx="164592" cy="347472"/>
          </a:xfrm>
          <a:prstGeom prst="roundRect">
            <a:avLst/>
          </a:prstGeom>
          <a:solidFill>
            <a:srgbClr val="44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81328" y="3383279"/>
            <a:ext cx="3566160" cy="274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F"/>
                </a:solidFill>
                <a:latin typeface="Aptos"/>
              </a:rPr>
              <a:t>CORE 1  •  TASK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069080"/>
            <a:ext cx="4389120" cy="566928"/>
          </a:xfrm>
          <a:prstGeom prst="round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15568" y="4178808"/>
            <a:ext cx="164592" cy="347472"/>
          </a:xfrm>
          <a:prstGeom prst="round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81328" y="4206240"/>
            <a:ext cx="3566160" cy="274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F"/>
                </a:solidFill>
                <a:latin typeface="Aptos"/>
              </a:rPr>
              <a:t>CORE 2  •  TASK 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65960"/>
            <a:ext cx="5120640" cy="256032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82512" y="2148840"/>
            <a:ext cx="91440" cy="384048"/>
          </a:xfrm>
          <a:prstGeom prst="roundRect">
            <a:avLst/>
          </a:prstGeom>
          <a:solidFill>
            <a:srgbClr val="71E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2130552"/>
            <a:ext cx="459028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700" b="1" dirty="0">
                <a:solidFill>
                  <a:srgbClr val="F5F8FF"/>
                </a:solidFill>
                <a:latin typeface="Aptos"/>
              </a:rPr>
              <a:t>ACTION</a:t>
            </a:r>
            <a:endParaRPr sz="1700" b="1" dirty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1968" y="2569464"/>
            <a:ext cx="4553712" cy="186537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EBDD6"/>
                </a:solidFill>
                <a:latin typeface="Aptos"/>
              </a:rPr>
              <a:t>“If the work can run independently and the system schedules it on different cores, the tasks can execute in parallel.”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074920"/>
            <a:ext cx="10515600" cy="4572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5F8FF"/>
                </a:solidFill>
                <a:latin typeface="Aptos"/>
              </a:rPr>
              <a:t>PARALLELISM = execution at the same instant.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06440"/>
            <a:ext cx="10515600" cy="255455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AEBDD6"/>
                </a:solidFill>
                <a:latin typeface="Aptos"/>
              </a:rPr>
              <a:t>Check </a:t>
            </a:r>
            <a:r>
              <a:rPr lang="en-IN" sz="1300" b="0" dirty="0">
                <a:solidFill>
                  <a:srgbClr val="AEBDD6"/>
                </a:solidFill>
                <a:latin typeface="Aptos"/>
              </a:rPr>
              <a:t>Point </a:t>
            </a:r>
            <a:r>
              <a:rPr sz="1300" b="0" dirty="0">
                <a:solidFill>
                  <a:srgbClr val="AEBDD6"/>
                </a:solidFill>
                <a:latin typeface="Aptos"/>
              </a:rPr>
              <a:t>: concurrency is not the same as parallelism.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86968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4DCE7"/>
                </a:solidFill>
                <a:latin typeface="Aptos"/>
              </a:rPr>
              <a:t>COMPARE THE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256032"/>
            <a:ext cx="100584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EBDD6"/>
                </a:solidFill>
                <a:latin typeface="Aptos"/>
              </a:rPr>
              <a:t>05  / 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1018520" cy="228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10972800" cy="57607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5F8FF"/>
                </a:solidFill>
                <a:latin typeface="Aptos"/>
              </a:rPr>
              <a:t>Concurrency vs. parallelism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074920" cy="283464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1832" y="2148840"/>
            <a:ext cx="91440" cy="384048"/>
          </a:xfrm>
          <a:prstGeom prst="roundRect">
            <a:avLst/>
          </a:prstGeom>
          <a:solidFill>
            <a:srgbClr val="44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130552"/>
            <a:ext cx="454456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CONCURRENCY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569464"/>
            <a:ext cx="4507992" cy="213969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EBDD6"/>
                </a:solidFill>
                <a:latin typeface="Aptos"/>
              </a:rPr>
              <a:t>Focus: managing multiple tasks whose progress overlaps.
Possible on one core through switching.
Analogy: one cook alternates between two dishes.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074920" cy="283464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28231" y="2148840"/>
            <a:ext cx="91440" cy="384048"/>
          </a:xfrm>
          <a:prstGeom prst="round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2130552"/>
            <a:ext cx="454456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PARALLELISM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569464"/>
            <a:ext cx="4507992" cy="213969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EBDD6"/>
                </a:solidFill>
                <a:latin typeface="Aptos"/>
              </a:rPr>
              <a:t>Focus: doing multiple pieces of work at the same instant.
Typically needs multiple execution units/cores.
Analogy: two cooks prepare two dishes at once.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257800"/>
            <a:ext cx="10378440" cy="566928"/>
          </a:xfrm>
          <a:prstGeom prst="round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5404104"/>
            <a:ext cx="9966960" cy="301621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600" b="1" dirty="0">
                <a:solidFill>
                  <a:srgbClr val="F5F8FF"/>
                </a:solidFill>
                <a:latin typeface="Aptos"/>
              </a:rPr>
              <a:t>THINK</a:t>
            </a:r>
            <a:r>
              <a:rPr sz="1600" b="1" dirty="0">
                <a:solidFill>
                  <a:srgbClr val="F5F8FF"/>
                </a:solidFill>
                <a:latin typeface="Aptos"/>
              </a:rPr>
              <a:t>: Can a program be concurrent without being parallel?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86968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4DCE7"/>
                </a:solidFill>
                <a:latin typeface="Aptos"/>
              </a:rPr>
              <a:t>CORE CONCEPT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256032"/>
            <a:ext cx="100584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EBDD6"/>
                </a:solidFill>
                <a:latin typeface="Aptos"/>
              </a:rPr>
              <a:t>06  / 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1018520" cy="228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10972800" cy="57607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5F8FF"/>
                </a:solidFill>
                <a:latin typeface="Aptos"/>
              </a:rPr>
              <a:t>Process, thread and task are not synonyms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429000" cy="288036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6112" y="2148840"/>
            <a:ext cx="91440" cy="384048"/>
          </a:xfrm>
          <a:prstGeom prst="roundRect">
            <a:avLst/>
          </a:prstGeom>
          <a:solidFill>
            <a:srgbClr val="44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130552"/>
            <a:ext cx="289864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569464"/>
            <a:ext cx="2862072" cy="2185415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AEBDD6"/>
                </a:solidFill>
                <a:latin typeface="Aptos"/>
              </a:rPr>
              <a:t>A running program and its resources.
Example: the browser or Python interpreter.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429000" cy="288036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53712" y="2148840"/>
            <a:ext cx="91440" cy="384048"/>
          </a:xfrm>
          <a:prstGeom prst="round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2130552"/>
            <a:ext cx="289864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THREAD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569464"/>
            <a:ext cx="2862072" cy="2185415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EBDD6"/>
                </a:solidFill>
                <a:latin typeface="Aptos"/>
              </a:rPr>
              <a:t>A path of execution inside a process.
Example: one thread handles work while another performs a different operation.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65960"/>
            <a:ext cx="3429000" cy="288036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11312" y="2148840"/>
            <a:ext cx="91440" cy="384048"/>
          </a:xfrm>
          <a:prstGeom prst="roundRect">
            <a:avLst/>
          </a:prstGeom>
          <a:solidFill>
            <a:srgbClr val="71E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2130552"/>
            <a:ext cx="289864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569464"/>
            <a:ext cx="2862072" cy="2185415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EBDD6"/>
                </a:solidFill>
                <a:latin typeface="Aptos"/>
              </a:rPr>
              <a:t>A unit of work to be performed.
Example: resize one photo or calculate one section of a matrix.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03520"/>
            <a:ext cx="10607040" cy="59436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AEBDD6"/>
                </a:solidFill>
                <a:latin typeface="Aptos"/>
              </a:rPr>
              <a:t>Useful distinction: processes typically have separate address spaces; threads in the same process typically share memory.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86968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4DCE7"/>
                </a:solidFill>
                <a:latin typeface="Aptos"/>
              </a:rPr>
              <a:t>SEE THE 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256032"/>
            <a:ext cx="100584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EBDD6"/>
                </a:solidFill>
                <a:latin typeface="Aptos"/>
              </a:rPr>
              <a:t>07  / 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1018520" cy="228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10972800" cy="57607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5F8FF"/>
                </a:solidFill>
                <a:latin typeface="Aptos"/>
              </a:rPr>
              <a:t>How work reaches the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517904"/>
            <a:ext cx="10789920" cy="43891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DD6"/>
                </a:solidFill>
                <a:latin typeface="Aptos"/>
              </a:rPr>
              <a:t>A simplified picture: processes contain threads, and the operating system schedules threads onto cores.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2240280" cy="201168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691640" cy="32004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1783080" cy="32004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AEBDD6"/>
                </a:solidFill>
                <a:latin typeface="Aptos"/>
              </a:rPr>
              <a:t>Browser / 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874519"/>
            <a:ext cx="2057400" cy="685800"/>
          </a:xfrm>
          <a:prstGeom prst="roundRect">
            <a:avLst/>
          </a:prstGeom>
          <a:solidFill>
            <a:srgbClr val="44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2084831"/>
            <a:ext cx="1600200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C1426"/>
                </a:solidFill>
                <a:latin typeface="Aptos"/>
              </a:rPr>
              <a:t>THREAD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2971800"/>
            <a:ext cx="2057400" cy="685800"/>
          </a:xfrm>
          <a:prstGeom prst="round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3182112"/>
            <a:ext cx="1600200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C1426"/>
                </a:solidFill>
                <a:latin typeface="Aptos"/>
              </a:rPr>
              <a:t>THREAD 2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063240" y="2221992"/>
            <a:ext cx="868680" cy="521208"/>
          </a:xfrm>
          <a:prstGeom prst="line">
            <a:avLst/>
          </a:prstGeom>
          <a:ln w="25400">
            <a:solidFill>
              <a:srgbClr val="AEB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063240" y="3319272"/>
            <a:ext cx="868680" cy="18288"/>
          </a:xfrm>
          <a:prstGeom prst="line">
            <a:avLst/>
          </a:prstGeom>
          <a:ln w="25400">
            <a:solidFill>
              <a:srgbClr val="AEB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0" y="1874519"/>
            <a:ext cx="2286000" cy="685800"/>
          </a:xfrm>
          <a:prstGeom prst="round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43800" y="2084831"/>
            <a:ext cx="1828800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44DCE7"/>
                </a:solidFill>
                <a:latin typeface="Aptos"/>
              </a:rPr>
              <a:t>CPU CORE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971800"/>
            <a:ext cx="2286000" cy="685800"/>
          </a:xfrm>
          <a:prstGeom prst="round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3182112"/>
            <a:ext cx="1828800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71E5A9"/>
                </a:solidFill>
                <a:latin typeface="Aptos"/>
              </a:rPr>
              <a:t>CPU CORE 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9320" y="2221992"/>
            <a:ext cx="1325880" cy="0"/>
          </a:xfrm>
          <a:prstGeom prst="line">
            <a:avLst/>
          </a:prstGeom>
          <a:ln w="25400">
            <a:solidFill>
              <a:srgbClr val="AEB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89320" y="3319272"/>
            <a:ext cx="1325880" cy="0"/>
          </a:xfrm>
          <a:prstGeom prst="line">
            <a:avLst/>
          </a:prstGeom>
          <a:ln w="25400">
            <a:solidFill>
              <a:srgbClr val="AEB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43800" y="3794760"/>
            <a:ext cx="1828800" cy="274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AEBDD6"/>
                </a:solidFill>
                <a:latin typeface="Aptos"/>
              </a:rPr>
              <a:t>OS scheduler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800600"/>
            <a:ext cx="10378440" cy="777240"/>
          </a:xfrm>
          <a:prstGeom prst="round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8992" y="5001768"/>
            <a:ext cx="9966960" cy="36576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One process can have multiple threads. Threads may run on one core (taking turns) or on different cores.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852160"/>
            <a:ext cx="10424160" cy="274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AEBDD6"/>
                </a:solidFill>
                <a:latin typeface="Aptos"/>
              </a:rPr>
              <a:t>This is a conceptual diagram; real scheduling depends on the OS and runtime.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86968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4DCE7"/>
                </a:solidFill>
                <a:latin typeface="Aptos"/>
              </a:rPr>
              <a:t>PARALLEL ALGORITHM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256032"/>
            <a:ext cx="100584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EBDD6"/>
                </a:solidFill>
                <a:latin typeface="Aptos"/>
              </a:rPr>
              <a:t>08  / 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1018520" cy="228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10972800" cy="57607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5F8FF"/>
                </a:solidFill>
                <a:latin typeface="Aptos"/>
              </a:rPr>
              <a:t>How do programmers express parallel work?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517904"/>
            <a:ext cx="10789920" cy="43891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DD6"/>
                </a:solidFill>
                <a:latin typeface="Aptos"/>
              </a:rPr>
              <a:t>In this lesson, `spawn` and `sync` are pseudocode concepts.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5074920" cy="292608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1828800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44DCE7"/>
                </a:solidFill>
                <a:latin typeface="Aptos"/>
              </a:rPr>
              <a:t>PSEUDOCODE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4389120" cy="31089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44DCE7"/>
                </a:solidFill>
                <a:latin typeface="Aptos"/>
              </a:rPr>
              <a:t>x = spawn task_A()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90672"/>
            <a:ext cx="4389120" cy="31089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C75C"/>
                </a:solidFill>
                <a:latin typeface="Aptos"/>
              </a:rPr>
              <a:t>task_B()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9584"/>
            <a:ext cx="4389120" cy="31089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71E5A9"/>
                </a:solidFill>
                <a:latin typeface="Aptos"/>
              </a:rPr>
              <a:t>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68496"/>
            <a:ext cx="4389120" cy="31089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5F8FF"/>
                </a:solidFill>
                <a:latin typeface="Aptos"/>
              </a:rPr>
              <a:t>combine(x, 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5120640" cy="292608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2743200" cy="22860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C75C"/>
                </a:solidFill>
                <a:latin typeface="Aptos"/>
              </a:rPr>
              <a:t>READ IT LIKE THIS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1143000" cy="274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4DCE7"/>
                </a:solidFill>
                <a:latin typeface="Aptos"/>
              </a:rPr>
              <a:t>spawn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651760"/>
            <a:ext cx="3154680" cy="566928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F"/>
                </a:solidFill>
                <a:latin typeface="Aptos"/>
              </a:rPr>
              <a:t>Start a child task that may run concurrently.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66160"/>
            <a:ext cx="1143000" cy="274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71E5A9"/>
                </a:solidFill>
                <a:latin typeface="Aptos"/>
              </a:rPr>
              <a:t>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566160"/>
            <a:ext cx="3154680" cy="566928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5F8FF"/>
                </a:solidFill>
                <a:latin typeface="Aptos"/>
              </a:rPr>
              <a:t>Wait for the relevant spawned work to finish.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12080"/>
            <a:ext cx="10515600" cy="5029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F"/>
                </a:solidFill>
                <a:latin typeface="Aptos"/>
              </a:rPr>
              <a:t>The parent can work on task B while task A runs. Before using A’s result, it must wait when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97880"/>
            <a:ext cx="10515600" cy="274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DD6"/>
                </a:solidFill>
                <a:latin typeface="Aptos"/>
              </a:rPr>
              <a:t>These are not Python keywords; `spawn` here does not mean “create an OS process.”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86968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4DCE7"/>
                </a:solidFill>
                <a:latin typeface="Aptos"/>
              </a:rPr>
              <a:t>USE IT WISELY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256032"/>
            <a:ext cx="100584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EBDD6"/>
                </a:solidFill>
                <a:latin typeface="Aptos"/>
              </a:rPr>
              <a:t>09  / 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1018520" cy="228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10972800" cy="57607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5F8FF"/>
                </a:solidFill>
                <a:latin typeface="Aptos"/>
              </a:rPr>
              <a:t>When does parallel execution help?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517904"/>
            <a:ext cx="10789920" cy="43891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DD6"/>
                </a:solidFill>
                <a:latin typeface="Aptos"/>
              </a:rPr>
              <a:t>Parallelism is an engineering trade-off, not a guaranteed speed boost.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074920" cy="265176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1832" y="2148840"/>
            <a:ext cx="91440" cy="384048"/>
          </a:xfrm>
          <a:prstGeom prst="roundRect">
            <a:avLst/>
          </a:prstGeom>
          <a:solidFill>
            <a:srgbClr val="71E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130552"/>
            <a:ext cx="454456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LIKELY TO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569464"/>
            <a:ext cx="4507992" cy="1956815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EBDD6"/>
                </a:solidFill>
                <a:latin typeface="Aptos"/>
              </a:rPr>
              <a:t>• Resizing many independent images
• Large matrix calculations
• Splitting a large CPU-heavy job into independent pieces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074920" cy="265176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28231" y="2148840"/>
            <a:ext cx="91440" cy="384048"/>
          </a:xfrm>
          <a:prstGeom prst="roundRect">
            <a:avLst/>
          </a:prstGeom>
          <a:solidFill>
            <a:srgbClr val="FF8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2130552"/>
            <a:ext cx="454456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MAY NOT HELP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569464"/>
            <a:ext cx="4507992" cy="1956815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EBDD6"/>
                </a:solidFill>
                <a:latin typeface="Aptos"/>
              </a:rPr>
              <a:t>• Very small tasks with high overhead
• Work where each step depends on the previous result
• Heavy contention for shared data or locks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120640"/>
            <a:ext cx="10378440" cy="594360"/>
          </a:xfrm>
          <a:prstGeom prst="round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5276088"/>
            <a:ext cx="9966960" cy="274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8FF"/>
                </a:solidFill>
                <a:latin typeface="Aptos"/>
              </a:rPr>
              <a:t>Rule of thumb: enough independent work must exist to outweigh coordination and scheduling costs.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86968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4DCE7"/>
                </a:solidFill>
                <a:latin typeface="Aptos"/>
              </a:rPr>
              <a:t>TODAY'S LEARNING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256032"/>
            <a:ext cx="100584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EBDD6"/>
                </a:solidFill>
                <a:latin typeface="Aptos"/>
              </a:rPr>
              <a:t>10  / 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1018520" cy="228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10972800" cy="50167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2900" b="1" dirty="0">
                <a:solidFill>
                  <a:srgbClr val="F5F8FF"/>
                </a:solidFill>
                <a:latin typeface="Aptos"/>
              </a:rPr>
              <a:t>Check Point:</a:t>
            </a:r>
            <a:endParaRPr sz="2900" b="1" dirty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944" y="1517904"/>
            <a:ext cx="10789920" cy="43891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AEBDD6"/>
                </a:solidFill>
                <a:latin typeface="Aptos"/>
              </a:rPr>
              <a:t>These are practical skills: explain the idea, read the pseudocode, and judge the use case.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38528"/>
            <a:ext cx="10378440" cy="694944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1560" y="2075688"/>
            <a:ext cx="457200" cy="411480"/>
          </a:xfrm>
          <a:prstGeom prst="roundRect">
            <a:avLst/>
          </a:prstGeom>
          <a:solidFill>
            <a:srgbClr val="44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157984"/>
            <a:ext cx="457200" cy="18288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C142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12264"/>
            <a:ext cx="1828800" cy="274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4DCE7"/>
                </a:solidFill>
                <a:latin typeface="Aptos"/>
              </a:rPr>
              <a:t>DISTINGUISH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84832"/>
            <a:ext cx="7132320" cy="34747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Processes, threads and tasks.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52928"/>
            <a:ext cx="10378440" cy="694944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1560" y="2990088"/>
            <a:ext cx="457200" cy="411480"/>
          </a:xfrm>
          <a:prstGeom prst="round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3072384"/>
            <a:ext cx="457200" cy="18288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C1426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026664"/>
            <a:ext cx="1828800" cy="274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C75C"/>
                </a:solidFill>
                <a:latin typeface="Aptos"/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99232"/>
            <a:ext cx="7132320" cy="34747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Concurrency vs. parallelism.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767328"/>
            <a:ext cx="10378440" cy="694944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1560" y="3904488"/>
            <a:ext cx="457200" cy="411480"/>
          </a:xfrm>
          <a:prstGeom prst="roundRect">
            <a:avLst/>
          </a:prstGeom>
          <a:solidFill>
            <a:srgbClr val="71E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986784"/>
            <a:ext cx="457200" cy="18288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C1426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941064"/>
            <a:ext cx="1828800" cy="274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1E5A9"/>
                </a:solidFill>
                <a:latin typeface="Aptos"/>
              </a:rPr>
              <a:t>UNDERSTAND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913632"/>
            <a:ext cx="7132320" cy="34747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`spawn` and `sync` in parallel-algorithm pseudocode.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681728"/>
            <a:ext cx="10378440" cy="694944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51560" y="4818888"/>
            <a:ext cx="457200" cy="411480"/>
          </a:xfrm>
          <a:prstGeom prst="roundRect">
            <a:avLst/>
          </a:prstGeom>
          <a:solidFill>
            <a:srgbClr val="FF8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4901184"/>
            <a:ext cx="457200" cy="18288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C1426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855464"/>
            <a:ext cx="1828800" cy="274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84A5"/>
                </a:solidFill>
                <a:latin typeface="Aptos"/>
              </a:rPr>
              <a:t>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828032"/>
            <a:ext cx="7132320" cy="34747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When parallel execution helps—and when it doesn’t.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897880"/>
            <a:ext cx="10332720" cy="255455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AEBDD6"/>
                </a:solidFill>
                <a:latin typeface="Aptos"/>
              </a:rPr>
              <a:t>We’ll go from everyday computer behavior to the tools used to coordinate parallel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86968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4DCE7"/>
                </a:solidFill>
                <a:latin typeface="Aptos"/>
              </a:rPr>
              <a:t>ANSWER THE OPENING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256032"/>
            <a:ext cx="100584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EBDD6"/>
                </a:solidFill>
                <a:latin typeface="Aptos"/>
              </a:rPr>
              <a:t>11  / 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1018520" cy="228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10972800" cy="57607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5F8FF"/>
                </a:solidFill>
                <a:latin typeface="Aptos"/>
              </a:rPr>
              <a:t>So, can a computer do multiple things at once?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517904"/>
            <a:ext cx="10789920" cy="43891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AEBDD6"/>
                </a:solidFill>
                <a:latin typeface="Aptos"/>
              </a:rPr>
              <a:t>Answer: yes—but “at once” can mean different things.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383280" cy="251460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1832" y="2148840"/>
            <a:ext cx="91440" cy="384048"/>
          </a:xfrm>
          <a:prstGeom prst="roundRect">
            <a:avLst/>
          </a:prstGeom>
          <a:solidFill>
            <a:srgbClr val="44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130552"/>
            <a:ext cx="285292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ONE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569464"/>
            <a:ext cx="2816352" cy="181965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EBDD6"/>
                </a:solidFill>
                <a:latin typeface="Aptos"/>
              </a:rPr>
              <a:t>Tasks can make progress by taking turns. This is concurrency, not simultaneous execution on that 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383280" cy="251460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53712" y="2148840"/>
            <a:ext cx="91440" cy="384048"/>
          </a:xfrm>
          <a:prstGeom prst="roundRect">
            <a:avLst/>
          </a:prstGeom>
          <a:solidFill>
            <a:srgbClr val="71E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2130552"/>
            <a:ext cx="285292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MULTIPLE 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569464"/>
            <a:ext cx="2816352" cy="181965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EBDD6"/>
                </a:solidFill>
                <a:latin typeface="Aptos"/>
              </a:rPr>
              <a:t>Different threads may execute simultaneously when scheduled on separate cores.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965960"/>
            <a:ext cx="3383280" cy="251460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65592" y="2148840"/>
            <a:ext cx="91440" cy="384048"/>
          </a:xfrm>
          <a:prstGeom prst="round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2130552"/>
            <a:ext cx="285292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THE WORKLOAD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569464"/>
            <a:ext cx="2816352" cy="181965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EBDD6"/>
                </a:solidFill>
                <a:latin typeface="Aptos"/>
              </a:rPr>
              <a:t>Dependencies, available parallel work, scheduling and overhead affect the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20640"/>
            <a:ext cx="10515600" cy="347788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dirty="0">
                <a:solidFill>
                  <a:srgbClr val="F5F8FF"/>
                </a:solidFill>
                <a:latin typeface="Aptos"/>
              </a:rPr>
              <a:t>What work can run independently—and will the speedup be worth the cost?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886968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44DCE7"/>
                </a:solidFill>
                <a:latin typeface="Aptos"/>
              </a:rPr>
              <a:t>PAIR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1320" y="256032"/>
            <a:ext cx="1005840" cy="25603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EBDD6"/>
                </a:solidFill>
                <a:latin typeface="Aptos"/>
              </a:rPr>
              <a:t>12  / 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21792"/>
            <a:ext cx="11018520" cy="22860"/>
          </a:xfrm>
          <a:prstGeom prst="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10972800" cy="576072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5F8FF"/>
                </a:solidFill>
                <a:latin typeface="Aptos"/>
              </a:rPr>
              <a:t>Try it: apply the ideas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074920" cy="251460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1832" y="2148840"/>
            <a:ext cx="91440" cy="384048"/>
          </a:xfrm>
          <a:prstGeom prst="roundRect">
            <a:avLst/>
          </a:prstGeom>
          <a:solidFill>
            <a:srgbClr val="44D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130552"/>
            <a:ext cx="454456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SCENARIO A  •  500 PHOTOS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569464"/>
            <a:ext cx="4507992" cy="181965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EBDD6"/>
                </a:solidFill>
                <a:latin typeface="Aptos"/>
              </a:rPr>
              <a:t>You need to resize 500 independent photos.
What part of the work could run in parallel? What might limit the speedup?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074920" cy="2514600"/>
          </a:xfrm>
          <a:prstGeom prst="round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28231" y="2148840"/>
            <a:ext cx="91440" cy="384048"/>
          </a:xfrm>
          <a:prstGeom prst="roundRect">
            <a:avLst/>
          </a:prstGeom>
          <a:solidFill>
            <a:srgbClr val="FFC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2130552"/>
            <a:ext cx="4544568" cy="329184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8FF"/>
                </a:solidFill>
                <a:latin typeface="Aptos"/>
              </a:rPr>
              <a:t>SCENARIO B  •  DEPENDENCY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569464"/>
            <a:ext cx="4507992" cy="1819656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EBDD6"/>
                </a:solidFill>
                <a:latin typeface="Aptos"/>
              </a:rPr>
              <a:t>Task B needs the result of Task A.
Can B use that result before A finishes? Where might `sync` matter?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074920"/>
            <a:ext cx="10378440" cy="594360"/>
          </a:xfrm>
          <a:prstGeom prst="roundRect">
            <a:avLst/>
          </a:prstGeom>
          <a:solidFill>
            <a:srgbClr val="1F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8992" y="5230368"/>
            <a:ext cx="9966960" cy="274320"/>
          </a:xfrm>
          <a:prstGeom prst="rect">
            <a:avLst/>
          </a:prstGeom>
          <a:noFill/>
        </p:spPr>
        <p:txBody>
          <a:bodyPr wrap="square" lIns="54864" tIns="32004" rIns="54864" bIns="2286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>
                <a:solidFill>
                  <a:srgbClr val="F5F8FF"/>
                </a:solidFill>
                <a:latin typeface="Aptos"/>
              </a:rPr>
              <a:t>Transition: processes and threads → concurrency and parallelism → `spawn` and `sync`.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1093</Words>
  <Application>Microsoft Office PowerPoint</Application>
  <PresentationFormat>Widescreen</PresentationFormat>
  <Paragraphs>146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Sajjanar, Ravi</cp:lastModifiedBy>
  <cp:revision>9</cp:revision>
  <dcterms:created xsi:type="dcterms:W3CDTF">2013-01-27T09:14:16Z</dcterms:created>
  <dcterms:modified xsi:type="dcterms:W3CDTF">2026-10-27T03:28:07Z</dcterms:modified>
  <cp:category/>
</cp:coreProperties>
</file>